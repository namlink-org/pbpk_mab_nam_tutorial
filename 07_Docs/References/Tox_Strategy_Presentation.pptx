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9"/>
  </p:notesMasterIdLst>
  <p:sldIdLst>
    <p:sldId id="256" r:id="rId5"/>
    <p:sldId id="286" r:id="rId6"/>
    <p:sldId id="739" r:id="rId7"/>
    <p:sldId id="738" r:id="rId8"/>
    <p:sldId id="737" r:id="rId9"/>
    <p:sldId id="744" r:id="rId10"/>
    <p:sldId id="746" r:id="rId11"/>
    <p:sldId id="743" r:id="rId12"/>
    <p:sldId id="745" r:id="rId13"/>
    <p:sldId id="748" r:id="rId14"/>
    <p:sldId id="722" r:id="rId15"/>
    <p:sldId id="724" r:id="rId16"/>
    <p:sldId id="355" r:id="rId17"/>
    <p:sldId id="357" r:id="rId18"/>
    <p:sldId id="360" r:id="rId19"/>
    <p:sldId id="366" r:id="rId20"/>
    <p:sldId id="359" r:id="rId21"/>
    <p:sldId id="361" r:id="rId22"/>
    <p:sldId id="367" r:id="rId23"/>
    <p:sldId id="368" r:id="rId24"/>
    <p:sldId id="728" r:id="rId25"/>
    <p:sldId id="726" r:id="rId26"/>
    <p:sldId id="729" r:id="rId27"/>
    <p:sldId id="730" r:id="rId28"/>
    <p:sldId id="731" r:id="rId29"/>
    <p:sldId id="732" r:id="rId30"/>
    <p:sldId id="350" r:id="rId31"/>
    <p:sldId id="733" r:id="rId32"/>
    <p:sldId id="734" r:id="rId33"/>
    <p:sldId id="735" r:id="rId34"/>
    <p:sldId id="723" r:id="rId35"/>
    <p:sldId id="750" r:id="rId36"/>
    <p:sldId id="2147472587" r:id="rId37"/>
    <p:sldId id="2147472591" r:id="rId38"/>
    <p:sldId id="2147472588" r:id="rId39"/>
    <p:sldId id="2147472589" r:id="rId40"/>
    <p:sldId id="2147472593" r:id="rId41"/>
    <p:sldId id="2147472590" r:id="rId42"/>
    <p:sldId id="751" r:id="rId43"/>
    <p:sldId id="752" r:id="rId44"/>
    <p:sldId id="753" r:id="rId45"/>
    <p:sldId id="2147472586" r:id="rId46"/>
    <p:sldId id="2147472581" r:id="rId47"/>
    <p:sldId id="328" r:id="rId48"/>
    <p:sldId id="329" r:id="rId49"/>
    <p:sldId id="330" r:id="rId50"/>
    <p:sldId id="2147472582" r:id="rId51"/>
    <p:sldId id="331" r:id="rId52"/>
    <p:sldId id="332" r:id="rId53"/>
    <p:sldId id="334" r:id="rId54"/>
    <p:sldId id="2147472585" r:id="rId55"/>
    <p:sldId id="754" r:id="rId56"/>
    <p:sldId id="749" r:id="rId57"/>
    <p:sldId id="695" r:id="rId58"/>
    <p:sldId id="449" r:id="rId59"/>
    <p:sldId id="439" r:id="rId60"/>
    <p:sldId id="433" r:id="rId61"/>
    <p:sldId id="430" r:id="rId62"/>
    <p:sldId id="435" r:id="rId63"/>
    <p:sldId id="450" r:id="rId64"/>
    <p:sldId id="436" r:id="rId65"/>
    <p:sldId id="451" r:id="rId66"/>
    <p:sldId id="437" r:id="rId67"/>
    <p:sldId id="438" r:id="rId68"/>
    <p:sldId id="440" r:id="rId69"/>
    <p:sldId id="441" r:id="rId70"/>
    <p:sldId id="267" r:id="rId71"/>
    <p:sldId id="697" r:id="rId72"/>
    <p:sldId id="428" r:id="rId73"/>
    <p:sldId id="364" r:id="rId74"/>
    <p:sldId id="2147472592" r:id="rId75"/>
    <p:sldId id="336" r:id="rId76"/>
    <p:sldId id="337" r:id="rId77"/>
    <p:sldId id="341" r:id="rId78"/>
    <p:sldId id="277" r:id="rId79"/>
    <p:sldId id="278" r:id="rId80"/>
    <p:sldId id="2147472594" r:id="rId81"/>
    <p:sldId id="2147472595" r:id="rId82"/>
    <p:sldId id="257" r:id="rId83"/>
    <p:sldId id="258" r:id="rId84"/>
    <p:sldId id="259" r:id="rId85"/>
    <p:sldId id="260" r:id="rId86"/>
    <p:sldId id="261" r:id="rId87"/>
    <p:sldId id="268" r:id="rId88"/>
    <p:sldId id="264" r:id="rId89"/>
    <p:sldId id="262" r:id="rId90"/>
    <p:sldId id="263" r:id="rId91"/>
    <p:sldId id="265" r:id="rId92"/>
    <p:sldId id="270" r:id="rId93"/>
    <p:sldId id="271" r:id="rId94"/>
    <p:sldId id="272" r:id="rId95"/>
    <p:sldId id="273" r:id="rId96"/>
    <p:sldId id="266" r:id="rId97"/>
    <p:sldId id="274" r:id="rId98"/>
    <p:sldId id="275" r:id="rId99"/>
    <p:sldId id="276" r:id="rId100"/>
    <p:sldId id="2147472596" r:id="rId101"/>
    <p:sldId id="279" r:id="rId102"/>
    <p:sldId id="280" r:id="rId103"/>
    <p:sldId id="281" r:id="rId104"/>
    <p:sldId id="282" r:id="rId105"/>
    <p:sldId id="283" r:id="rId106"/>
    <p:sldId id="285" r:id="rId107"/>
    <p:sldId id="2147472597"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97"/>
    <p:restoredTop sz="93605"/>
  </p:normalViewPr>
  <p:slideViewPr>
    <p:cSldViewPr snapToGrid="0">
      <p:cViewPr varScale="1">
        <p:scale>
          <a:sx n="66" d="100"/>
          <a:sy n="66" d="100"/>
        </p:scale>
        <p:origin x="5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heme" Target="theme/theme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notesMaster" Target="notesMasters/notesMaster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44B0B7-AC09-4B46-B9A1-AC9C2161BAD1}" type="doc">
      <dgm:prSet loTypeId="urn:microsoft.com/office/officeart/2005/8/layout/vList2" loCatId="list" qsTypeId="urn:microsoft.com/office/officeart/2005/8/quickstyle/simple4" qsCatId="simple" csTypeId="urn:microsoft.com/office/officeart/2005/8/colors/accent2_4" csCatId="accent2" phldr="1"/>
      <dgm:spPr/>
      <dgm:t>
        <a:bodyPr/>
        <a:lstStyle/>
        <a:p>
          <a:endParaRPr lang="en-US"/>
        </a:p>
      </dgm:t>
    </dgm:pt>
    <dgm:pt modelId="{8A17526E-7270-4497-83B2-AB0C452AED79}">
      <dgm:prSet custT="1"/>
      <dgm:spPr/>
      <dgm:t>
        <a:bodyPr/>
        <a:lstStyle/>
        <a:p>
          <a:pPr rtl="0"/>
          <a:r>
            <a:rPr lang="en-US" sz="2000" b="1"/>
            <a:t>21 CFR 312.23 IND Content and Format</a:t>
          </a:r>
        </a:p>
      </dgm:t>
    </dgm:pt>
    <dgm:pt modelId="{A2DEF29A-9C15-427A-A7D4-FE03F22EEFB4}" type="parTrans" cxnId="{934816C9-5888-4C4D-AFFF-56F681AF222F}">
      <dgm:prSet/>
      <dgm:spPr/>
      <dgm:t>
        <a:bodyPr/>
        <a:lstStyle/>
        <a:p>
          <a:endParaRPr lang="en-US" sz="2000"/>
        </a:p>
      </dgm:t>
    </dgm:pt>
    <dgm:pt modelId="{864995C6-617B-4420-879F-020D05412975}" type="sibTrans" cxnId="{934816C9-5888-4C4D-AFFF-56F681AF222F}">
      <dgm:prSet/>
      <dgm:spPr/>
      <dgm:t>
        <a:bodyPr/>
        <a:lstStyle/>
        <a:p>
          <a:endParaRPr lang="en-US" sz="2000"/>
        </a:p>
      </dgm:t>
    </dgm:pt>
    <dgm:pt modelId="{229A9DC9-99ED-4848-BE45-240D04F4F87A}" type="pres">
      <dgm:prSet presAssocID="{9544B0B7-AC09-4B46-B9A1-AC9C2161BAD1}" presName="linear" presStyleCnt="0">
        <dgm:presLayoutVars>
          <dgm:animLvl val="lvl"/>
          <dgm:resizeHandles val="exact"/>
        </dgm:presLayoutVars>
      </dgm:prSet>
      <dgm:spPr/>
    </dgm:pt>
    <dgm:pt modelId="{6D1D0458-16AA-4707-B561-21C7D011E732}" type="pres">
      <dgm:prSet presAssocID="{8A17526E-7270-4497-83B2-AB0C452AED79}" presName="parentText" presStyleLbl="node1" presStyleIdx="0" presStyleCnt="1" custAng="0" custScaleY="163139" custLinFactY="34706" custLinFactNeighborX="-938" custLinFactNeighborY="100000">
        <dgm:presLayoutVars>
          <dgm:chMax val="0"/>
          <dgm:bulletEnabled val="1"/>
        </dgm:presLayoutVars>
      </dgm:prSet>
      <dgm:spPr/>
    </dgm:pt>
  </dgm:ptLst>
  <dgm:cxnLst>
    <dgm:cxn modelId="{85BBC750-3932-488F-A49D-BCB00B133C0A}" type="presOf" srcId="{8A17526E-7270-4497-83B2-AB0C452AED79}" destId="{6D1D0458-16AA-4707-B561-21C7D011E732}" srcOrd="0" destOrd="0" presId="urn:microsoft.com/office/officeart/2005/8/layout/vList2"/>
    <dgm:cxn modelId="{70F0CEA7-07BD-43CB-B7A3-7B0A5DA80BC0}" type="presOf" srcId="{9544B0B7-AC09-4B46-B9A1-AC9C2161BAD1}" destId="{229A9DC9-99ED-4848-BE45-240D04F4F87A}" srcOrd="0" destOrd="0" presId="urn:microsoft.com/office/officeart/2005/8/layout/vList2"/>
    <dgm:cxn modelId="{934816C9-5888-4C4D-AFFF-56F681AF222F}" srcId="{9544B0B7-AC09-4B46-B9A1-AC9C2161BAD1}" destId="{8A17526E-7270-4497-83B2-AB0C452AED79}" srcOrd="0" destOrd="0" parTransId="{A2DEF29A-9C15-427A-A7D4-FE03F22EEFB4}" sibTransId="{864995C6-617B-4420-879F-020D05412975}"/>
    <dgm:cxn modelId="{F9008F84-D57F-4ACB-9B9F-6D961653BCB3}" type="presParOf" srcId="{229A9DC9-99ED-4848-BE45-240D04F4F87A}" destId="{6D1D0458-16AA-4707-B561-21C7D011E732}"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76880C-421D-41A8-8A35-3622447D884C}" type="doc">
      <dgm:prSet loTypeId="urn:microsoft.com/office/officeart/2005/8/layout/vList2" loCatId="list" qsTypeId="urn:microsoft.com/office/officeart/2005/8/quickstyle/simple4" qsCatId="simple" csTypeId="urn:microsoft.com/office/officeart/2005/8/colors/accent5_4" csCatId="accent5"/>
      <dgm:spPr/>
      <dgm:t>
        <a:bodyPr/>
        <a:lstStyle/>
        <a:p>
          <a:endParaRPr lang="en-US"/>
        </a:p>
      </dgm:t>
    </dgm:pt>
    <dgm:pt modelId="{98C782DF-86C0-4468-8296-2E156A937912}">
      <dgm:prSet custT="1"/>
      <dgm:spPr/>
      <dgm:t>
        <a:bodyPr/>
        <a:lstStyle/>
        <a:p>
          <a:pPr rtl="0"/>
          <a:r>
            <a:rPr lang="en-US" sz="1800" b="1"/>
            <a:t>(8) Pharmacology &amp; Toxicology Information</a:t>
          </a:r>
          <a:endParaRPr lang="en-US" sz="1800"/>
        </a:p>
      </dgm:t>
    </dgm:pt>
    <dgm:pt modelId="{A7FD9C4C-868B-4777-903B-04DF43BED567}" type="parTrans" cxnId="{6B418046-772F-4CB2-9851-7E4BEC1CC318}">
      <dgm:prSet/>
      <dgm:spPr/>
      <dgm:t>
        <a:bodyPr/>
        <a:lstStyle/>
        <a:p>
          <a:endParaRPr lang="en-US" sz="2400"/>
        </a:p>
      </dgm:t>
    </dgm:pt>
    <dgm:pt modelId="{259C7741-495F-4A9D-8FC1-F825DA23B827}" type="sibTrans" cxnId="{6B418046-772F-4CB2-9851-7E4BEC1CC318}">
      <dgm:prSet/>
      <dgm:spPr/>
      <dgm:t>
        <a:bodyPr/>
        <a:lstStyle/>
        <a:p>
          <a:endParaRPr lang="en-US" sz="2400"/>
        </a:p>
      </dgm:t>
    </dgm:pt>
    <dgm:pt modelId="{8415E32B-D7FC-4EA4-9190-7C9646FA10FB}" type="pres">
      <dgm:prSet presAssocID="{F976880C-421D-41A8-8A35-3622447D884C}" presName="linear" presStyleCnt="0">
        <dgm:presLayoutVars>
          <dgm:animLvl val="lvl"/>
          <dgm:resizeHandles val="exact"/>
        </dgm:presLayoutVars>
      </dgm:prSet>
      <dgm:spPr/>
    </dgm:pt>
    <dgm:pt modelId="{6CBB2E93-9E03-4E5F-8451-37E26FAEFDC7}" type="pres">
      <dgm:prSet presAssocID="{98C782DF-86C0-4468-8296-2E156A937912}" presName="parentText" presStyleLbl="node1" presStyleIdx="0" presStyleCnt="1" custLinFactNeighborX="-2754" custLinFactNeighborY="7">
        <dgm:presLayoutVars>
          <dgm:chMax val="0"/>
          <dgm:bulletEnabled val="1"/>
        </dgm:presLayoutVars>
      </dgm:prSet>
      <dgm:spPr/>
    </dgm:pt>
  </dgm:ptLst>
  <dgm:cxnLst>
    <dgm:cxn modelId="{DBD27F32-E023-4440-A8C5-FAB5E17B9503}" type="presOf" srcId="{98C782DF-86C0-4468-8296-2E156A937912}" destId="{6CBB2E93-9E03-4E5F-8451-37E26FAEFDC7}" srcOrd="0" destOrd="0" presId="urn:microsoft.com/office/officeart/2005/8/layout/vList2"/>
    <dgm:cxn modelId="{6B418046-772F-4CB2-9851-7E4BEC1CC318}" srcId="{F976880C-421D-41A8-8A35-3622447D884C}" destId="{98C782DF-86C0-4468-8296-2E156A937912}" srcOrd="0" destOrd="0" parTransId="{A7FD9C4C-868B-4777-903B-04DF43BED567}" sibTransId="{259C7741-495F-4A9D-8FC1-F825DA23B827}"/>
    <dgm:cxn modelId="{6091A686-D6B5-4FF5-A11F-49BC46F27529}" type="presOf" srcId="{F976880C-421D-41A8-8A35-3622447D884C}" destId="{8415E32B-D7FC-4EA4-9190-7C9646FA10FB}" srcOrd="0" destOrd="0" presId="urn:microsoft.com/office/officeart/2005/8/layout/vList2"/>
    <dgm:cxn modelId="{55CC9EDC-D6D2-4A9E-B214-A1C5F68ABDAA}" type="presParOf" srcId="{8415E32B-D7FC-4EA4-9190-7C9646FA10FB}" destId="{6CBB2E93-9E03-4E5F-8451-37E26FAEFDC7}"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E8A8EE-8781-44E9-BAC4-588145EFB813}" type="doc">
      <dgm:prSet loTypeId="urn:microsoft.com/office/officeart/2005/8/layout/vList2" loCatId="list" qsTypeId="urn:microsoft.com/office/officeart/2005/8/quickstyle/simple4" qsCatId="simple" csTypeId="urn:microsoft.com/office/officeart/2005/8/colors/accent1_4" csCatId="accent1"/>
      <dgm:spPr/>
      <dgm:t>
        <a:bodyPr/>
        <a:lstStyle/>
        <a:p>
          <a:endParaRPr lang="en-US"/>
        </a:p>
      </dgm:t>
    </dgm:pt>
    <dgm:pt modelId="{DA6033DF-0970-4B2C-867A-D17708CAF712}">
      <dgm:prSet custT="1"/>
      <dgm:spPr/>
      <dgm:t>
        <a:bodyPr/>
        <a:lstStyle/>
        <a:p>
          <a:pPr rtl="0"/>
          <a:r>
            <a:rPr lang="en-US" sz="2000" b="1"/>
            <a:t>312.23 (8)(</a:t>
          </a:r>
          <a:r>
            <a:rPr lang="en-US" sz="2000" b="1" err="1"/>
            <a:t>i</a:t>
          </a:r>
          <a:r>
            <a:rPr lang="en-US" sz="2000" b="1"/>
            <a:t>) &amp; (ii): Pharmacology &amp; Toxicology</a:t>
          </a:r>
          <a:endParaRPr lang="en-US" sz="2000"/>
        </a:p>
      </dgm:t>
    </dgm:pt>
    <dgm:pt modelId="{13A749B0-9A7F-436D-9CC8-FD13F8C6BA09}" type="parTrans" cxnId="{87271D99-B573-48BA-BDF1-FD4EB1F3E3FA}">
      <dgm:prSet/>
      <dgm:spPr/>
      <dgm:t>
        <a:bodyPr/>
        <a:lstStyle/>
        <a:p>
          <a:endParaRPr lang="en-US"/>
        </a:p>
      </dgm:t>
    </dgm:pt>
    <dgm:pt modelId="{802ABC40-026B-453B-B563-90773B69570A}" type="sibTrans" cxnId="{87271D99-B573-48BA-BDF1-FD4EB1F3E3FA}">
      <dgm:prSet/>
      <dgm:spPr/>
      <dgm:t>
        <a:bodyPr/>
        <a:lstStyle/>
        <a:p>
          <a:endParaRPr lang="en-US"/>
        </a:p>
      </dgm:t>
    </dgm:pt>
    <dgm:pt modelId="{1B871F4C-24AC-4684-B665-49288B10D3CE}" type="pres">
      <dgm:prSet presAssocID="{A7E8A8EE-8781-44E9-BAC4-588145EFB813}" presName="linear" presStyleCnt="0">
        <dgm:presLayoutVars>
          <dgm:animLvl val="lvl"/>
          <dgm:resizeHandles val="exact"/>
        </dgm:presLayoutVars>
      </dgm:prSet>
      <dgm:spPr/>
    </dgm:pt>
    <dgm:pt modelId="{E9F5DE32-7FBC-4590-A08A-D3BC500C2FFE}" type="pres">
      <dgm:prSet presAssocID="{DA6033DF-0970-4B2C-867A-D17708CAF712}" presName="parentText" presStyleLbl="node1" presStyleIdx="0" presStyleCnt="1" custLinFactNeighborX="-2596" custLinFactNeighborY="14029">
        <dgm:presLayoutVars>
          <dgm:chMax val="0"/>
          <dgm:bulletEnabled val="1"/>
        </dgm:presLayoutVars>
      </dgm:prSet>
      <dgm:spPr/>
    </dgm:pt>
  </dgm:ptLst>
  <dgm:cxnLst>
    <dgm:cxn modelId="{87271D99-B573-48BA-BDF1-FD4EB1F3E3FA}" srcId="{A7E8A8EE-8781-44E9-BAC4-588145EFB813}" destId="{DA6033DF-0970-4B2C-867A-D17708CAF712}" srcOrd="0" destOrd="0" parTransId="{13A749B0-9A7F-436D-9CC8-FD13F8C6BA09}" sibTransId="{802ABC40-026B-453B-B563-90773B69570A}"/>
    <dgm:cxn modelId="{2D0330A1-2A1A-4C14-A039-31CAA571153C}" type="presOf" srcId="{A7E8A8EE-8781-44E9-BAC4-588145EFB813}" destId="{1B871F4C-24AC-4684-B665-49288B10D3CE}" srcOrd="0" destOrd="0" presId="urn:microsoft.com/office/officeart/2005/8/layout/vList2"/>
    <dgm:cxn modelId="{42279DE8-6DB1-4D0E-B366-361A564C2F65}" type="presOf" srcId="{DA6033DF-0970-4B2C-867A-D17708CAF712}" destId="{E9F5DE32-7FBC-4590-A08A-D3BC500C2FFE}" srcOrd="0" destOrd="0" presId="urn:microsoft.com/office/officeart/2005/8/layout/vList2"/>
    <dgm:cxn modelId="{F87DEEB6-5570-4AF0-B6C9-A1EAF004462F}" type="presParOf" srcId="{1B871F4C-24AC-4684-B665-49288B10D3CE}" destId="{E9F5DE32-7FBC-4590-A08A-D3BC500C2FFE}" srcOrd="0" destOrd="0" presId="urn:microsoft.com/office/officeart/2005/8/layout/vList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1D0458-16AA-4707-B561-21C7D011E732}">
      <dsp:nvSpPr>
        <dsp:cNvPr id="0" name=""/>
        <dsp:cNvSpPr/>
      </dsp:nvSpPr>
      <dsp:spPr>
        <a:xfrm>
          <a:off x="0" y="52072"/>
          <a:ext cx="4750641" cy="409975"/>
        </a:xfrm>
        <a:prstGeom prst="roundRect">
          <a:avLst/>
        </a:prstGeom>
        <a:gradFill rotWithShape="0">
          <a:gsLst>
            <a:gs pos="0">
              <a:schemeClr val="accent2">
                <a:shade val="50000"/>
                <a:hueOff val="0"/>
                <a:satOff val="0"/>
                <a:lumOff val="0"/>
                <a:alphaOff val="0"/>
                <a:satMod val="103000"/>
                <a:lumMod val="102000"/>
                <a:tint val="94000"/>
              </a:schemeClr>
            </a:gs>
            <a:gs pos="50000">
              <a:schemeClr val="accent2">
                <a:shade val="50000"/>
                <a:hueOff val="0"/>
                <a:satOff val="0"/>
                <a:lumOff val="0"/>
                <a:alphaOff val="0"/>
                <a:satMod val="110000"/>
                <a:lumMod val="100000"/>
                <a:shade val="100000"/>
              </a:schemeClr>
            </a:gs>
            <a:gs pos="100000">
              <a:schemeClr val="accent2">
                <a:shade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1" kern="1200"/>
            <a:t>21 CFR 312.23 IND Content and Format</a:t>
          </a:r>
        </a:p>
      </dsp:txBody>
      <dsp:txXfrm>
        <a:off x="20013" y="72085"/>
        <a:ext cx="4710615" cy="3699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B2E93-9E03-4E5F-8451-37E26FAEFDC7}">
      <dsp:nvSpPr>
        <dsp:cNvPr id="0" name=""/>
        <dsp:cNvSpPr/>
      </dsp:nvSpPr>
      <dsp:spPr>
        <a:xfrm>
          <a:off x="0" y="159"/>
          <a:ext cx="4950907" cy="369064"/>
        </a:xfrm>
        <a:prstGeom prst="roundRect">
          <a:avLst/>
        </a:prstGeom>
        <a:gradFill rotWithShape="0">
          <a:gsLst>
            <a:gs pos="0">
              <a:schemeClr val="accent5">
                <a:shade val="50000"/>
                <a:hueOff val="0"/>
                <a:satOff val="0"/>
                <a:lumOff val="0"/>
                <a:alphaOff val="0"/>
                <a:satMod val="103000"/>
                <a:lumMod val="102000"/>
                <a:tint val="94000"/>
              </a:schemeClr>
            </a:gs>
            <a:gs pos="50000">
              <a:schemeClr val="accent5">
                <a:shade val="50000"/>
                <a:hueOff val="0"/>
                <a:satOff val="0"/>
                <a:lumOff val="0"/>
                <a:alphaOff val="0"/>
                <a:satMod val="110000"/>
                <a:lumMod val="100000"/>
                <a:shade val="100000"/>
              </a:schemeClr>
            </a:gs>
            <a:gs pos="100000">
              <a:schemeClr val="accent5">
                <a:shade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a:t>(8) Pharmacology &amp; Toxicology Information</a:t>
          </a:r>
          <a:endParaRPr lang="en-US" sz="1800" kern="1200"/>
        </a:p>
      </dsp:txBody>
      <dsp:txXfrm>
        <a:off x="18016" y="18175"/>
        <a:ext cx="4914875" cy="3330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5DE32-7FBC-4590-A08A-D3BC500C2FFE}">
      <dsp:nvSpPr>
        <dsp:cNvPr id="0" name=""/>
        <dsp:cNvSpPr/>
      </dsp:nvSpPr>
      <dsp:spPr>
        <a:xfrm>
          <a:off x="0" y="302"/>
          <a:ext cx="5486400" cy="369029"/>
        </a:xfrm>
        <a:prstGeom prst="roundRect">
          <a:avLst/>
        </a:prstGeom>
        <a:gradFill rotWithShape="0">
          <a:gsLst>
            <a:gs pos="0">
              <a:schemeClr val="accent1">
                <a:shade val="50000"/>
                <a:hueOff val="0"/>
                <a:satOff val="0"/>
                <a:lumOff val="0"/>
                <a:alphaOff val="0"/>
                <a:satMod val="103000"/>
                <a:lumMod val="102000"/>
                <a:tint val="94000"/>
              </a:schemeClr>
            </a:gs>
            <a:gs pos="50000">
              <a:schemeClr val="accent1">
                <a:shade val="50000"/>
                <a:hueOff val="0"/>
                <a:satOff val="0"/>
                <a:lumOff val="0"/>
                <a:alphaOff val="0"/>
                <a:satMod val="110000"/>
                <a:lumMod val="100000"/>
                <a:shade val="100000"/>
              </a:schemeClr>
            </a:gs>
            <a:gs pos="100000">
              <a:schemeClr val="accent1">
                <a:shade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1" kern="1200"/>
            <a:t>312.23 (8)(</a:t>
          </a:r>
          <a:r>
            <a:rPr lang="en-US" sz="2000" b="1" kern="1200" err="1"/>
            <a:t>i</a:t>
          </a:r>
          <a:r>
            <a:rPr lang="en-US" sz="2000" b="1" kern="1200"/>
            <a:t>) &amp; (ii): Pharmacology &amp; Toxicology</a:t>
          </a:r>
          <a:endParaRPr lang="en-US" sz="2000" kern="1200"/>
        </a:p>
      </dsp:txBody>
      <dsp:txXfrm>
        <a:off x="18015" y="18317"/>
        <a:ext cx="5450370" cy="3329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21:53:29.28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1 129,'67'-12,"5"-1,-3 3,25-1,-35 6,0 1,2-1,32-2,-25 3,2 0,-13 0,1 0,13-1,0 2,-9 0,-1 2,-4-2,-1 0,1 1,-2 1,32-3,7-1,-6 1,-9 1,-9 2,27 0,-10 1,-36 0,0 1,39-1,-9 1,-9-1,-12-1,-9-2,-7 2,-8-1,-4 1,-13 1,5 0,-2 0,2 0,2 0,3 0,5 0,13 2,20 2,7 3,3 0,-7-1,-10-3,-5 1,-9-1,-11-1,-10-1,-9-1,-5 0,14 0,-11 0,7 0,-8 15,-8-10,13 10,-4-13,2-2,8 0,-11 0,5 0,19 2,11 3,18 1,-13 0,-23-3,-21-2,2 2,7-3,3 3,-4-4,-10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21:53:34.23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16,'69'-3,"0"1,1-1,2 2,12 3,-1 2,-19-1,1 0,26 3,-5 0,-1 0,-30-2,-4-1,-13-2,-10 1,-10-2,-4 1,7-1,3 0,3 0,4 0,11 0,0 0,9 0,11 0,3 0,5 0,4 0,-5 0,2 0,6 1,-6 0,0 1,-6-2,-7 1,-4-1,-4 0,-3-2,-2 1,-4-2,3 1,-16 0,7 0,-10 1,1 0,2-1,-3 0,-1 1,-1 0,1 0,-3 1,6 0,6 0,2 0,3 0,-8 0,-10 0,-10 0,7-2,0-2,12-1,1 0,-2 0,-7 2,-3 1,-6 1,7-1,-5 1,10 0,-3 1,7 0,1 0,-1 0,-3 0,-7 0,-2 0,5 0,-6 0,2 0,3 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3202B5-C16C-1749-BF69-CD355A81865A}" type="datetimeFigureOut">
              <a:rPr lang="en-US" smtClean="0"/>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79489-2E36-6D49-9FC1-59C2EA7006E7}" type="slidenum">
              <a:rPr lang="en-US" smtClean="0"/>
              <a:t>‹#›</a:t>
            </a:fld>
            <a:endParaRPr lang="en-US"/>
          </a:p>
        </p:txBody>
      </p:sp>
    </p:spTree>
    <p:extLst>
      <p:ext uri="{BB962C8B-B14F-4D97-AF65-F5344CB8AC3E}">
        <p14:creationId xmlns:p14="http://schemas.microsoft.com/office/powerpoint/2010/main" val="1675721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2</a:t>
            </a:fld>
            <a:endParaRPr lang="en-US"/>
          </a:p>
        </p:txBody>
      </p:sp>
    </p:spTree>
    <p:extLst>
      <p:ext uri="{BB962C8B-B14F-4D97-AF65-F5344CB8AC3E}">
        <p14:creationId xmlns:p14="http://schemas.microsoft.com/office/powerpoint/2010/main" val="63116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12</a:t>
            </a:fld>
            <a:endParaRPr lang="en-US"/>
          </a:p>
        </p:txBody>
      </p:sp>
    </p:spTree>
    <p:extLst>
      <p:ext uri="{BB962C8B-B14F-4D97-AF65-F5344CB8AC3E}">
        <p14:creationId xmlns:p14="http://schemas.microsoft.com/office/powerpoint/2010/main" val="1130961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28</a:t>
            </a:fld>
            <a:endParaRPr lang="en-US"/>
          </a:p>
        </p:txBody>
      </p:sp>
    </p:spTree>
    <p:extLst>
      <p:ext uri="{BB962C8B-B14F-4D97-AF65-F5344CB8AC3E}">
        <p14:creationId xmlns:p14="http://schemas.microsoft.com/office/powerpoint/2010/main" val="4283301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Re change in CPCA: talk towards or include what the reg agencies may be looking to for changing criteria?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pitchFamily="2" charset="0"/>
              </a:rPr>
              <a:t>Table will be difficult for attendees to read so be sure to call out key specifics</a:t>
            </a:r>
          </a:p>
          <a:p>
            <a:endParaRPr lang="en-US" dirty="0"/>
          </a:p>
        </p:txBody>
      </p:sp>
      <p:sp>
        <p:nvSpPr>
          <p:cNvPr id="4" name="Slide Number Placeholder 3"/>
          <p:cNvSpPr>
            <a:spLocks noGrp="1"/>
          </p:cNvSpPr>
          <p:nvPr>
            <p:ph type="sldNum" sz="quarter" idx="5"/>
          </p:nvPr>
        </p:nvSpPr>
        <p:spPr/>
        <p:txBody>
          <a:bodyPr/>
          <a:lstStyle/>
          <a:p>
            <a:fld id="{069ACD53-0146-4B40-9890-22E03A48D26F}" type="slidenum">
              <a:rPr lang="en-US" smtClean="0"/>
              <a:pPr/>
              <a:t>44</a:t>
            </a:fld>
            <a:endParaRPr lang="en-US" dirty="0"/>
          </a:p>
        </p:txBody>
      </p:sp>
    </p:spTree>
    <p:extLst>
      <p:ext uri="{BB962C8B-B14F-4D97-AF65-F5344CB8AC3E}">
        <p14:creationId xmlns:p14="http://schemas.microsoft.com/office/powerpoint/2010/main" val="144677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EAT: s</a:t>
            </a:r>
            <a:r>
              <a:rPr lang="en-US" dirty="0">
                <a:effectLst/>
                <a:latin typeface="Helvetica" pitchFamily="2" charset="0"/>
              </a:rPr>
              <a:t>peak to it or mention here what it involves or how it differs from the standardly done Ames that also uses S9. Refer to Tetyanas talk for more detail</a:t>
            </a:r>
          </a:p>
          <a:p>
            <a:endParaRPr lang="en-US" dirty="0"/>
          </a:p>
        </p:txBody>
      </p:sp>
      <p:sp>
        <p:nvSpPr>
          <p:cNvPr id="4" name="Slide Number Placeholder 3"/>
          <p:cNvSpPr>
            <a:spLocks noGrp="1"/>
          </p:cNvSpPr>
          <p:nvPr>
            <p:ph type="sldNum" sz="quarter" idx="5"/>
          </p:nvPr>
        </p:nvSpPr>
        <p:spPr/>
        <p:txBody>
          <a:bodyPr/>
          <a:lstStyle/>
          <a:p>
            <a:fld id="{069ACD53-0146-4B40-9890-22E03A48D26F}" type="slidenum">
              <a:rPr lang="en-US" smtClean="0"/>
              <a:pPr/>
              <a:t>46</a:t>
            </a:fld>
            <a:endParaRPr lang="en-US" dirty="0"/>
          </a:p>
        </p:txBody>
      </p:sp>
    </p:spTree>
    <p:extLst>
      <p:ext uri="{BB962C8B-B14F-4D97-AF65-F5344CB8AC3E}">
        <p14:creationId xmlns:p14="http://schemas.microsoft.com/office/powerpoint/2010/main" val="114303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77</a:t>
            </a:fld>
            <a:endParaRPr lang="en-US"/>
          </a:p>
        </p:txBody>
      </p:sp>
    </p:spTree>
    <p:extLst>
      <p:ext uri="{BB962C8B-B14F-4D97-AF65-F5344CB8AC3E}">
        <p14:creationId xmlns:p14="http://schemas.microsoft.com/office/powerpoint/2010/main" val="371112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78</a:t>
            </a:fld>
            <a:endParaRPr lang="en-US"/>
          </a:p>
        </p:txBody>
      </p:sp>
    </p:spTree>
    <p:extLst>
      <p:ext uri="{BB962C8B-B14F-4D97-AF65-F5344CB8AC3E}">
        <p14:creationId xmlns:p14="http://schemas.microsoft.com/office/powerpoint/2010/main" val="3541886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79</a:t>
            </a:fld>
            <a:endParaRPr lang="en-US"/>
          </a:p>
        </p:txBody>
      </p:sp>
    </p:spTree>
    <p:extLst>
      <p:ext uri="{BB962C8B-B14F-4D97-AF65-F5344CB8AC3E}">
        <p14:creationId xmlns:p14="http://schemas.microsoft.com/office/powerpoint/2010/main" val="792252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80</a:t>
            </a:fld>
            <a:endParaRPr lang="en-US"/>
          </a:p>
        </p:txBody>
      </p:sp>
    </p:spTree>
    <p:extLst>
      <p:ext uri="{BB962C8B-B14F-4D97-AF65-F5344CB8AC3E}">
        <p14:creationId xmlns:p14="http://schemas.microsoft.com/office/powerpoint/2010/main" val="2893581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81</a:t>
            </a:fld>
            <a:endParaRPr lang="en-US"/>
          </a:p>
        </p:txBody>
      </p:sp>
    </p:spTree>
    <p:extLst>
      <p:ext uri="{BB962C8B-B14F-4D97-AF65-F5344CB8AC3E}">
        <p14:creationId xmlns:p14="http://schemas.microsoft.com/office/powerpoint/2010/main" val="4164186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82</a:t>
            </a:fld>
            <a:endParaRPr lang="en-US"/>
          </a:p>
        </p:txBody>
      </p:sp>
    </p:spTree>
    <p:extLst>
      <p:ext uri="{BB962C8B-B14F-4D97-AF65-F5344CB8AC3E}">
        <p14:creationId xmlns:p14="http://schemas.microsoft.com/office/powerpoint/2010/main" val="2193110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83</a:t>
            </a:fld>
            <a:endParaRPr lang="en-US"/>
          </a:p>
        </p:txBody>
      </p:sp>
    </p:spTree>
    <p:extLst>
      <p:ext uri="{BB962C8B-B14F-4D97-AF65-F5344CB8AC3E}">
        <p14:creationId xmlns:p14="http://schemas.microsoft.com/office/powerpoint/2010/main" val="2629909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84</a:t>
            </a:fld>
            <a:endParaRPr lang="en-US"/>
          </a:p>
        </p:txBody>
      </p:sp>
    </p:spTree>
    <p:extLst>
      <p:ext uri="{BB962C8B-B14F-4D97-AF65-F5344CB8AC3E}">
        <p14:creationId xmlns:p14="http://schemas.microsoft.com/office/powerpoint/2010/main" val="4184113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85</a:t>
            </a:fld>
            <a:endParaRPr lang="en-US"/>
          </a:p>
        </p:txBody>
      </p:sp>
    </p:spTree>
    <p:extLst>
      <p:ext uri="{BB962C8B-B14F-4D97-AF65-F5344CB8AC3E}">
        <p14:creationId xmlns:p14="http://schemas.microsoft.com/office/powerpoint/2010/main" val="916791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2D79489-2E36-6D49-9FC1-59C2EA7006E7}" type="slidenum">
              <a:rPr lang="en-US" smtClean="0"/>
              <a:t>86</a:t>
            </a:fld>
            <a:endParaRPr lang="en-US"/>
          </a:p>
        </p:txBody>
      </p:sp>
    </p:spTree>
    <p:extLst>
      <p:ext uri="{BB962C8B-B14F-4D97-AF65-F5344CB8AC3E}">
        <p14:creationId xmlns:p14="http://schemas.microsoft.com/office/powerpoint/2010/main" val="441803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WoE</a:t>
            </a:r>
            <a:r>
              <a:rPr lang="en-US"/>
              <a:t> factors in RED presuppose knowledge of the drug’s target and mechanism of action. </a:t>
            </a:r>
          </a:p>
          <a:p>
            <a:endParaRPr lang="en-US"/>
          </a:p>
        </p:txBody>
      </p:sp>
      <p:sp>
        <p:nvSpPr>
          <p:cNvPr id="4" name="Slide Number Placeholder 3"/>
          <p:cNvSpPr>
            <a:spLocks noGrp="1"/>
          </p:cNvSpPr>
          <p:nvPr>
            <p:ph type="sldNum" sz="quarter" idx="5"/>
          </p:nvPr>
        </p:nvSpPr>
        <p:spPr/>
        <p:txBody>
          <a:bodyPr/>
          <a:lstStyle/>
          <a:p>
            <a:fld id="{32D79489-2E36-6D49-9FC1-59C2EA7006E7}" type="slidenum">
              <a:rPr lang="en-US" smtClean="0"/>
              <a:t>87</a:t>
            </a:fld>
            <a:endParaRPr lang="en-US"/>
          </a:p>
        </p:txBody>
      </p:sp>
    </p:spTree>
    <p:extLst>
      <p:ext uri="{BB962C8B-B14F-4D97-AF65-F5344CB8AC3E}">
        <p14:creationId xmlns:p14="http://schemas.microsoft.com/office/powerpoint/2010/main" val="1774523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79489-2E36-6D49-9FC1-59C2EA7006E7}" type="slidenum">
              <a:rPr lang="en-US" smtClean="0"/>
              <a:t>94</a:t>
            </a:fld>
            <a:endParaRPr lang="en-US"/>
          </a:p>
        </p:txBody>
      </p:sp>
    </p:spTree>
    <p:extLst>
      <p:ext uri="{BB962C8B-B14F-4D97-AF65-F5344CB8AC3E}">
        <p14:creationId xmlns:p14="http://schemas.microsoft.com/office/powerpoint/2010/main" val="3504825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6FEC-C8AD-00E4-E87B-B76B945132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C88919-2BD3-3024-D054-8696542FF0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25C922-A723-C989-424E-DA46F1125630}"/>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5" name="Footer Placeholder 4">
            <a:extLst>
              <a:ext uri="{FF2B5EF4-FFF2-40B4-BE49-F238E27FC236}">
                <a16:creationId xmlns:a16="http://schemas.microsoft.com/office/drawing/2014/main" id="{CCC3BB8B-81CF-CD80-345C-3914A415B4D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451D1CE-3117-9CF7-E904-81CBC48F97CF}"/>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3672502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16E62-AA46-D871-2475-151CC35F61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22561A-3800-394D-60EE-588BFA183F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BE4E44-AB4D-EA51-16DF-140D3E17DE0D}"/>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5" name="Footer Placeholder 4">
            <a:extLst>
              <a:ext uri="{FF2B5EF4-FFF2-40B4-BE49-F238E27FC236}">
                <a16:creationId xmlns:a16="http://schemas.microsoft.com/office/drawing/2014/main" id="{259F298A-098B-2237-94F1-9B527CB00B7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3A5231D-2DB4-4ABF-65FD-8EF6CC141879}"/>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3030557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22495-6B37-A31A-B08E-28CC21412D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0237B-55A4-C22F-98F0-A6E6600B8D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ABF8A-D74E-6551-5CF1-44563157DFFA}"/>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5" name="Footer Placeholder 4">
            <a:extLst>
              <a:ext uri="{FF2B5EF4-FFF2-40B4-BE49-F238E27FC236}">
                <a16:creationId xmlns:a16="http://schemas.microsoft.com/office/drawing/2014/main" id="{509DD540-389A-9D36-BFCE-71D9CAA99C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6DA410-5BDE-6E52-E7F4-FB90879E6867}"/>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1227061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63CBE-5140-4C98-7736-F4A7F017C6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6CD9F9-6239-7664-C803-4F7A51CE39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43ADF9-F1B5-5E2E-1887-22FC3D186F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644D03-E71F-A9E6-AE23-1F95C6E98EF1}"/>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6" name="Footer Placeholder 5">
            <a:extLst>
              <a:ext uri="{FF2B5EF4-FFF2-40B4-BE49-F238E27FC236}">
                <a16:creationId xmlns:a16="http://schemas.microsoft.com/office/drawing/2014/main" id="{EE434FBD-274A-A806-050A-5AE38FA4317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A904478-4FAD-0404-C1FF-23BAFB133685}"/>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3609043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F835-209F-DA86-7D21-638F17D1D0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83EFC1-4529-5A06-38B8-8BDC4506F5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9DCA36-2263-24CE-EACB-55DE24EC96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AAF3B1-EBF9-1FA9-0A00-36928D7C53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F3F4FB-94CC-8E3F-AE98-B953AB781F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AB858E-9A24-8C86-EFC7-2E2F96BA74A6}"/>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8" name="Footer Placeholder 7">
            <a:extLst>
              <a:ext uri="{FF2B5EF4-FFF2-40B4-BE49-F238E27FC236}">
                <a16:creationId xmlns:a16="http://schemas.microsoft.com/office/drawing/2014/main" id="{5033BE69-13EC-C4BC-BE3D-7A866CEFB5F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2F9BD2E6-F457-6686-62B3-90F73C3E2F2F}"/>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2132289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EE76C-6800-4290-57FB-41EF8DB47A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F1109C-1D15-F2E4-E068-12C2195405EA}"/>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4" name="Footer Placeholder 3">
            <a:extLst>
              <a:ext uri="{FF2B5EF4-FFF2-40B4-BE49-F238E27FC236}">
                <a16:creationId xmlns:a16="http://schemas.microsoft.com/office/drawing/2014/main" id="{85F903C3-FD39-0C77-8AA8-47ED8A754E4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B4F30C4C-E72F-8A21-547E-5E4A70744E20}"/>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136600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656CE6-352B-4EDA-E472-7B7E2B4C1986}"/>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3" name="Footer Placeholder 2">
            <a:extLst>
              <a:ext uri="{FF2B5EF4-FFF2-40B4-BE49-F238E27FC236}">
                <a16:creationId xmlns:a16="http://schemas.microsoft.com/office/drawing/2014/main" id="{0702E064-6C4E-8D3E-13C3-260A974E57D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7E96EEC-070F-713D-3D39-F646AA082F77}"/>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1315219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FEB0D-7D69-547C-A5BA-AE4336B1B1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D57F85-E569-50A5-F87E-750A36A19A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5F287B-A20B-18FD-3618-6E899AC5E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15708A-66B8-5B26-6340-E7E0A50DB8E0}"/>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6" name="Footer Placeholder 5">
            <a:extLst>
              <a:ext uri="{FF2B5EF4-FFF2-40B4-BE49-F238E27FC236}">
                <a16:creationId xmlns:a16="http://schemas.microsoft.com/office/drawing/2014/main" id="{947DE7A0-EBB1-8801-4EBE-43C33C4ED58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563F587-BC41-955F-94A4-E7559C66FCE8}"/>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4198780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BF11E-0064-56F2-6E5C-94E0CE93B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6029CA-D762-CE04-5D0A-32F4803812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C169C76-F616-E48A-88CE-229709512B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69905-D857-B89B-9AFA-081C70A8965D}"/>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6" name="Footer Placeholder 5">
            <a:extLst>
              <a:ext uri="{FF2B5EF4-FFF2-40B4-BE49-F238E27FC236}">
                <a16:creationId xmlns:a16="http://schemas.microsoft.com/office/drawing/2014/main" id="{CD1308DB-FA63-FBA8-E53D-C9B05719BB1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9BCA369-A24A-3127-C319-B78ED9423780}"/>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425218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7008-6894-DB54-AB59-5D176E77B6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1FC7E1-982D-C97E-F1CC-6DF2E524BE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6F2CE6-90EF-0527-7AC4-AB0DD2F2D255}"/>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5" name="Footer Placeholder 4">
            <a:extLst>
              <a:ext uri="{FF2B5EF4-FFF2-40B4-BE49-F238E27FC236}">
                <a16:creationId xmlns:a16="http://schemas.microsoft.com/office/drawing/2014/main" id="{FE713C8A-9885-2867-CE4E-9B3430DD9DF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2D420D0-7619-5379-5AB7-8B754A5F215D}"/>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3960003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9856B7-1539-8097-BAB3-D70FE2AD35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09603D-D811-44B4-EA4E-FE3B44C0D9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34A52-004E-E1E1-6843-30F33694AE11}"/>
              </a:ext>
            </a:extLst>
          </p:cNvPr>
          <p:cNvSpPr>
            <a:spLocks noGrp="1"/>
          </p:cNvSpPr>
          <p:nvPr>
            <p:ph type="dt" sz="half" idx="10"/>
          </p:nvPr>
        </p:nvSpPr>
        <p:spPr>
          <a:xfrm>
            <a:off x="838200" y="6356350"/>
            <a:ext cx="2743200" cy="365125"/>
          </a:xfrm>
          <a:prstGeom prst="rect">
            <a:avLst/>
          </a:prstGeom>
        </p:spPr>
        <p:txBody>
          <a:bodyPr/>
          <a:lstStyle/>
          <a:p>
            <a:fld id="{A89A2288-F7DE-D244-9129-8FB03D783078}" type="datetimeFigureOut">
              <a:rPr lang="en-US" smtClean="0"/>
              <a:t>6/18/2026</a:t>
            </a:fld>
            <a:endParaRPr lang="en-US"/>
          </a:p>
        </p:txBody>
      </p:sp>
      <p:sp>
        <p:nvSpPr>
          <p:cNvPr id="5" name="Footer Placeholder 4">
            <a:extLst>
              <a:ext uri="{FF2B5EF4-FFF2-40B4-BE49-F238E27FC236}">
                <a16:creationId xmlns:a16="http://schemas.microsoft.com/office/drawing/2014/main" id="{C41CC4CE-BBFA-946D-485D-A2BA569AB47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8608FDC-4952-EA22-947E-9A75801B4680}"/>
              </a:ext>
            </a:extLst>
          </p:cNvPr>
          <p:cNvSpPr>
            <a:spLocks noGrp="1"/>
          </p:cNvSpPr>
          <p:nvPr>
            <p:ph type="sldNum" sz="quarter" idx="12"/>
          </p:nvPr>
        </p:nvSpPr>
        <p:spPr/>
        <p:txBody>
          <a:bodyPr/>
          <a:lstStyle/>
          <a:p>
            <a:fld id="{8C9BEE26-CBC9-D24B-B62C-3600B65D4342}" type="slidenum">
              <a:rPr lang="en-US" smtClean="0"/>
              <a:t>‹#›</a:t>
            </a:fld>
            <a:endParaRPr lang="en-US"/>
          </a:p>
        </p:txBody>
      </p:sp>
    </p:spTree>
    <p:extLst>
      <p:ext uri="{BB962C8B-B14F-4D97-AF65-F5344CB8AC3E}">
        <p14:creationId xmlns:p14="http://schemas.microsoft.com/office/powerpoint/2010/main" val="4193875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041520-B7D4-CBC0-0AD5-7E46FFDE2BA1}"/>
              </a:ext>
            </a:extLst>
          </p:cNvPr>
          <p:cNvSpPr txBox="1"/>
          <p:nvPr userDrawn="1"/>
        </p:nvSpPr>
        <p:spPr>
          <a:xfrm>
            <a:off x="10692917" y="6285519"/>
            <a:ext cx="1115122" cy="369332"/>
          </a:xfrm>
          <a:prstGeom prst="rect">
            <a:avLst/>
          </a:prstGeom>
          <a:noFill/>
        </p:spPr>
        <p:txBody>
          <a:bodyPr wrap="square">
            <a:spAutoFit/>
          </a:bodyPr>
          <a:lstStyle/>
          <a:p>
            <a:pPr algn="r"/>
            <a:fld id="{D881E7F9-F5F7-0D4E-89EB-FE8CDE389965}" type="slidenum">
              <a:rPr lang="en-US" smtClean="0">
                <a:solidFill>
                  <a:srgbClr val="FFCB03"/>
                </a:solidFill>
                <a:latin typeface="Arial" panose="020B0604020202020204" pitchFamily="34" charset="0"/>
                <a:cs typeface="Arial" panose="020B0604020202020204" pitchFamily="34" charset="0"/>
              </a:rPr>
              <a:pPr algn="r"/>
              <a:t>‹#›</a:t>
            </a:fld>
            <a:endParaRPr lang="en-US" dirty="0">
              <a:solidFill>
                <a:srgbClr val="FFCB0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69298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B48DC4-6425-2115-E25A-A3DDF092CA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4FD849-9374-61B4-8C26-8BC3128E4B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D268636-54F0-440F-6CF3-CB7B72E60C77}"/>
              </a:ext>
            </a:extLst>
          </p:cNvPr>
          <p:cNvSpPr>
            <a:spLocks noGrp="1"/>
          </p:cNvSpPr>
          <p:nvPr>
            <p:ph type="sldNum" sz="quarter" idx="4"/>
          </p:nvPr>
        </p:nvSpPr>
        <p:spPr>
          <a:xfrm>
            <a:off x="11467069" y="6356349"/>
            <a:ext cx="446903"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9BEE26-CBC9-D24B-B62C-3600B65D4342}" type="slidenum">
              <a:rPr lang="en-US" smtClean="0"/>
              <a:t>‹#›</a:t>
            </a:fld>
            <a:endParaRPr lang="en-US"/>
          </a:p>
        </p:txBody>
      </p:sp>
      <p:pic>
        <p:nvPicPr>
          <p:cNvPr id="8" name="Picture 7">
            <a:extLst>
              <a:ext uri="{FF2B5EF4-FFF2-40B4-BE49-F238E27FC236}">
                <a16:creationId xmlns:a16="http://schemas.microsoft.com/office/drawing/2014/main" id="{552A0864-E73C-15AD-3980-591943E80C12}"/>
              </a:ext>
            </a:extLst>
          </p:cNvPr>
          <p:cNvPicPr>
            <a:picLocks noChangeAspect="1"/>
          </p:cNvPicPr>
          <p:nvPr userDrawn="1"/>
        </p:nvPicPr>
        <p:blipFill>
          <a:blip r:embed="rId14"/>
          <a:stretch>
            <a:fillRect/>
          </a:stretch>
        </p:blipFill>
        <p:spPr>
          <a:xfrm>
            <a:off x="92348" y="6112476"/>
            <a:ext cx="680128" cy="681981"/>
          </a:xfrm>
          <a:prstGeom prst="rect">
            <a:avLst/>
          </a:prstGeom>
        </p:spPr>
      </p:pic>
      <p:sp>
        <p:nvSpPr>
          <p:cNvPr id="9" name="Rounded Rectangle 8">
            <a:extLst>
              <a:ext uri="{FF2B5EF4-FFF2-40B4-BE49-F238E27FC236}">
                <a16:creationId xmlns:a16="http://schemas.microsoft.com/office/drawing/2014/main" id="{9552B6A2-A3FE-CFD5-318D-F17CE6FF1B86}"/>
              </a:ext>
            </a:extLst>
          </p:cNvPr>
          <p:cNvSpPr/>
          <p:nvPr userDrawn="1"/>
        </p:nvSpPr>
        <p:spPr>
          <a:xfrm>
            <a:off x="838200" y="6597907"/>
            <a:ext cx="10515600" cy="1235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3546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7.png"/><Relationship Id="rId4" Type="http://schemas.openxmlformats.org/officeDocument/2006/relationships/customXml" Target="../ink/ink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s://www.fda.gov/drugs/development-resources/reviews-pediatric-studies-conducted-under-bpca-and-pediatric-assessments-conducted-under-prea-2012"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image" Target="../media/image36.png"/><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notesSlide" Target="../notesSlides/notesSlide17.xml"/><Relationship Id="rId16" Type="http://schemas.openxmlformats.org/officeDocument/2006/relationships/diagramQuickStyle" Target="../diagrams/quickStyl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DE02-88B4-0D4B-C172-D37048712F74}"/>
              </a:ext>
            </a:extLst>
          </p:cNvPr>
          <p:cNvSpPr>
            <a:spLocks noGrp="1"/>
          </p:cNvSpPr>
          <p:nvPr>
            <p:ph type="ctrTitle"/>
          </p:nvPr>
        </p:nvSpPr>
        <p:spPr>
          <a:xfrm>
            <a:off x="613318" y="814834"/>
            <a:ext cx="10961647" cy="3078721"/>
          </a:xfrm>
        </p:spPr>
        <p:txBody>
          <a:bodyPr>
            <a:normAutofit fontScale="90000"/>
          </a:bodyPr>
          <a:lstStyle/>
          <a:p>
            <a:pPr algn="l"/>
            <a:r>
              <a:rPr lang="en-US" sz="4400" b="1" dirty="0">
                <a:latin typeface="Calibri" panose="020F0502020204030204" pitchFamily="34" charset="0"/>
                <a:cs typeface="Calibri" panose="020F0502020204030204" pitchFamily="34" charset="0"/>
              </a:rPr>
              <a:t>Session 1:</a:t>
            </a:r>
            <a:br>
              <a:rPr lang="en-US" sz="4400" b="1" dirty="0">
                <a:latin typeface="Calibri" panose="020F0502020204030204" pitchFamily="34" charset="0"/>
                <a:cs typeface="Calibri" panose="020F0502020204030204" pitchFamily="34" charset="0"/>
              </a:rPr>
            </a:br>
            <a:br>
              <a:rPr lang="en-US" sz="4400" b="1" dirty="0">
                <a:latin typeface="Calibri" panose="020F0502020204030204" pitchFamily="34" charset="0"/>
                <a:cs typeface="Calibri" panose="020F0502020204030204" pitchFamily="34" charset="0"/>
              </a:rPr>
            </a:br>
            <a:r>
              <a:rPr lang="en-US" sz="4400" b="1" dirty="0">
                <a:latin typeface="Calibri" panose="020F0502020204030204" pitchFamily="34" charset="0"/>
                <a:cs typeface="Calibri" panose="020F0502020204030204" pitchFamily="34" charset="0"/>
              </a:rPr>
              <a:t>a) </a:t>
            </a:r>
            <a:r>
              <a:rPr lang="en-US" sz="4400" b="1" dirty="0">
                <a:solidFill>
                  <a:schemeClr val="accent1"/>
                </a:solidFill>
                <a:latin typeface="Calibri" panose="020F0502020204030204" pitchFamily="34" charset="0"/>
                <a:cs typeface="Calibri" panose="020F0502020204030204" pitchFamily="34" charset="0"/>
              </a:rPr>
              <a:t>Submitting an ideal IND package</a:t>
            </a:r>
            <a:br>
              <a:rPr lang="en-US" sz="4400" b="1" dirty="0">
                <a:solidFill>
                  <a:schemeClr val="accent1"/>
                </a:solidFill>
                <a:latin typeface="Calibri" panose="020F0502020204030204" pitchFamily="34" charset="0"/>
                <a:cs typeface="Calibri" panose="020F0502020204030204" pitchFamily="34" charset="0"/>
              </a:rPr>
            </a:br>
            <a:br>
              <a:rPr lang="en-US" sz="4400" b="1" dirty="0">
                <a:latin typeface="Calibri" panose="020F0502020204030204" pitchFamily="34" charset="0"/>
                <a:cs typeface="Calibri" panose="020F0502020204030204" pitchFamily="34" charset="0"/>
              </a:rPr>
            </a:br>
            <a:r>
              <a:rPr lang="en-US" sz="4400" b="1" dirty="0">
                <a:latin typeface="Calibri" panose="020F0502020204030204" pitchFamily="34" charset="0"/>
                <a:cs typeface="Calibri" panose="020F0502020204030204" pitchFamily="34" charset="0"/>
              </a:rPr>
              <a:t>b) </a:t>
            </a:r>
            <a:r>
              <a:rPr lang="en-US" sz="4400" b="1" dirty="0">
                <a:solidFill>
                  <a:schemeClr val="accent1"/>
                </a:solidFill>
                <a:latin typeface="Calibri" panose="020F0502020204030204" pitchFamily="34" charset="0"/>
                <a:cs typeface="Calibri" panose="020F0502020204030204" pitchFamily="34" charset="0"/>
              </a:rPr>
              <a:t>Impurity Assessments – ICH Q3A-D &amp; ICH M7</a:t>
            </a:r>
          </a:p>
        </p:txBody>
      </p:sp>
      <p:sp>
        <p:nvSpPr>
          <p:cNvPr id="3" name="TextBox 2">
            <a:extLst>
              <a:ext uri="{FF2B5EF4-FFF2-40B4-BE49-F238E27FC236}">
                <a16:creationId xmlns:a16="http://schemas.microsoft.com/office/drawing/2014/main" id="{BA08A653-AF73-5395-0EEE-598493726B88}"/>
              </a:ext>
            </a:extLst>
          </p:cNvPr>
          <p:cNvSpPr txBox="1"/>
          <p:nvPr/>
        </p:nvSpPr>
        <p:spPr>
          <a:xfrm>
            <a:off x="834390" y="4869180"/>
            <a:ext cx="5932170" cy="1569660"/>
          </a:xfrm>
          <a:prstGeom prst="rect">
            <a:avLst/>
          </a:prstGeom>
          <a:noFill/>
          <a:ln w="12700">
            <a:solidFill>
              <a:schemeClr val="accent1"/>
            </a:solidFill>
          </a:ln>
        </p:spPr>
        <p:txBody>
          <a:bodyPr wrap="square" rtlCol="0">
            <a:spAutoFit/>
          </a:bodyPr>
          <a:lstStyle/>
          <a:p>
            <a:r>
              <a:rPr lang="en-US" sz="2400" dirty="0">
                <a:latin typeface="Calibri" panose="020F0502020204030204" pitchFamily="34" charset="0"/>
                <a:cs typeface="Calibri" panose="020F0502020204030204" pitchFamily="34" charset="0"/>
              </a:rPr>
              <a:t>Presenter:	Tim McGovern</a:t>
            </a:r>
          </a:p>
          <a:p>
            <a:r>
              <a:rPr lang="en-US" sz="2400" dirty="0">
                <a:latin typeface="Calibri" panose="020F0502020204030204" pitchFamily="34" charset="0"/>
                <a:cs typeface="Calibri" panose="020F0502020204030204" pitchFamily="34" charset="0"/>
              </a:rPr>
              <a:t>		White Oak Regulatory Tox, LLC</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February 23, 2026</a:t>
            </a:r>
          </a:p>
        </p:txBody>
      </p:sp>
    </p:spTree>
    <p:extLst>
      <p:ext uri="{BB962C8B-B14F-4D97-AF65-F5344CB8AC3E}">
        <p14:creationId xmlns:p14="http://schemas.microsoft.com/office/powerpoint/2010/main" val="4113251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CE8E8-D2CB-4029-4A6A-0D0D592FC9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FB93DE-553F-C144-F95F-3A314F19248F}"/>
              </a:ext>
            </a:extLst>
          </p:cNvPr>
          <p:cNvSpPr>
            <a:spLocks noGrp="1"/>
          </p:cNvSpPr>
          <p:nvPr>
            <p:ph idx="1"/>
          </p:nvPr>
        </p:nvSpPr>
        <p:spPr>
          <a:xfrm>
            <a:off x="721659" y="1261241"/>
            <a:ext cx="10748682" cy="4997669"/>
          </a:xfrm>
        </p:spPr>
        <p:txBody>
          <a:bodyPr>
            <a:noAutofit/>
          </a:bodyPr>
          <a:lstStyle/>
          <a:p>
            <a:pPr>
              <a:buSzPct val="90000"/>
            </a:pPr>
            <a:r>
              <a:rPr lang="en-US" sz="3200" dirty="0">
                <a:latin typeface="Calibri" panose="020F0502020204030204" pitchFamily="34" charset="0"/>
                <a:cs typeface="Calibri" panose="020F0502020204030204" pitchFamily="34" charset="0"/>
              </a:rPr>
              <a:t>Key nonclinical </a:t>
            </a:r>
            <a:r>
              <a:rPr lang="en-US" sz="3200" dirty="0" err="1">
                <a:latin typeface="Calibri" panose="020F0502020204030204" pitchFamily="34" charset="0"/>
                <a:cs typeface="Calibri" panose="020F0502020204030204" pitchFamily="34" charset="0"/>
              </a:rPr>
              <a:t>guidances</a:t>
            </a:r>
            <a:r>
              <a:rPr lang="en-US" sz="3200" dirty="0">
                <a:latin typeface="Calibri" panose="020F0502020204030204" pitchFamily="34" charset="0"/>
                <a:cs typeface="Calibri" panose="020F0502020204030204" pitchFamily="34" charset="0"/>
              </a:rPr>
              <a:t> for reference</a:t>
            </a:r>
          </a:p>
          <a:p>
            <a:pPr lvl="1">
              <a:buSzPct val="90000"/>
            </a:pPr>
            <a:r>
              <a:rPr lang="en-US" sz="2800" dirty="0">
                <a:latin typeface="Calibri" panose="020F0502020204030204" pitchFamily="34" charset="0"/>
                <a:cs typeface="Calibri" panose="020F0502020204030204" pitchFamily="34" charset="0"/>
              </a:rPr>
              <a:t>ICH M3(R2) – 2010</a:t>
            </a:r>
          </a:p>
          <a:p>
            <a:pPr lvl="1">
              <a:buSzPct val="90000"/>
            </a:pPr>
            <a:r>
              <a:rPr lang="en-US" sz="2800" dirty="0">
                <a:latin typeface="Calibri" panose="020F0502020204030204" pitchFamily="34" charset="0"/>
                <a:cs typeface="Calibri" panose="020F0502020204030204" pitchFamily="34" charset="0"/>
              </a:rPr>
              <a:t>FDA Guidance – Estimating the Maximum Safe Starting Dose in Initial Clinical Trials for Therapeutics in Adult Healthy Volunteers - 2005</a:t>
            </a:r>
          </a:p>
          <a:p>
            <a:pPr>
              <a:buSzPct val="90000"/>
            </a:pPr>
            <a:endParaRPr lang="en-US" sz="3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61EEF9C-5E71-33AD-936D-907BE226CAAF}"/>
              </a:ext>
            </a:extLst>
          </p:cNvPr>
          <p:cNvSpPr txBox="1"/>
          <p:nvPr/>
        </p:nvSpPr>
        <p:spPr>
          <a:xfrm>
            <a:off x="721659" y="413803"/>
            <a:ext cx="7384462" cy="646331"/>
          </a:xfrm>
          <a:prstGeom prst="rect">
            <a:avLst/>
          </a:prstGeom>
          <a:noFill/>
        </p:spPr>
        <p:txBody>
          <a:bodyPr wrap="square" rtlCol="0">
            <a:spAutoFit/>
          </a:bodyPr>
          <a:lstStyle/>
          <a:p>
            <a:r>
              <a:rPr lang="en-US" sz="3600" b="1" dirty="0">
                <a:latin typeface="Calibri" panose="020F0502020204030204" pitchFamily="34" charset="0"/>
                <a:cs typeface="Calibri" panose="020F0502020204030204" pitchFamily="34" charset="0"/>
              </a:rPr>
              <a:t>1a) Submitting an ideal IND package</a:t>
            </a:r>
          </a:p>
        </p:txBody>
      </p:sp>
      <p:pic>
        <p:nvPicPr>
          <p:cNvPr id="2" name="Picture 1">
            <a:extLst>
              <a:ext uri="{FF2B5EF4-FFF2-40B4-BE49-F238E27FC236}">
                <a16:creationId xmlns:a16="http://schemas.microsoft.com/office/drawing/2014/main" id="{892D5B51-50A2-DFAA-35B5-A2880FBAF46B}"/>
              </a:ext>
            </a:extLst>
          </p:cNvPr>
          <p:cNvPicPr>
            <a:picLocks noChangeAspect="1"/>
          </p:cNvPicPr>
          <p:nvPr/>
        </p:nvPicPr>
        <p:blipFill>
          <a:blip r:embed="rId3"/>
          <a:stretch>
            <a:fillRect/>
          </a:stretch>
        </p:blipFill>
        <p:spPr>
          <a:xfrm>
            <a:off x="721659" y="3429000"/>
            <a:ext cx="3842241" cy="2601310"/>
          </a:xfrm>
          <a:prstGeom prst="rect">
            <a:avLst/>
          </a:prstGeom>
        </p:spPr>
      </p:pic>
      <p:pic>
        <p:nvPicPr>
          <p:cNvPr id="5" name="Picture 4">
            <a:extLst>
              <a:ext uri="{FF2B5EF4-FFF2-40B4-BE49-F238E27FC236}">
                <a16:creationId xmlns:a16="http://schemas.microsoft.com/office/drawing/2014/main" id="{184BCB7B-1D56-86CB-DAAF-8CC600D34069}"/>
              </a:ext>
            </a:extLst>
          </p:cNvPr>
          <p:cNvPicPr>
            <a:picLocks noChangeAspect="1"/>
          </p:cNvPicPr>
          <p:nvPr/>
        </p:nvPicPr>
        <p:blipFill>
          <a:blip r:embed="rId4"/>
          <a:stretch>
            <a:fillRect/>
          </a:stretch>
        </p:blipFill>
        <p:spPr>
          <a:xfrm>
            <a:off x="5914697" y="3429000"/>
            <a:ext cx="4632434" cy="1942035"/>
          </a:xfrm>
          <a:prstGeom prst="rect">
            <a:avLst/>
          </a:prstGeom>
        </p:spPr>
      </p:pic>
    </p:spTree>
    <p:extLst>
      <p:ext uri="{BB962C8B-B14F-4D97-AF65-F5344CB8AC3E}">
        <p14:creationId xmlns:p14="http://schemas.microsoft.com/office/powerpoint/2010/main" val="4251019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A32FC-41B8-6D1E-E9C1-ECC8771A0C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4CCC21-295E-6309-E955-1A6B59EFB2D3}"/>
              </a:ext>
            </a:extLst>
          </p:cNvPr>
          <p:cNvSpPr>
            <a:spLocks noGrp="1"/>
          </p:cNvSpPr>
          <p:nvPr>
            <p:ph idx="1"/>
          </p:nvPr>
        </p:nvSpPr>
        <p:spPr>
          <a:xfrm>
            <a:off x="991609" y="1234440"/>
            <a:ext cx="10864060" cy="5254294"/>
          </a:xfrm>
        </p:spPr>
        <p:txBody>
          <a:bodyPr>
            <a:noAutofit/>
          </a:bodyPr>
          <a:lstStyle/>
          <a:p>
            <a:pPr marL="0" indent="0">
              <a:buSzPct val="90000"/>
              <a:buNone/>
            </a:pPr>
            <a:r>
              <a:rPr lang="en-US" sz="3200" u="sng" dirty="0">
                <a:latin typeface="Calibri" panose="020F0502020204030204" pitchFamily="34" charset="0"/>
                <a:cs typeface="Calibri" panose="020F0502020204030204" pitchFamily="34" charset="0"/>
              </a:rPr>
              <a:t>To start:</a:t>
            </a:r>
          </a:p>
          <a:p>
            <a:pPr>
              <a:buSzPct val="90000"/>
            </a:pPr>
            <a:r>
              <a:rPr lang="en-US" sz="3200" dirty="0">
                <a:latin typeface="Calibri" panose="020F0502020204030204" pitchFamily="34" charset="0"/>
                <a:cs typeface="Calibri" panose="020F0502020204030204" pitchFamily="34" charset="0"/>
              </a:rPr>
              <a:t>Ideally, hold Interact and/or </a:t>
            </a:r>
            <a:r>
              <a:rPr lang="en-US" sz="3200" dirty="0" err="1">
                <a:latin typeface="Calibri" panose="020F0502020204030204" pitchFamily="34" charset="0"/>
                <a:cs typeface="Calibri" panose="020F0502020204030204" pitchFamily="34" charset="0"/>
              </a:rPr>
              <a:t>preIND</a:t>
            </a:r>
            <a:r>
              <a:rPr lang="en-US" sz="3200" dirty="0">
                <a:latin typeface="Calibri" panose="020F0502020204030204" pitchFamily="34" charset="0"/>
                <a:cs typeface="Calibri" panose="020F0502020204030204" pitchFamily="34" charset="0"/>
              </a:rPr>
              <a:t> (Type B) meeting to discuss issues with FDA review division</a:t>
            </a:r>
          </a:p>
          <a:p>
            <a:pPr>
              <a:buSzPct val="90000"/>
            </a:pPr>
            <a:endParaRPr lang="en-US" sz="3200" dirty="0">
              <a:latin typeface="Calibri" panose="020F0502020204030204" pitchFamily="34" charset="0"/>
              <a:cs typeface="Calibri" panose="020F0502020204030204" pitchFamily="34" charset="0"/>
            </a:endParaRPr>
          </a:p>
          <a:p>
            <a:pPr>
              <a:buSzPct val="90000"/>
            </a:pPr>
            <a:r>
              <a:rPr lang="en-US" sz="3200" b="1" dirty="0">
                <a:latin typeface="Calibri" panose="020F0502020204030204" pitchFamily="34" charset="0"/>
                <a:cs typeface="Calibri" panose="020F0502020204030204" pitchFamily="34" charset="0"/>
              </a:rPr>
              <a:t>Interact meeting</a:t>
            </a:r>
            <a:r>
              <a:rPr lang="en-US" sz="3200" dirty="0">
                <a:latin typeface="Calibri" panose="020F0502020204030204" pitchFamily="34" charset="0"/>
                <a:cs typeface="Calibri" panose="020F0502020204030204" pitchFamily="34" charset="0"/>
              </a:rPr>
              <a:t>: “novel products and development programs that present unique challenges”</a:t>
            </a:r>
          </a:p>
          <a:p>
            <a:pPr lvl="1">
              <a:buSzPct val="90000"/>
            </a:pPr>
            <a:r>
              <a:rPr lang="en-US" sz="3200" dirty="0">
                <a:latin typeface="Calibri" panose="020F0502020204030204" pitchFamily="34" charset="0"/>
                <a:cs typeface="Calibri" panose="020F0502020204030204" pitchFamily="34" charset="0"/>
              </a:rPr>
              <a:t>Choice of appropriate models or toxicology studies</a:t>
            </a:r>
          </a:p>
          <a:p>
            <a:pPr>
              <a:buSzPct val="90000"/>
            </a:pPr>
            <a:endParaRPr lang="en-US" sz="3200" dirty="0">
              <a:latin typeface="Calibri" panose="020F0502020204030204" pitchFamily="34" charset="0"/>
              <a:cs typeface="Calibri" panose="020F0502020204030204" pitchFamily="34" charset="0"/>
            </a:endParaRPr>
          </a:p>
          <a:p>
            <a:pPr>
              <a:buSzPct val="90000"/>
            </a:pPr>
            <a:r>
              <a:rPr lang="en-US" sz="3200" b="1" dirty="0" err="1">
                <a:latin typeface="Calibri" panose="020F0502020204030204" pitchFamily="34" charset="0"/>
                <a:cs typeface="Calibri" panose="020F0502020204030204" pitchFamily="34" charset="0"/>
              </a:rPr>
              <a:t>preIND</a:t>
            </a:r>
            <a:r>
              <a:rPr lang="en-US" sz="3200" dirty="0">
                <a:latin typeface="Calibri" panose="020F0502020204030204" pitchFamily="34" charset="0"/>
                <a:cs typeface="Calibri" panose="020F0502020204030204" pitchFamily="34" charset="0"/>
              </a:rPr>
              <a:t>: </a:t>
            </a:r>
          </a:p>
          <a:p>
            <a:pPr lvl="1">
              <a:buSzPct val="90000"/>
            </a:pPr>
            <a:r>
              <a:rPr lang="en-US" sz="3200" dirty="0">
                <a:latin typeface="Calibri" panose="020F0502020204030204" pitchFamily="34" charset="0"/>
                <a:cs typeface="Calibri" panose="020F0502020204030204" pitchFamily="34" charset="0"/>
              </a:rPr>
              <a:t>Ability to get initial confirmation on plans and available data</a:t>
            </a:r>
          </a:p>
        </p:txBody>
      </p:sp>
      <p:sp>
        <p:nvSpPr>
          <p:cNvPr id="6" name="TextBox 5">
            <a:extLst>
              <a:ext uri="{FF2B5EF4-FFF2-40B4-BE49-F238E27FC236}">
                <a16:creationId xmlns:a16="http://schemas.microsoft.com/office/drawing/2014/main" id="{329F91F4-482E-BDE3-E993-2B663D43F790}"/>
              </a:ext>
            </a:extLst>
          </p:cNvPr>
          <p:cNvSpPr txBox="1"/>
          <p:nvPr/>
        </p:nvSpPr>
        <p:spPr>
          <a:xfrm>
            <a:off x="865879" y="369266"/>
            <a:ext cx="6628802" cy="646331"/>
          </a:xfrm>
          <a:prstGeom prst="rect">
            <a:avLst/>
          </a:prstGeom>
          <a:noFill/>
        </p:spPr>
        <p:txBody>
          <a:bodyPr wrap="none" rtlCol="0">
            <a:spAutoFit/>
          </a:bodyPr>
          <a:lstStyle/>
          <a:p>
            <a:r>
              <a:rPr lang="en-US" sz="3600" b="1" dirty="0">
                <a:latin typeface="Calibri" panose="020F0502020204030204" pitchFamily="34" charset="0"/>
                <a:cs typeface="Calibri" panose="020F0502020204030204" pitchFamily="34" charset="0"/>
              </a:rPr>
              <a:t>Submitting an ideal IND package</a:t>
            </a:r>
          </a:p>
        </p:txBody>
      </p:sp>
    </p:spTree>
    <p:extLst>
      <p:ext uri="{BB962C8B-B14F-4D97-AF65-F5344CB8AC3E}">
        <p14:creationId xmlns:p14="http://schemas.microsoft.com/office/powerpoint/2010/main" val="3738677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53E5F-64E1-B578-3887-09971AA57B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D0BB26-0944-A6F7-E2A8-BA70C0BF362A}"/>
              </a:ext>
            </a:extLst>
          </p:cNvPr>
          <p:cNvSpPr>
            <a:spLocks noGrp="1"/>
          </p:cNvSpPr>
          <p:nvPr>
            <p:ph idx="1"/>
          </p:nvPr>
        </p:nvSpPr>
        <p:spPr>
          <a:xfrm>
            <a:off x="706056" y="953759"/>
            <a:ext cx="10787145" cy="5331294"/>
          </a:xfrm>
        </p:spPr>
        <p:txBody>
          <a:bodyPr>
            <a:noAutofit/>
          </a:bodyPr>
          <a:lstStyle/>
          <a:p>
            <a:pPr>
              <a:buSzPct val="90000"/>
            </a:pPr>
            <a:r>
              <a:rPr lang="en-US" dirty="0">
                <a:latin typeface="Calibri" panose="020F0502020204030204" pitchFamily="34" charset="0"/>
                <a:cs typeface="Calibri" panose="020F0502020204030204" pitchFamily="34" charset="0"/>
              </a:rPr>
              <a:t>Get initial confirmation on plans/study results</a:t>
            </a:r>
          </a:p>
          <a:p>
            <a:pPr lvl="1">
              <a:buSzPct val="90000"/>
            </a:pPr>
            <a:r>
              <a:rPr lang="en-US" sz="2800" dirty="0">
                <a:latin typeface="Calibri" panose="020F0502020204030204" pitchFamily="34" charset="0"/>
                <a:cs typeface="Calibri" panose="020F0502020204030204" pitchFamily="34" charset="0"/>
              </a:rPr>
              <a:t>CMC</a:t>
            </a:r>
          </a:p>
          <a:p>
            <a:pPr lvl="1">
              <a:buSzPct val="90000"/>
            </a:pPr>
            <a:r>
              <a:rPr lang="en-US" sz="2800" dirty="0">
                <a:latin typeface="Calibri" panose="020F0502020204030204" pitchFamily="34" charset="0"/>
                <a:cs typeface="Calibri" panose="020F0502020204030204" pitchFamily="34" charset="0"/>
              </a:rPr>
              <a:t>Nonclinical</a:t>
            </a:r>
          </a:p>
          <a:p>
            <a:pPr lvl="1">
              <a:buSzPct val="90000"/>
            </a:pPr>
            <a:r>
              <a:rPr lang="en-US" sz="2800" dirty="0">
                <a:latin typeface="Calibri" panose="020F0502020204030204" pitchFamily="34" charset="0"/>
                <a:cs typeface="Calibri" panose="020F0502020204030204" pitchFamily="34" charset="0"/>
              </a:rPr>
              <a:t>Clinical</a:t>
            </a:r>
          </a:p>
          <a:p>
            <a:pPr>
              <a:buSzPct val="90000"/>
            </a:pPr>
            <a:endParaRPr lang="en-US" dirty="0"/>
          </a:p>
          <a:p>
            <a:pPr>
              <a:buSzPct val="90000"/>
            </a:pPr>
            <a:r>
              <a:rPr lang="en-US" b="1" dirty="0"/>
              <a:t>Goal:</a:t>
            </a:r>
            <a:r>
              <a:rPr lang="en-US" dirty="0"/>
              <a:t> identify issues that may hinder development and provide guidance to facilitate the IND opening clinical trial and development program</a:t>
            </a:r>
          </a:p>
          <a:p>
            <a:pPr lvl="1">
              <a:buSzPct val="90000"/>
            </a:pPr>
            <a:r>
              <a:rPr lang="en-US" dirty="0"/>
              <a:t>Include specific questions to solicit key feedback from FDA review team</a:t>
            </a:r>
          </a:p>
          <a:p>
            <a:pPr lvl="1">
              <a:buSzPct val="90000"/>
            </a:pPr>
            <a:r>
              <a:rPr lang="en-US" dirty="0"/>
              <a:t>Helps to ensure a complete IND application, avoid unnecessary nonclinical studies, and prevent a clinical hold</a:t>
            </a:r>
          </a:p>
        </p:txBody>
      </p:sp>
      <p:sp>
        <p:nvSpPr>
          <p:cNvPr id="6" name="TextBox 5">
            <a:extLst>
              <a:ext uri="{FF2B5EF4-FFF2-40B4-BE49-F238E27FC236}">
                <a16:creationId xmlns:a16="http://schemas.microsoft.com/office/drawing/2014/main" id="{63E08CBF-EAB8-7728-F6BB-6B469E04CA71}"/>
              </a:ext>
            </a:extLst>
          </p:cNvPr>
          <p:cNvSpPr txBox="1"/>
          <p:nvPr/>
        </p:nvSpPr>
        <p:spPr>
          <a:xfrm>
            <a:off x="1014469" y="114314"/>
            <a:ext cx="3699731" cy="646331"/>
          </a:xfrm>
          <a:prstGeom prst="rect">
            <a:avLst/>
          </a:prstGeom>
          <a:noFill/>
        </p:spPr>
        <p:txBody>
          <a:bodyPr wrap="none" rtlCol="0">
            <a:spAutoFit/>
          </a:bodyPr>
          <a:lstStyle/>
          <a:p>
            <a:r>
              <a:rPr lang="en-US" sz="3600" b="1" dirty="0" err="1">
                <a:latin typeface="Calibri" panose="020F0502020204030204" pitchFamily="34" charset="0"/>
                <a:cs typeface="Calibri" panose="020F0502020204030204" pitchFamily="34" charset="0"/>
              </a:rPr>
              <a:t>preIND</a:t>
            </a:r>
            <a:r>
              <a:rPr lang="en-US" sz="3600" b="1" dirty="0">
                <a:latin typeface="Calibri" panose="020F0502020204030204" pitchFamily="34" charset="0"/>
                <a:cs typeface="Calibri" panose="020F0502020204030204" pitchFamily="34" charset="0"/>
              </a:rPr>
              <a:t> meeting(s)</a:t>
            </a:r>
          </a:p>
        </p:txBody>
      </p:sp>
    </p:spTree>
    <p:extLst>
      <p:ext uri="{BB962C8B-B14F-4D97-AF65-F5344CB8AC3E}">
        <p14:creationId xmlns:p14="http://schemas.microsoft.com/office/powerpoint/2010/main" val="1675727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96D6-061F-5098-1806-6599F2A8BD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B82520-65BE-F058-D9CF-BD41E7029400}"/>
              </a:ext>
            </a:extLst>
          </p:cNvPr>
          <p:cNvSpPr>
            <a:spLocks noGrp="1"/>
          </p:cNvSpPr>
          <p:nvPr>
            <p:ph idx="1"/>
          </p:nvPr>
        </p:nvSpPr>
        <p:spPr>
          <a:xfrm>
            <a:off x="625849" y="1085850"/>
            <a:ext cx="10844492" cy="5017770"/>
          </a:xfrm>
        </p:spPr>
        <p:txBody>
          <a:bodyPr>
            <a:noAutofit/>
          </a:bodyPr>
          <a:lstStyle/>
          <a:p>
            <a:pPr>
              <a:lnSpc>
                <a:spcPct val="120000"/>
              </a:lnSpc>
              <a:spcBef>
                <a:spcPts val="600"/>
              </a:spcBef>
            </a:pPr>
            <a:r>
              <a:rPr lang="en-US" sz="2400" dirty="0">
                <a:latin typeface="Calibri" panose="020F0502020204030204" pitchFamily="34" charset="0"/>
                <a:cs typeface="Calibri" panose="020F0502020204030204" pitchFamily="34" charset="0"/>
              </a:rPr>
              <a:t>Clinical reviewer (medical officer)</a:t>
            </a:r>
          </a:p>
          <a:p>
            <a:pPr>
              <a:lnSpc>
                <a:spcPct val="120000"/>
              </a:lnSpc>
              <a:spcBef>
                <a:spcPts val="600"/>
              </a:spcBef>
            </a:pPr>
            <a:r>
              <a:rPr lang="en-US" sz="2400" dirty="0">
                <a:latin typeface="Calibri" panose="020F0502020204030204" pitchFamily="34" charset="0"/>
                <a:cs typeface="Calibri" panose="020F0502020204030204" pitchFamily="34" charset="0"/>
              </a:rPr>
              <a:t>Pharmacology/toxicology reviewer</a:t>
            </a:r>
          </a:p>
          <a:p>
            <a:pPr>
              <a:lnSpc>
                <a:spcPct val="120000"/>
              </a:lnSpc>
              <a:spcBef>
                <a:spcPts val="600"/>
              </a:spcBef>
            </a:pPr>
            <a:r>
              <a:rPr lang="en-US" sz="2400" dirty="0">
                <a:latin typeface="Calibri" panose="020F0502020204030204" pitchFamily="34" charset="0"/>
                <a:cs typeface="Calibri" panose="020F0502020204030204" pitchFamily="34" charset="0"/>
              </a:rPr>
              <a:t>Product quality reviewer (CMC)</a:t>
            </a:r>
          </a:p>
          <a:p>
            <a:pPr>
              <a:lnSpc>
                <a:spcPct val="120000"/>
              </a:lnSpc>
              <a:spcBef>
                <a:spcPts val="600"/>
              </a:spcBef>
            </a:pPr>
            <a:r>
              <a:rPr lang="en-US" sz="2400" dirty="0">
                <a:latin typeface="Calibri" panose="020F0502020204030204" pitchFamily="34" charset="0"/>
                <a:cs typeface="Calibri" panose="020F0502020204030204" pitchFamily="34" charset="0"/>
              </a:rPr>
              <a:t>Clinical pharmacology reviewer</a:t>
            </a:r>
          </a:p>
          <a:p>
            <a:pPr>
              <a:lnSpc>
                <a:spcPct val="120000"/>
              </a:lnSpc>
              <a:spcBef>
                <a:spcPts val="600"/>
              </a:spcBef>
            </a:pPr>
            <a:r>
              <a:rPr lang="en-US" sz="2400" dirty="0">
                <a:latin typeface="Calibri" panose="020F0502020204030204" pitchFamily="34" charset="0"/>
                <a:cs typeface="Calibri" panose="020F0502020204030204" pitchFamily="34" charset="0"/>
              </a:rPr>
              <a:t>Statistical reviewer</a:t>
            </a:r>
          </a:p>
          <a:p>
            <a:pPr>
              <a:lnSpc>
                <a:spcPct val="120000"/>
              </a:lnSpc>
              <a:spcBef>
                <a:spcPts val="600"/>
              </a:spcBef>
            </a:pPr>
            <a:r>
              <a:rPr lang="en-US" sz="2400" dirty="0">
                <a:latin typeface="Calibri" panose="020F0502020204030204" pitchFamily="34" charset="0"/>
                <a:cs typeface="Calibri" panose="020F0502020204030204" pitchFamily="34" charset="0"/>
              </a:rPr>
              <a:t>Regulatory project manager</a:t>
            </a:r>
          </a:p>
          <a:p>
            <a:pPr>
              <a:lnSpc>
                <a:spcPct val="120000"/>
              </a:lnSpc>
              <a:spcBef>
                <a:spcPts val="600"/>
              </a:spcBef>
            </a:pPr>
            <a:r>
              <a:rPr lang="en-US" sz="2400" dirty="0">
                <a:latin typeface="Calibri" panose="020F0502020204030204" pitchFamily="34" charset="0"/>
                <a:cs typeface="Calibri" panose="020F0502020204030204" pitchFamily="34" charset="0"/>
              </a:rPr>
              <a:t>Division director, deputy director and team leaders for each discipline</a:t>
            </a:r>
          </a:p>
          <a:p>
            <a:pPr>
              <a:lnSpc>
                <a:spcPct val="120000"/>
              </a:lnSpc>
              <a:spcBef>
                <a:spcPts val="600"/>
              </a:spcBef>
            </a:pPr>
            <a:endParaRPr lang="en-US" sz="2400" dirty="0">
              <a:latin typeface="Calibri" panose="020F0502020204030204" pitchFamily="34" charset="0"/>
              <a:cs typeface="Calibri" panose="020F0502020204030204" pitchFamily="34" charset="0"/>
            </a:endParaRPr>
          </a:p>
          <a:p>
            <a:pPr>
              <a:lnSpc>
                <a:spcPct val="120000"/>
              </a:lnSpc>
              <a:spcBef>
                <a:spcPts val="600"/>
              </a:spcBef>
            </a:pPr>
            <a:r>
              <a:rPr lang="en-US" sz="2400" dirty="0">
                <a:latin typeface="Calibri" panose="020F0502020204030204" pitchFamily="34" charset="0"/>
                <a:cs typeface="Calibri" panose="020F0502020204030204" pitchFamily="34" charset="0"/>
              </a:rPr>
              <a:t>30-day timeframe to review and decide on proposed clinical trial</a:t>
            </a:r>
          </a:p>
          <a:p>
            <a:pPr lvl="1">
              <a:lnSpc>
                <a:spcPct val="120000"/>
              </a:lnSpc>
              <a:spcBef>
                <a:spcPts val="600"/>
              </a:spcBef>
            </a:pPr>
            <a:r>
              <a:rPr lang="en-US" sz="2000" dirty="0">
                <a:latin typeface="Calibri" panose="020F0502020204030204" pitchFamily="34" charset="0"/>
                <a:cs typeface="Calibri" panose="020F0502020204030204" pitchFamily="34" charset="0"/>
              </a:rPr>
              <a:t>Actual available review time is much less</a:t>
            </a:r>
          </a:p>
        </p:txBody>
      </p:sp>
      <p:sp>
        <p:nvSpPr>
          <p:cNvPr id="6" name="TextBox 5">
            <a:extLst>
              <a:ext uri="{FF2B5EF4-FFF2-40B4-BE49-F238E27FC236}">
                <a16:creationId xmlns:a16="http://schemas.microsoft.com/office/drawing/2014/main" id="{5D929EBD-77C6-DB93-0B98-86030F0ED49C}"/>
              </a:ext>
            </a:extLst>
          </p:cNvPr>
          <p:cNvSpPr txBox="1"/>
          <p:nvPr/>
        </p:nvSpPr>
        <p:spPr>
          <a:xfrm>
            <a:off x="625849" y="277826"/>
            <a:ext cx="3577711" cy="646331"/>
          </a:xfrm>
          <a:prstGeom prst="rect">
            <a:avLst/>
          </a:prstGeom>
          <a:noFill/>
        </p:spPr>
        <p:txBody>
          <a:bodyPr wrap="none" rtlCol="0">
            <a:spAutoFit/>
          </a:bodyPr>
          <a:lstStyle/>
          <a:p>
            <a:pPr>
              <a:buSzPct val="90000"/>
            </a:pPr>
            <a:r>
              <a:rPr lang="en-US" sz="3600" b="1" dirty="0">
                <a:latin typeface="Calibri" panose="020F0502020204030204" pitchFamily="34" charset="0"/>
                <a:cs typeface="Calibri" panose="020F0502020204030204" pitchFamily="34" charset="0"/>
              </a:rPr>
              <a:t>FDA review team:</a:t>
            </a:r>
          </a:p>
        </p:txBody>
      </p:sp>
    </p:spTree>
    <p:extLst>
      <p:ext uri="{BB962C8B-B14F-4D97-AF65-F5344CB8AC3E}">
        <p14:creationId xmlns:p14="http://schemas.microsoft.com/office/powerpoint/2010/main" val="946777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C384C-52AE-869C-027B-44F77823C1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B6326C-36ED-7AC7-81FE-8910AB81716F}"/>
              </a:ext>
            </a:extLst>
          </p:cNvPr>
          <p:cNvSpPr>
            <a:spLocks noGrp="1"/>
          </p:cNvSpPr>
          <p:nvPr>
            <p:ph idx="1"/>
          </p:nvPr>
        </p:nvSpPr>
        <p:spPr>
          <a:xfrm>
            <a:off x="502920" y="1432435"/>
            <a:ext cx="11418570" cy="5090589"/>
          </a:xfrm>
        </p:spPr>
        <p:txBody>
          <a:bodyPr>
            <a:noAutofit/>
          </a:bodyPr>
          <a:lstStyle/>
          <a:p>
            <a:r>
              <a:rPr lang="en-US" dirty="0"/>
              <a:t>Key studies:</a:t>
            </a:r>
          </a:p>
          <a:p>
            <a:pPr lvl="1"/>
            <a:r>
              <a:rPr lang="en-US" dirty="0"/>
              <a:t>Pharmacodynamics (in vitro/in vivo)</a:t>
            </a:r>
          </a:p>
          <a:p>
            <a:pPr lvl="1"/>
            <a:r>
              <a:rPr lang="en-US" dirty="0"/>
              <a:t>Safety pharmacology (</a:t>
            </a:r>
            <a:r>
              <a:rPr lang="en-US" dirty="0" err="1"/>
              <a:t>hERG</a:t>
            </a:r>
            <a:r>
              <a:rPr lang="en-US" dirty="0"/>
              <a:t>, CV, CNS, Respiratory)</a:t>
            </a:r>
          </a:p>
          <a:p>
            <a:pPr lvl="1"/>
            <a:r>
              <a:rPr lang="en-US" dirty="0"/>
              <a:t>ADME: in vitro metabolism and protein binding</a:t>
            </a:r>
          </a:p>
          <a:p>
            <a:pPr lvl="1"/>
            <a:r>
              <a:rPr lang="en-US" dirty="0" err="1"/>
              <a:t>Pharmaco</a:t>
            </a:r>
            <a:r>
              <a:rPr lang="en-US" dirty="0"/>
              <a:t>/</a:t>
            </a:r>
            <a:r>
              <a:rPr lang="en-US" dirty="0" err="1"/>
              <a:t>toxicokinetics</a:t>
            </a:r>
            <a:r>
              <a:rPr lang="en-US" dirty="0"/>
              <a:t> in nonclinical tox test species</a:t>
            </a:r>
          </a:p>
          <a:p>
            <a:pPr lvl="1"/>
            <a:r>
              <a:rPr lang="en-US" dirty="0"/>
              <a:t>General toxicology – sufficient duration vs clinical (usually 2- to 4-week duration)</a:t>
            </a:r>
          </a:p>
          <a:p>
            <a:pPr lvl="1"/>
            <a:r>
              <a:rPr lang="en-US" dirty="0" err="1"/>
              <a:t>Genotoxicology</a:t>
            </a:r>
            <a:endParaRPr lang="en-US" dirty="0"/>
          </a:p>
          <a:p>
            <a:pPr lvl="2"/>
            <a:r>
              <a:rPr lang="en-US" dirty="0"/>
              <a:t>In vitro mutation supports single dose; additional </a:t>
            </a:r>
            <a:r>
              <a:rPr lang="en-US" dirty="0" err="1"/>
              <a:t>clastogenicity</a:t>
            </a:r>
            <a:r>
              <a:rPr lang="en-US" dirty="0"/>
              <a:t> assay for multiple dose</a:t>
            </a:r>
          </a:p>
          <a:p>
            <a:pPr lvl="2"/>
            <a:r>
              <a:rPr lang="en-US" dirty="0"/>
              <a:t>Complete battery to support Phase 2</a:t>
            </a:r>
          </a:p>
          <a:p>
            <a:r>
              <a:rPr lang="en-US" dirty="0"/>
              <a:t>If warranted:</a:t>
            </a:r>
          </a:p>
          <a:p>
            <a:pPr lvl="1"/>
            <a:r>
              <a:rPr lang="en-US" dirty="0"/>
              <a:t>Local tolerance (usually integrated in general tox studies)</a:t>
            </a:r>
          </a:p>
          <a:p>
            <a:pPr lvl="1"/>
            <a:r>
              <a:rPr lang="en-US" dirty="0"/>
              <a:t>Special studies: </a:t>
            </a:r>
            <a:r>
              <a:rPr lang="en-US" dirty="0" err="1"/>
              <a:t>phototox</a:t>
            </a:r>
            <a:r>
              <a:rPr lang="en-US" dirty="0"/>
              <a:t>, </a:t>
            </a:r>
            <a:r>
              <a:rPr lang="en-US" dirty="0" err="1"/>
              <a:t>immunotox</a:t>
            </a:r>
            <a:r>
              <a:rPr lang="en-US" dirty="0"/>
              <a:t>, unique metabolites, impurities</a:t>
            </a:r>
            <a:endParaRPr lang="en-US"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543B4C8-2E73-BDCB-E324-0BAC2E785C41}"/>
              </a:ext>
            </a:extLst>
          </p:cNvPr>
          <p:cNvSpPr txBox="1"/>
          <p:nvPr/>
        </p:nvSpPr>
        <p:spPr>
          <a:xfrm>
            <a:off x="763009" y="232106"/>
            <a:ext cx="10788525" cy="1200329"/>
          </a:xfrm>
          <a:prstGeom prst="rect">
            <a:avLst/>
          </a:prstGeom>
          <a:noFill/>
        </p:spPr>
        <p:txBody>
          <a:bodyPr wrap="square" rtlCol="0">
            <a:spAutoFit/>
          </a:bodyPr>
          <a:lstStyle/>
          <a:p>
            <a:pPr>
              <a:buSzPct val="90000"/>
            </a:pPr>
            <a:r>
              <a:rPr lang="en-US" sz="3600" b="1" dirty="0">
                <a:latin typeface="Calibri" panose="020F0502020204030204" pitchFamily="34" charset="0"/>
                <a:cs typeface="Calibri" panose="020F0502020204030204" pitchFamily="34" charset="0"/>
              </a:rPr>
              <a:t>Studies recommended by ICH M3(R2) to support FIH IND submission:</a:t>
            </a:r>
          </a:p>
        </p:txBody>
      </p:sp>
    </p:spTree>
    <p:extLst>
      <p:ext uri="{BB962C8B-B14F-4D97-AF65-F5344CB8AC3E}">
        <p14:creationId xmlns:p14="http://schemas.microsoft.com/office/powerpoint/2010/main" val="194061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7CE05-3291-9497-812F-E40AD315DF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B5C21-61F2-D398-403E-731ECBE55843}"/>
              </a:ext>
            </a:extLst>
          </p:cNvPr>
          <p:cNvSpPr>
            <a:spLocks noGrp="1"/>
          </p:cNvSpPr>
          <p:nvPr>
            <p:ph idx="1"/>
          </p:nvPr>
        </p:nvSpPr>
        <p:spPr>
          <a:xfrm>
            <a:off x="662940" y="1117391"/>
            <a:ext cx="10807401" cy="4983480"/>
          </a:xfrm>
        </p:spPr>
        <p:txBody>
          <a:bodyPr>
            <a:noAutofit/>
          </a:bodyPr>
          <a:lstStyle/>
          <a:p>
            <a:r>
              <a:rPr lang="en-US" dirty="0">
                <a:latin typeface="Calibri" panose="020F0502020204030204" pitchFamily="34" charset="0"/>
                <a:cs typeface="Calibri" panose="020F0502020204030204" pitchFamily="34" charset="0"/>
              </a:rPr>
              <a:t>Single dose or multiple dose studies needed? </a:t>
            </a:r>
          </a:p>
          <a:p>
            <a:pPr lvl="1"/>
            <a:r>
              <a:rPr lang="en-US" dirty="0">
                <a:latin typeface="Calibri" panose="020F0502020204030204" pitchFamily="34" charset="0"/>
                <a:cs typeface="Calibri" panose="020F0502020204030204" pitchFamily="34" charset="0"/>
              </a:rPr>
              <a:t>Are the treatment durations and clinical exposures covered?</a:t>
            </a:r>
          </a:p>
          <a:p>
            <a:r>
              <a:rPr lang="en-US" dirty="0">
                <a:latin typeface="Calibri" panose="020F0502020204030204" pitchFamily="34" charset="0"/>
                <a:cs typeface="Calibri" panose="020F0502020204030204" pitchFamily="34" charset="0"/>
              </a:rPr>
              <a:t>What are the target organs?</a:t>
            </a:r>
          </a:p>
          <a:p>
            <a:r>
              <a:rPr lang="en-US" dirty="0">
                <a:latin typeface="Calibri" panose="020F0502020204030204" pitchFamily="34" charset="0"/>
                <a:cs typeface="Calibri" panose="020F0502020204030204" pitchFamily="34" charset="0"/>
              </a:rPr>
              <a:t>Is there a dose-response for adverse findings?</a:t>
            </a:r>
          </a:p>
          <a:p>
            <a:r>
              <a:rPr lang="en-US" dirty="0">
                <a:latin typeface="Calibri" panose="020F0502020204030204" pitchFamily="34" charset="0"/>
                <a:cs typeface="Calibri" panose="020F0502020204030204" pitchFamily="34" charset="0"/>
              </a:rPr>
              <a:t>What are the Maximum Tolerated Dose (MTD) and No Observed Adverse Effect Level (NOAEL)/ No Observed Effect Level Doses (NOEL)?</a:t>
            </a:r>
          </a:p>
          <a:p>
            <a:r>
              <a:rPr lang="en-US" dirty="0">
                <a:latin typeface="Calibri" panose="020F0502020204030204" pitchFamily="34" charset="0"/>
                <a:cs typeface="Calibri" panose="020F0502020204030204" pitchFamily="34" charset="0"/>
              </a:rPr>
              <a:t>What is the maximum recommended start dose?</a:t>
            </a:r>
          </a:p>
          <a:p>
            <a:pPr lvl="1"/>
            <a:r>
              <a:rPr lang="en-US" dirty="0">
                <a:latin typeface="Calibri" panose="020F0502020204030204" pitchFamily="34" charset="0"/>
                <a:cs typeface="Calibri" panose="020F0502020204030204" pitchFamily="34" charset="0"/>
              </a:rPr>
              <a:t>See FDA guidance on identification of MRSD</a:t>
            </a:r>
          </a:p>
          <a:p>
            <a:r>
              <a:rPr lang="en-US" dirty="0">
                <a:latin typeface="Calibri" panose="020F0502020204030204" pitchFamily="34" charset="0"/>
                <a:cs typeface="Calibri" panose="020F0502020204030204" pitchFamily="34" charset="0"/>
              </a:rPr>
              <a:t>Is the effect reversible and/or monitorable? </a:t>
            </a:r>
          </a:p>
          <a:p>
            <a:pPr lvl="1"/>
            <a:r>
              <a:rPr lang="en-US" dirty="0">
                <a:latin typeface="Calibri" panose="020F0502020204030204" pitchFamily="34" charset="0"/>
                <a:cs typeface="Calibri" panose="020F0502020204030204" pitchFamily="34" charset="0"/>
              </a:rPr>
              <a:t>Reversibility does not impact the NOAEL dose but, along with monitorability, can support dosing beyond NOAEL</a:t>
            </a:r>
          </a:p>
          <a:p>
            <a:pPr marL="0" indent="0">
              <a:buSzPct val="90000"/>
              <a:buNone/>
            </a:pPr>
            <a:endParaRPr lang="en-US" sz="3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B7DC173-4826-A556-B930-6111F17AE47E}"/>
              </a:ext>
            </a:extLst>
          </p:cNvPr>
          <p:cNvSpPr txBox="1"/>
          <p:nvPr/>
        </p:nvSpPr>
        <p:spPr>
          <a:xfrm>
            <a:off x="662940" y="350915"/>
            <a:ext cx="7677871" cy="646331"/>
          </a:xfrm>
          <a:prstGeom prst="rect">
            <a:avLst/>
          </a:prstGeom>
          <a:noFill/>
        </p:spPr>
        <p:txBody>
          <a:bodyPr wrap="none" rtlCol="0">
            <a:spAutoFit/>
          </a:bodyPr>
          <a:lstStyle/>
          <a:p>
            <a:r>
              <a:rPr lang="en-US" sz="3600" b="1" dirty="0">
                <a:latin typeface="Calibri" panose="020F0502020204030204" pitchFamily="34" charset="0"/>
                <a:cs typeface="Calibri" panose="020F0502020204030204" pitchFamily="34" charset="0"/>
              </a:rPr>
              <a:t>Some key nonclinical review questions:</a:t>
            </a:r>
          </a:p>
        </p:txBody>
      </p:sp>
    </p:spTree>
    <p:extLst>
      <p:ext uri="{BB962C8B-B14F-4D97-AF65-F5344CB8AC3E}">
        <p14:creationId xmlns:p14="http://schemas.microsoft.com/office/powerpoint/2010/main" val="3753002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38859-AF27-73F3-C668-1ACB4F78AE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E75909-4D72-333F-2F3D-D891974E16CB}"/>
              </a:ext>
            </a:extLst>
          </p:cNvPr>
          <p:cNvSpPr>
            <a:spLocks noGrp="1"/>
          </p:cNvSpPr>
          <p:nvPr>
            <p:ph idx="1"/>
          </p:nvPr>
        </p:nvSpPr>
        <p:spPr>
          <a:xfrm>
            <a:off x="991609" y="1165860"/>
            <a:ext cx="10478732" cy="5108816"/>
          </a:xfrm>
        </p:spPr>
        <p:txBody>
          <a:bodyPr>
            <a:noAutofit/>
          </a:bodyPr>
          <a:lstStyle/>
          <a:p>
            <a:pPr>
              <a:lnSpc>
                <a:spcPct val="100000"/>
              </a:lnSpc>
            </a:pPr>
            <a:r>
              <a:rPr lang="en-US" dirty="0"/>
              <a:t>Appropriate studies were not conducted</a:t>
            </a:r>
          </a:p>
          <a:p>
            <a:pPr>
              <a:lnSpc>
                <a:spcPct val="100000"/>
              </a:lnSpc>
            </a:pPr>
            <a:r>
              <a:rPr lang="en-US" dirty="0"/>
              <a:t>Nonclinical study designs were flawed</a:t>
            </a:r>
          </a:p>
          <a:p>
            <a:pPr lvl="1">
              <a:lnSpc>
                <a:spcPct val="100000"/>
              </a:lnSpc>
            </a:pPr>
            <a:r>
              <a:rPr lang="en-US" dirty="0"/>
              <a:t>Insufficient number of animals</a:t>
            </a:r>
          </a:p>
          <a:p>
            <a:pPr lvl="1">
              <a:lnSpc>
                <a:spcPct val="100000"/>
              </a:lnSpc>
            </a:pPr>
            <a:r>
              <a:rPr lang="en-US" dirty="0"/>
              <a:t>Inadequate endpoints evaluated</a:t>
            </a:r>
          </a:p>
          <a:p>
            <a:pPr lvl="1">
              <a:lnSpc>
                <a:spcPct val="100000"/>
              </a:lnSpc>
            </a:pPr>
            <a:r>
              <a:rPr lang="en-US" dirty="0"/>
              <a:t>Study duration not appropriate to support clinical trial duration</a:t>
            </a:r>
          </a:p>
          <a:p>
            <a:pPr lvl="1">
              <a:lnSpc>
                <a:spcPct val="100000"/>
              </a:lnSpc>
            </a:pPr>
            <a:r>
              <a:rPr lang="en-US" dirty="0"/>
              <a:t>Evaluated doses do not cover intended human exposures </a:t>
            </a:r>
          </a:p>
          <a:p>
            <a:pPr lvl="2">
              <a:lnSpc>
                <a:spcPct val="100000"/>
              </a:lnSpc>
            </a:pPr>
            <a:r>
              <a:rPr lang="en-US" dirty="0"/>
              <a:t>body surface area for FIH dosing; typically AUC-based later</a:t>
            </a:r>
          </a:p>
          <a:p>
            <a:pPr>
              <a:lnSpc>
                <a:spcPct val="100000"/>
              </a:lnSpc>
            </a:pPr>
            <a:r>
              <a:rPr lang="en-US" dirty="0"/>
              <a:t>NOAEL was not identified</a:t>
            </a:r>
            <a:endParaRPr lang="en-US" sz="3200" dirty="0"/>
          </a:p>
          <a:p>
            <a:pPr>
              <a:lnSpc>
                <a:spcPct val="100000"/>
              </a:lnSpc>
            </a:pPr>
            <a:r>
              <a:rPr lang="en-US" dirty="0"/>
              <a:t>The observed toxicities and associated exposure margins present an unacceptable clinical safety risk (</a:t>
            </a:r>
            <a:r>
              <a:rPr lang="en-US" dirty="0" err="1"/>
              <a:t>ie</a:t>
            </a:r>
            <a:r>
              <a:rPr lang="en-US" dirty="0"/>
              <a:t>, NOAEL exposure &lt; clinical)</a:t>
            </a:r>
          </a:p>
        </p:txBody>
      </p:sp>
      <p:sp>
        <p:nvSpPr>
          <p:cNvPr id="6" name="TextBox 5">
            <a:extLst>
              <a:ext uri="{FF2B5EF4-FFF2-40B4-BE49-F238E27FC236}">
                <a16:creationId xmlns:a16="http://schemas.microsoft.com/office/drawing/2014/main" id="{9EE1B602-8A95-86BF-01A2-4BAC97C4A6DC}"/>
              </a:ext>
            </a:extLst>
          </p:cNvPr>
          <p:cNvSpPr txBox="1"/>
          <p:nvPr/>
        </p:nvSpPr>
        <p:spPr>
          <a:xfrm>
            <a:off x="808729" y="357836"/>
            <a:ext cx="8136073" cy="646331"/>
          </a:xfrm>
          <a:prstGeom prst="rect">
            <a:avLst/>
          </a:prstGeom>
          <a:noFill/>
        </p:spPr>
        <p:txBody>
          <a:bodyPr wrap="none" rtlCol="0">
            <a:spAutoFit/>
          </a:bodyPr>
          <a:lstStyle/>
          <a:p>
            <a:r>
              <a:rPr lang="en-US" sz="3600" b="1" dirty="0">
                <a:latin typeface="Calibri" panose="020F0502020204030204" pitchFamily="34" charset="0"/>
                <a:cs typeface="Calibri" panose="020F0502020204030204" pitchFamily="34" charset="0"/>
              </a:rPr>
              <a:t>Some common reasons for a clinical hold:</a:t>
            </a:r>
          </a:p>
        </p:txBody>
      </p:sp>
    </p:spTree>
    <p:extLst>
      <p:ext uri="{BB962C8B-B14F-4D97-AF65-F5344CB8AC3E}">
        <p14:creationId xmlns:p14="http://schemas.microsoft.com/office/powerpoint/2010/main" val="319212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EF213-220C-E869-034F-0C0A99B7F6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926D4A-BF7E-719A-5CDA-11DEBB12A4C2}"/>
              </a:ext>
            </a:extLst>
          </p:cNvPr>
          <p:cNvSpPr>
            <a:spLocks noGrp="1"/>
          </p:cNvSpPr>
          <p:nvPr>
            <p:ph idx="1"/>
          </p:nvPr>
        </p:nvSpPr>
        <p:spPr>
          <a:xfrm>
            <a:off x="547127" y="1092203"/>
            <a:ext cx="11097746" cy="5062214"/>
          </a:xfrm>
        </p:spPr>
        <p:txBody>
          <a:bodyPr>
            <a:noAutofit/>
          </a:bodyPr>
          <a:lstStyle/>
          <a:p>
            <a:pPr>
              <a:buSzPct val="90000"/>
            </a:pPr>
            <a:r>
              <a:rPr lang="en-US" sz="2400" dirty="0">
                <a:latin typeface="Calibri" panose="020F0502020204030204" pitchFamily="34" charset="0"/>
                <a:cs typeface="Calibri" panose="020F0502020204030204" pitchFamily="34" charset="0"/>
              </a:rPr>
              <a:t>Expected studies with API not conducted</a:t>
            </a:r>
          </a:p>
          <a:p>
            <a:pPr lvl="1">
              <a:buSzPct val="90000"/>
            </a:pPr>
            <a:r>
              <a:rPr lang="en-US" dirty="0">
                <a:latin typeface="Calibri" panose="020F0502020204030204" pitchFamily="34" charset="0"/>
                <a:cs typeface="Calibri" panose="020F0502020204030204" pitchFamily="34" charset="0"/>
              </a:rPr>
              <a:t>Adequate duration? Two species?</a:t>
            </a:r>
          </a:p>
          <a:p>
            <a:pPr>
              <a:buSzPct val="90000"/>
            </a:pPr>
            <a:r>
              <a:rPr lang="en-US" sz="2400" dirty="0">
                <a:latin typeface="Calibri" panose="020F0502020204030204" pitchFamily="34" charset="0"/>
                <a:cs typeface="Calibri" panose="020F0502020204030204" pitchFamily="34" charset="0"/>
              </a:rPr>
              <a:t>Draft reports submitted without signed pathology report</a:t>
            </a:r>
          </a:p>
          <a:p>
            <a:pPr>
              <a:buSzPct val="90000"/>
            </a:pPr>
            <a:r>
              <a:rPr lang="en-US" sz="2400" dirty="0">
                <a:latin typeface="Calibri" panose="020F0502020204030204" pitchFamily="34" charset="0"/>
                <a:cs typeface="Calibri" panose="020F0502020204030204" pitchFamily="34" charset="0"/>
              </a:rPr>
              <a:t>No NOAEL identified </a:t>
            </a:r>
          </a:p>
          <a:p>
            <a:pPr lvl="1">
              <a:buSzPct val="90000"/>
            </a:pPr>
            <a:r>
              <a:rPr lang="en-US" dirty="0">
                <a:latin typeface="Calibri" panose="020F0502020204030204" pitchFamily="34" charset="0"/>
                <a:cs typeface="Calibri" panose="020F0502020204030204" pitchFamily="34" charset="0"/>
              </a:rPr>
              <a:t>FDA does not always agree with study report conclusion</a:t>
            </a:r>
          </a:p>
          <a:p>
            <a:pPr>
              <a:buSzPct val="90000"/>
            </a:pPr>
            <a:r>
              <a:rPr lang="en-US" sz="2400" dirty="0">
                <a:latin typeface="Calibri" panose="020F0502020204030204" pitchFamily="34" charset="0"/>
                <a:cs typeface="Calibri" panose="020F0502020204030204" pitchFamily="34" charset="0"/>
              </a:rPr>
              <a:t>No target organ toxicity identified</a:t>
            </a:r>
          </a:p>
          <a:p>
            <a:pPr>
              <a:buSzPct val="90000"/>
            </a:pPr>
            <a:r>
              <a:rPr lang="en-US" sz="2400" dirty="0">
                <a:latin typeface="Calibri" panose="020F0502020204030204" pitchFamily="34" charset="0"/>
                <a:cs typeface="Calibri" panose="020F0502020204030204" pitchFamily="34" charset="0"/>
              </a:rPr>
              <a:t>Proposed clinical (start) dose not supported by nonclinical data (</a:t>
            </a:r>
            <a:r>
              <a:rPr lang="en-US" sz="2400" dirty="0" err="1">
                <a:latin typeface="Calibri" panose="020F0502020204030204" pitchFamily="34" charset="0"/>
                <a:cs typeface="Calibri" panose="020F0502020204030204" pitchFamily="34" charset="0"/>
              </a:rPr>
              <a:t>eg</a:t>
            </a:r>
            <a:r>
              <a:rPr lang="en-US" sz="2400" dirty="0">
                <a:latin typeface="Calibri" panose="020F0502020204030204" pitchFamily="34" charset="0"/>
                <a:cs typeface="Calibri" panose="020F0502020204030204" pitchFamily="34" charset="0"/>
              </a:rPr>
              <a:t>, NOAEL)</a:t>
            </a:r>
          </a:p>
          <a:p>
            <a:pPr lvl="1">
              <a:buSzPct val="90000"/>
            </a:pPr>
            <a:r>
              <a:rPr lang="en-US" dirty="0">
                <a:latin typeface="Calibri" panose="020F0502020204030204" pitchFamily="34" charset="0"/>
                <a:cs typeface="Calibri" panose="020F0502020204030204" pitchFamily="34" charset="0"/>
              </a:rPr>
              <a:t>generally addressed via Division/Sponsor communication</a:t>
            </a:r>
          </a:p>
          <a:p>
            <a:pPr>
              <a:buSzPct val="90000"/>
            </a:pPr>
            <a:r>
              <a:rPr lang="en-US" sz="2400" dirty="0">
                <a:latin typeface="Calibri" panose="020F0502020204030204" pitchFamily="34" charset="0"/>
                <a:cs typeface="Calibri" panose="020F0502020204030204" pitchFamily="34" charset="0"/>
              </a:rPr>
              <a:t>Novel excipient not adequately assessed</a:t>
            </a:r>
          </a:p>
          <a:p>
            <a:pPr>
              <a:buSzPct val="90000"/>
            </a:pPr>
            <a:r>
              <a:rPr lang="en-US" sz="2400" dirty="0">
                <a:latin typeface="Calibri" panose="020F0502020204030204" pitchFamily="34" charset="0"/>
                <a:cs typeface="Calibri" panose="020F0502020204030204" pitchFamily="34" charset="0"/>
              </a:rPr>
              <a:t>Lack of SEND data reports (when warranted)</a:t>
            </a:r>
          </a:p>
          <a:p>
            <a:pPr>
              <a:buSzPct val="90000"/>
            </a:pPr>
            <a:r>
              <a:rPr lang="en-US" sz="2400" dirty="0">
                <a:latin typeface="Calibri" panose="020F0502020204030204" pitchFamily="34" charset="0"/>
                <a:cs typeface="Calibri" panose="020F0502020204030204" pitchFamily="34" charset="0"/>
              </a:rPr>
              <a:t>Impurities not adequately assessed (</a:t>
            </a:r>
            <a:r>
              <a:rPr lang="en-US" sz="2400" dirty="0" err="1">
                <a:latin typeface="Calibri" panose="020F0502020204030204" pitchFamily="34" charset="0"/>
                <a:cs typeface="Calibri" panose="020F0502020204030204" pitchFamily="34" charset="0"/>
              </a:rPr>
              <a:t>esp</a:t>
            </a:r>
            <a:r>
              <a:rPr lang="en-US" sz="2400" dirty="0">
                <a:latin typeface="Calibri" panose="020F0502020204030204" pitchFamily="34" charset="0"/>
                <a:cs typeface="Calibri" panose="020F0502020204030204" pitchFamily="34" charset="0"/>
              </a:rPr>
              <a:t> potentially genotoxic impurities; more later)</a:t>
            </a:r>
          </a:p>
          <a:p>
            <a:pPr lvl="1">
              <a:buSzPct val="90000"/>
            </a:pPr>
            <a:endParaRPr lang="en-US" sz="2800" dirty="0"/>
          </a:p>
          <a:p>
            <a:pPr marL="0" indent="0">
              <a:buSzPct val="90000"/>
              <a:buNone/>
            </a:pPr>
            <a:endParaRPr lang="en-US" sz="3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74F539E-F06E-58D2-652C-E56D0AC391F8}"/>
              </a:ext>
            </a:extLst>
          </p:cNvPr>
          <p:cNvSpPr txBox="1"/>
          <p:nvPr/>
        </p:nvSpPr>
        <p:spPr>
          <a:xfrm>
            <a:off x="686584" y="157054"/>
            <a:ext cx="5713359" cy="646331"/>
          </a:xfrm>
          <a:prstGeom prst="rect">
            <a:avLst/>
          </a:prstGeom>
          <a:noFill/>
        </p:spPr>
        <p:txBody>
          <a:bodyPr wrap="none" rtlCol="0">
            <a:spAutoFit/>
          </a:bodyPr>
          <a:lstStyle/>
          <a:p>
            <a:r>
              <a:rPr lang="en-US" sz="3600" b="1" dirty="0">
                <a:latin typeface="Calibri" panose="020F0502020204030204" pitchFamily="34" charset="0"/>
                <a:cs typeface="Calibri" panose="020F0502020204030204" pitchFamily="34" charset="0"/>
              </a:rPr>
              <a:t>Some not uncommon pitfalls</a:t>
            </a:r>
          </a:p>
        </p:txBody>
      </p:sp>
    </p:spTree>
    <p:extLst>
      <p:ext uri="{BB962C8B-B14F-4D97-AF65-F5344CB8AC3E}">
        <p14:creationId xmlns:p14="http://schemas.microsoft.com/office/powerpoint/2010/main" val="3934395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BA42C-2EB7-8565-7C3E-F02D959388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4DADC-EE32-F2B7-79D2-2F0E9AC2FAB9}"/>
              </a:ext>
            </a:extLst>
          </p:cNvPr>
          <p:cNvSpPr>
            <a:spLocks noGrp="1"/>
          </p:cNvSpPr>
          <p:nvPr>
            <p:ph idx="1"/>
          </p:nvPr>
        </p:nvSpPr>
        <p:spPr>
          <a:xfrm>
            <a:off x="547127" y="1092203"/>
            <a:ext cx="11097746" cy="5062214"/>
          </a:xfrm>
        </p:spPr>
        <p:txBody>
          <a:bodyPr>
            <a:noAutofit/>
          </a:bodyPr>
          <a:lstStyle/>
          <a:p>
            <a:pPr marL="457200" lvl="1" indent="0">
              <a:buSzPct val="90000"/>
              <a:buNone/>
            </a:pPr>
            <a:endParaRPr lang="en-US" sz="2800" dirty="0"/>
          </a:p>
          <a:p>
            <a:pPr marL="0" indent="0">
              <a:buSzPct val="90000"/>
              <a:buNone/>
            </a:pPr>
            <a:endParaRPr lang="en-US" sz="3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BAEB315-CC1D-7235-F5E5-E64C79C97ABB}"/>
              </a:ext>
            </a:extLst>
          </p:cNvPr>
          <p:cNvSpPr txBox="1"/>
          <p:nvPr/>
        </p:nvSpPr>
        <p:spPr>
          <a:xfrm>
            <a:off x="4836627" y="3105834"/>
            <a:ext cx="2330703" cy="646331"/>
          </a:xfrm>
          <a:prstGeom prst="rect">
            <a:avLst/>
          </a:prstGeom>
          <a:noFill/>
        </p:spPr>
        <p:txBody>
          <a:bodyPr wrap="none" rtlCol="0">
            <a:spAutoFit/>
          </a:bodyPr>
          <a:lstStyle/>
          <a:p>
            <a:r>
              <a:rPr lang="en-US" sz="3600" b="1" dirty="0">
                <a:solidFill>
                  <a:schemeClr val="accent1"/>
                </a:solidFill>
                <a:latin typeface="Calibri" panose="020F0502020204030204" pitchFamily="34" charset="0"/>
                <a:cs typeface="Calibri" panose="020F0502020204030204" pitchFamily="34" charset="0"/>
              </a:rPr>
              <a:t>Questions?</a:t>
            </a:r>
          </a:p>
        </p:txBody>
      </p:sp>
    </p:spTree>
    <p:extLst>
      <p:ext uri="{BB962C8B-B14F-4D97-AF65-F5344CB8AC3E}">
        <p14:creationId xmlns:p14="http://schemas.microsoft.com/office/powerpoint/2010/main" val="2418904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3AB61-7204-0E70-AF3D-0F8F9FD5C2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80348-B360-DA9C-B2AC-450FA7BFECFB}"/>
              </a:ext>
            </a:extLst>
          </p:cNvPr>
          <p:cNvSpPr>
            <a:spLocks noGrp="1"/>
          </p:cNvSpPr>
          <p:nvPr>
            <p:ph idx="1"/>
          </p:nvPr>
        </p:nvSpPr>
        <p:spPr>
          <a:xfrm>
            <a:off x="991609" y="1762158"/>
            <a:ext cx="10478732" cy="3657335"/>
          </a:xfrm>
        </p:spPr>
        <p:txBody>
          <a:bodyPr>
            <a:noAutofit/>
          </a:bodyPr>
          <a:lstStyle/>
          <a:p>
            <a:pPr>
              <a:buSzPct val="90000"/>
            </a:pPr>
            <a:r>
              <a:rPr lang="en-US" sz="3200" dirty="0">
                <a:solidFill>
                  <a:srgbClr val="FF0000"/>
                </a:solidFill>
                <a:latin typeface="Calibri" panose="020F0502020204030204" pitchFamily="34" charset="0"/>
                <a:cs typeface="Calibri" panose="020F0502020204030204" pitchFamily="34" charset="0"/>
              </a:rPr>
              <a:t>ICH Q3A</a:t>
            </a:r>
          </a:p>
          <a:p>
            <a:pPr>
              <a:buSzPct val="90000"/>
            </a:pPr>
            <a:r>
              <a:rPr lang="en-US" sz="3200" dirty="0">
                <a:solidFill>
                  <a:srgbClr val="FF0000"/>
                </a:solidFill>
                <a:latin typeface="Calibri" panose="020F0502020204030204" pitchFamily="34" charset="0"/>
                <a:cs typeface="Calibri" panose="020F0502020204030204" pitchFamily="34" charset="0"/>
              </a:rPr>
              <a:t>ICH Q3B</a:t>
            </a:r>
          </a:p>
          <a:p>
            <a:pPr>
              <a:buSzPct val="90000"/>
            </a:pPr>
            <a:r>
              <a:rPr lang="en-US" sz="3200" dirty="0">
                <a:latin typeface="Calibri" panose="020F0502020204030204" pitchFamily="34" charset="0"/>
                <a:cs typeface="Calibri" panose="020F0502020204030204" pitchFamily="34" charset="0"/>
              </a:rPr>
              <a:t>ICH M7(R2)</a:t>
            </a:r>
          </a:p>
          <a:p>
            <a:pPr lvl="1">
              <a:buSzPct val="90000"/>
            </a:pPr>
            <a:r>
              <a:rPr lang="en-US" sz="3200" dirty="0">
                <a:latin typeface="Calibri" panose="020F0502020204030204" pitchFamily="34" charset="0"/>
                <a:cs typeface="Calibri" panose="020F0502020204030204" pitchFamily="34" charset="0"/>
              </a:rPr>
              <a:t>Nitrosamines</a:t>
            </a:r>
          </a:p>
          <a:p>
            <a:pPr>
              <a:buSzPct val="90000"/>
            </a:pPr>
            <a:r>
              <a:rPr lang="en-US" sz="3200" dirty="0">
                <a:latin typeface="Calibri" panose="020F0502020204030204" pitchFamily="34" charset="0"/>
                <a:cs typeface="Calibri" panose="020F0502020204030204" pitchFamily="34" charset="0"/>
              </a:rPr>
              <a:t>ICH Q3C(R9)</a:t>
            </a:r>
          </a:p>
          <a:p>
            <a:pPr>
              <a:buSzPct val="90000"/>
            </a:pPr>
            <a:r>
              <a:rPr lang="en-US" sz="3200" dirty="0">
                <a:latin typeface="Calibri" panose="020F0502020204030204" pitchFamily="34" charset="0"/>
                <a:cs typeface="Calibri" panose="020F0502020204030204" pitchFamily="34" charset="0"/>
              </a:rPr>
              <a:t>ICH Q3D(R1)</a:t>
            </a:r>
          </a:p>
          <a:p>
            <a:pPr>
              <a:buSzPct val="90000"/>
            </a:pPr>
            <a:endParaRPr lang="en-US" sz="3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D563BC0-A0E0-F88C-300A-3CC46D07014E}"/>
              </a:ext>
            </a:extLst>
          </p:cNvPr>
          <p:cNvSpPr txBox="1"/>
          <p:nvPr/>
        </p:nvSpPr>
        <p:spPr>
          <a:xfrm>
            <a:off x="991609" y="792176"/>
            <a:ext cx="5961568" cy="646331"/>
          </a:xfrm>
          <a:prstGeom prst="rect">
            <a:avLst/>
          </a:prstGeom>
          <a:noFill/>
        </p:spPr>
        <p:txBody>
          <a:bodyPr wrap="none" rtlCol="0">
            <a:spAutoFit/>
          </a:bodyPr>
          <a:lstStyle/>
          <a:p>
            <a:r>
              <a:rPr lang="en-US" sz="3600" b="1" dirty="0">
                <a:latin typeface="Calibri" panose="020F0502020204030204" pitchFamily="34" charset="0"/>
                <a:cs typeface="Calibri" panose="020F0502020204030204" pitchFamily="34" charset="0"/>
              </a:rPr>
              <a:t>1b) Impurity Evaluation Topics</a:t>
            </a:r>
          </a:p>
        </p:txBody>
      </p:sp>
      <p:pic>
        <p:nvPicPr>
          <p:cNvPr id="2" name="Picture 1">
            <a:extLst>
              <a:ext uri="{FF2B5EF4-FFF2-40B4-BE49-F238E27FC236}">
                <a16:creationId xmlns:a16="http://schemas.microsoft.com/office/drawing/2014/main" id="{81080E38-067C-ACA2-270C-C8A6954F291B}"/>
              </a:ext>
            </a:extLst>
          </p:cNvPr>
          <p:cNvPicPr>
            <a:picLocks noChangeAspect="1"/>
          </p:cNvPicPr>
          <p:nvPr/>
        </p:nvPicPr>
        <p:blipFill>
          <a:blip r:embed="rId2"/>
          <a:stretch>
            <a:fillRect/>
          </a:stretch>
        </p:blipFill>
        <p:spPr>
          <a:xfrm>
            <a:off x="6096000" y="2523458"/>
            <a:ext cx="3676650" cy="1247775"/>
          </a:xfrm>
          <a:prstGeom prst="rect">
            <a:avLst/>
          </a:prstGeom>
        </p:spPr>
      </p:pic>
    </p:spTree>
    <p:extLst>
      <p:ext uri="{BB962C8B-B14F-4D97-AF65-F5344CB8AC3E}">
        <p14:creationId xmlns:p14="http://schemas.microsoft.com/office/powerpoint/2010/main" val="98852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2" y="89941"/>
            <a:ext cx="10790835" cy="1037819"/>
          </a:xfrm>
        </p:spPr>
        <p:txBody>
          <a:bodyPr>
            <a:noAutofit/>
          </a:bodyPr>
          <a:lstStyle/>
          <a:p>
            <a:r>
              <a:rPr lang="en-US" altLang="en-US" sz="3600" b="1" dirty="0">
                <a:latin typeface="Calibri" panose="020F0502020204030204" pitchFamily="34" charset="0"/>
                <a:cs typeface="Calibri" panose="020F0502020204030204" pitchFamily="34" charset="0"/>
              </a:rPr>
              <a:t>Relevant ICH Guidances/FDA MAPP</a:t>
            </a:r>
            <a:endParaRPr lang="en-US" sz="36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31802" y="1127760"/>
            <a:ext cx="11345471" cy="4902650"/>
          </a:xfrm>
        </p:spPr>
        <p:txBody>
          <a:bodyPr>
            <a:noAutofit/>
          </a:bodyPr>
          <a:lstStyle/>
          <a:p>
            <a:pPr>
              <a:defRPr/>
            </a:pPr>
            <a:r>
              <a:rPr lang="en-US" dirty="0">
                <a:latin typeface="Calibri" panose="020F0502020204030204" pitchFamily="34" charset="0"/>
                <a:cs typeface="Calibri" panose="020F0502020204030204" pitchFamily="34" charset="0"/>
              </a:rPr>
              <a:t>ICH Guidance Q3A(R2)/B(R2) - Impurities in Drug Substances/Products</a:t>
            </a:r>
          </a:p>
          <a:p>
            <a:pPr lvl="1">
              <a:defRPr/>
            </a:pPr>
            <a:r>
              <a:rPr lang="en-US" sz="2800" dirty="0"/>
              <a:t>Late stage/marketing applications</a:t>
            </a:r>
          </a:p>
          <a:p>
            <a:pPr lvl="1">
              <a:defRPr/>
            </a:pPr>
            <a:r>
              <a:rPr lang="en-US" sz="2667" dirty="0"/>
              <a:t>Qualification thresholds (QTs)</a:t>
            </a:r>
          </a:p>
          <a:p>
            <a:pPr lvl="1">
              <a:defRPr/>
            </a:pPr>
            <a:r>
              <a:rPr lang="en-US" sz="2667" u="sng" dirty="0"/>
              <a:t>General</a:t>
            </a:r>
            <a:r>
              <a:rPr lang="en-US" sz="2667" dirty="0"/>
              <a:t> guidance of how to qualify above the QT</a:t>
            </a:r>
            <a:endParaRPr lang="en-US" sz="3733" dirty="0"/>
          </a:p>
          <a:p>
            <a:pPr marL="0" indent="0">
              <a:buNone/>
              <a:defRPr/>
            </a:pPr>
            <a:endParaRPr lang="en-US" dirty="0">
              <a:latin typeface="Calibri" panose="020F0502020204030204" pitchFamily="34" charset="0"/>
              <a:cs typeface="Calibri" panose="020F0502020204030204" pitchFamily="34" charset="0"/>
            </a:endParaRPr>
          </a:p>
          <a:p>
            <a:pPr>
              <a:defRPr/>
            </a:pPr>
            <a:r>
              <a:rPr lang="en-US" dirty="0">
                <a:latin typeface="Calibri" panose="020F0502020204030204" pitchFamily="34" charset="0"/>
                <a:cs typeface="Calibri" panose="020F0502020204030204" pitchFamily="34" charset="0"/>
              </a:rPr>
              <a:t>ICH M3(R2) – Nonclinical Safety Studies for the Conduct of Human Clinical Trials and Marketing Authorizations of Pharmaceuticals</a:t>
            </a:r>
          </a:p>
          <a:p>
            <a:pPr>
              <a:defRPr/>
            </a:pPr>
            <a:endParaRPr lang="en-US" dirty="0">
              <a:latin typeface="Calibri" panose="020F0502020204030204" pitchFamily="34" charset="0"/>
              <a:cs typeface="Calibri" panose="020F0502020204030204" pitchFamily="34" charset="0"/>
            </a:endParaRPr>
          </a:p>
          <a:p>
            <a:pPr>
              <a:defRPr/>
            </a:pPr>
            <a:r>
              <a:rPr lang="en-US" dirty="0">
                <a:latin typeface="Calibri" panose="020F0502020204030204" pitchFamily="34" charset="0"/>
                <a:cs typeface="Calibri" panose="020F0502020204030204" pitchFamily="34" charset="0"/>
              </a:rPr>
              <a:t>FDA MAPP 5017.2 Rev 1 (2018) – Establishing Impurity Acceptance Criteria as Part of Specifications for NDAs, ANDAs, and BLAs Based on Clinical Relevance</a:t>
            </a:r>
          </a:p>
        </p:txBody>
      </p:sp>
    </p:spTree>
    <p:extLst>
      <p:ext uri="{BB962C8B-B14F-4D97-AF65-F5344CB8AC3E}">
        <p14:creationId xmlns:p14="http://schemas.microsoft.com/office/powerpoint/2010/main" val="3446108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52" y="210330"/>
            <a:ext cx="10992785" cy="1305955"/>
          </a:xfrm>
        </p:spPr>
        <p:txBody>
          <a:bodyPr>
            <a:noAutofit/>
          </a:bodyPr>
          <a:lstStyle/>
          <a:p>
            <a:r>
              <a:rPr lang="en-US" sz="3600" b="1" dirty="0">
                <a:latin typeface="Calibri" panose="020F0502020204030204" pitchFamily="34" charset="0"/>
                <a:cs typeface="Calibri" panose="020F0502020204030204" pitchFamily="34" charset="0"/>
              </a:rPr>
              <a:t>ICH Guidance Q3A(R2)/B(R2) – </a:t>
            </a:r>
            <a:br>
              <a:rPr lang="en-US" sz="3600" b="1" dirty="0">
                <a:latin typeface="Calibri" panose="020F0502020204030204" pitchFamily="34" charset="0"/>
                <a:cs typeface="Calibri" panose="020F0502020204030204" pitchFamily="34" charset="0"/>
              </a:rPr>
            </a:br>
            <a:r>
              <a:rPr lang="en-US" sz="3600" b="1" dirty="0">
                <a:latin typeface="Calibri" panose="020F0502020204030204" pitchFamily="34" charset="0"/>
                <a:cs typeface="Calibri" panose="020F0502020204030204" pitchFamily="34" charset="0"/>
              </a:rPr>
              <a:t>Impurities in Drug Substances/Products</a:t>
            </a:r>
          </a:p>
        </p:txBody>
      </p:sp>
      <p:sp>
        <p:nvSpPr>
          <p:cNvPr id="3" name="Content Placeholder 2"/>
          <p:cNvSpPr>
            <a:spLocks noGrp="1"/>
          </p:cNvSpPr>
          <p:nvPr>
            <p:ph idx="1"/>
          </p:nvPr>
        </p:nvSpPr>
        <p:spPr>
          <a:xfrm>
            <a:off x="377117" y="1666756"/>
            <a:ext cx="11437765" cy="4768768"/>
          </a:xfrm>
        </p:spPr>
        <p:txBody>
          <a:bodyPr>
            <a:noAutofit/>
          </a:bodyPr>
          <a:lstStyle/>
          <a:p>
            <a:pPr>
              <a:defRPr/>
            </a:pPr>
            <a:r>
              <a:rPr lang="en-US" dirty="0">
                <a:latin typeface="Calibri" panose="020F0502020204030204" pitchFamily="34" charset="0"/>
                <a:cs typeface="Calibri" panose="020F0502020204030204" pitchFamily="34" charset="0"/>
              </a:rPr>
              <a:t>ICH Q3A/B: </a:t>
            </a:r>
            <a:r>
              <a:rPr lang="en-US" dirty="0" err="1">
                <a:latin typeface="Calibri" panose="020F0502020204030204" pitchFamily="34" charset="0"/>
                <a:cs typeface="Calibri" panose="020F0502020204030204" pitchFamily="34" charset="0"/>
              </a:rPr>
              <a:t>Guidances</a:t>
            </a:r>
            <a:r>
              <a:rPr lang="en-US" dirty="0">
                <a:latin typeface="Calibri" panose="020F0502020204030204" pitchFamily="34" charset="0"/>
                <a:cs typeface="Calibri" panose="020F0502020204030204" pitchFamily="34" charset="0"/>
              </a:rPr>
              <a:t> do not apply to new DS or DP used during the clinical research stages of development</a:t>
            </a:r>
          </a:p>
          <a:p>
            <a:pPr>
              <a:defRPr/>
            </a:pPr>
            <a:r>
              <a:rPr lang="en-US" dirty="0">
                <a:latin typeface="Calibri" panose="020F0502020204030204" pitchFamily="34" charset="0"/>
                <a:cs typeface="Calibri" panose="020F0502020204030204" pitchFamily="34" charset="0"/>
              </a:rPr>
              <a:t>In later stages of development, the QTs may be useful in evaluating new degradation products observed in new drug product batches prepared by proposed commercial process</a:t>
            </a:r>
          </a:p>
          <a:p>
            <a:pPr>
              <a:defRPr/>
            </a:pPr>
            <a:endParaRPr lang="en-US" dirty="0">
              <a:latin typeface="Calibri" panose="020F0502020204030204" pitchFamily="34" charset="0"/>
              <a:cs typeface="Calibri" panose="020F0502020204030204" pitchFamily="34" charset="0"/>
            </a:endParaRPr>
          </a:p>
          <a:p>
            <a:pPr>
              <a:defRPr/>
            </a:pPr>
            <a:r>
              <a:rPr lang="en-US" dirty="0">
                <a:latin typeface="Calibri" panose="020F0502020204030204" pitchFamily="34" charset="0"/>
                <a:cs typeface="Calibri" panose="020F0502020204030204" pitchFamily="34" charset="0"/>
              </a:rPr>
              <a:t>However, ICH M3(R2)states: </a:t>
            </a:r>
          </a:p>
          <a:p>
            <a:pPr lvl="1">
              <a:defRPr/>
            </a:pPr>
            <a:r>
              <a:rPr lang="en-US" dirty="0">
                <a:latin typeface="Calibri" panose="020F0502020204030204" pitchFamily="34" charset="0"/>
                <a:cs typeface="Calibri" panose="020F0502020204030204" pitchFamily="34" charset="0"/>
              </a:rPr>
              <a:t>If specific studies are warranted to qualify an impurity or degradant, they are generally not warranted before Phase 3 unless changes result in a significant new impurity profile</a:t>
            </a:r>
          </a:p>
          <a:p>
            <a:pPr lvl="1">
              <a:defRPr/>
            </a:pPr>
            <a:r>
              <a:rPr lang="en-US" dirty="0">
                <a:latin typeface="Calibri" panose="020F0502020204030204" pitchFamily="34" charset="0"/>
                <a:cs typeface="Calibri" panose="020F0502020204030204" pitchFamily="34" charset="0"/>
              </a:rPr>
              <a:t>Appropriate qualification studies can be warranted to support phase 2 or later</a:t>
            </a:r>
          </a:p>
        </p:txBody>
      </p:sp>
    </p:spTree>
    <p:extLst>
      <p:ext uri="{BB962C8B-B14F-4D97-AF65-F5344CB8AC3E}">
        <p14:creationId xmlns:p14="http://schemas.microsoft.com/office/powerpoint/2010/main" val="213490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52" y="311615"/>
            <a:ext cx="10992785" cy="938451"/>
          </a:xfrm>
        </p:spPr>
        <p:txBody>
          <a:bodyPr>
            <a:noAutofit/>
          </a:bodyPr>
          <a:lstStyle/>
          <a:p>
            <a:r>
              <a:rPr lang="en-US" sz="3600" b="1" dirty="0">
                <a:latin typeface="Calibri" panose="020F0502020204030204" pitchFamily="34" charset="0"/>
                <a:cs typeface="Calibri" panose="020F0502020204030204" pitchFamily="34" charset="0"/>
              </a:rPr>
              <a:t>ICH Guidance Q3A(R2)/B(R2) – Safety Qualification</a:t>
            </a:r>
          </a:p>
        </p:txBody>
      </p:sp>
      <p:sp>
        <p:nvSpPr>
          <p:cNvPr id="3" name="Content Placeholder 2"/>
          <p:cNvSpPr>
            <a:spLocks noGrp="1"/>
          </p:cNvSpPr>
          <p:nvPr>
            <p:ph idx="1"/>
          </p:nvPr>
        </p:nvSpPr>
        <p:spPr>
          <a:xfrm>
            <a:off x="431802" y="2029928"/>
            <a:ext cx="11345471" cy="4227289"/>
          </a:xfrm>
        </p:spPr>
        <p:txBody>
          <a:bodyPr>
            <a:noAutofit/>
          </a:bodyPr>
          <a:lstStyle/>
          <a:p>
            <a:pPr marL="0" indent="0">
              <a:buNone/>
              <a:defRPr/>
            </a:pPr>
            <a:r>
              <a:rPr lang="en-US" b="1" dirty="0">
                <a:latin typeface="Calibri" panose="020F0502020204030204" pitchFamily="34" charset="0"/>
                <a:cs typeface="Calibri" panose="020F0502020204030204" pitchFamily="34" charset="0"/>
              </a:rPr>
              <a:t>Qualification: </a:t>
            </a:r>
            <a:r>
              <a:rPr lang="en-US" dirty="0">
                <a:latin typeface="Calibri" panose="020F0502020204030204" pitchFamily="34" charset="0"/>
                <a:cs typeface="Calibri" panose="020F0502020204030204" pitchFamily="34" charset="0"/>
              </a:rPr>
              <a:t>the process of acquiring and evaluating data that establishes the biological safety of an individual degradation product or profile at the levels specified</a:t>
            </a:r>
          </a:p>
          <a:p>
            <a:pPr marL="0" indent="0">
              <a:buNone/>
              <a:defRPr/>
            </a:pPr>
            <a:endParaRPr lang="en-US" dirty="0">
              <a:latin typeface="Calibri" panose="020F0502020204030204" pitchFamily="34" charset="0"/>
              <a:cs typeface="Calibri" panose="020F0502020204030204" pitchFamily="34" charset="0"/>
            </a:endParaRPr>
          </a:p>
          <a:p>
            <a:pPr marL="0" indent="0">
              <a:buNone/>
              <a:defRPr/>
            </a:pPr>
            <a:r>
              <a:rPr lang="en-US" dirty="0">
                <a:latin typeface="Calibri" panose="020F0502020204030204" pitchFamily="34" charset="0"/>
                <a:cs typeface="Calibri" panose="020F0502020204030204" pitchFamily="34" charset="0"/>
              </a:rPr>
              <a:t>The level of any degradation product present in a new DS/DP that has been adequately tested in safety and/or clinical studies would be considered qualified</a:t>
            </a:r>
          </a:p>
        </p:txBody>
      </p:sp>
    </p:spTree>
    <p:extLst>
      <p:ext uri="{BB962C8B-B14F-4D97-AF65-F5344CB8AC3E}">
        <p14:creationId xmlns:p14="http://schemas.microsoft.com/office/powerpoint/2010/main" val="818768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52" y="403219"/>
            <a:ext cx="10992785" cy="1305955"/>
          </a:xfrm>
        </p:spPr>
        <p:txBody>
          <a:bodyPr>
            <a:noAutofit/>
          </a:bodyPr>
          <a:lstStyle/>
          <a:p>
            <a:r>
              <a:rPr lang="en-US" sz="3600" b="1" dirty="0">
                <a:latin typeface="Calibri" panose="020F0502020204030204" pitchFamily="34" charset="0"/>
                <a:cs typeface="Calibri" panose="020F0502020204030204" pitchFamily="34" charset="0"/>
              </a:rPr>
              <a:t>ICH Guidance Q3A(R2)/B(R2) – Thresholds</a:t>
            </a:r>
          </a:p>
        </p:txBody>
      </p:sp>
      <p:sp>
        <p:nvSpPr>
          <p:cNvPr id="3" name="Content Placeholder 2"/>
          <p:cNvSpPr>
            <a:spLocks noGrp="1"/>
          </p:cNvSpPr>
          <p:nvPr>
            <p:ph idx="1"/>
          </p:nvPr>
        </p:nvSpPr>
        <p:spPr>
          <a:xfrm>
            <a:off x="423264" y="1546152"/>
            <a:ext cx="11345471" cy="4535356"/>
          </a:xfrm>
        </p:spPr>
        <p:txBody>
          <a:bodyPr>
            <a:noAutofit/>
          </a:bodyPr>
          <a:lstStyle/>
          <a:p>
            <a:pPr marL="0" indent="0">
              <a:buNone/>
              <a:defRPr/>
            </a:pPr>
            <a:r>
              <a:rPr lang="en-US" sz="3200" dirty="0">
                <a:latin typeface="Calibri" panose="020F0502020204030204" pitchFamily="34" charset="0"/>
                <a:cs typeface="Calibri" panose="020F0502020204030204" pitchFamily="34" charset="0"/>
              </a:rPr>
              <a:t>ICH Q3A (R2): drug substances</a:t>
            </a:r>
          </a:p>
          <a:p>
            <a:pPr marL="0" indent="0">
              <a:buNone/>
              <a:defRPr/>
            </a:pPr>
            <a:endParaRPr lang="en-US" sz="2667" dirty="0"/>
          </a:p>
        </p:txBody>
      </p:sp>
      <p:pic>
        <p:nvPicPr>
          <p:cNvPr id="5" name="Picture 4">
            <a:extLst>
              <a:ext uri="{FF2B5EF4-FFF2-40B4-BE49-F238E27FC236}">
                <a16:creationId xmlns:a16="http://schemas.microsoft.com/office/drawing/2014/main" id="{A5F735FD-BDA6-4B0C-96A0-40F178AB6A3D}"/>
              </a:ext>
            </a:extLst>
          </p:cNvPr>
          <p:cNvPicPr>
            <a:picLocks noChangeAspect="1"/>
          </p:cNvPicPr>
          <p:nvPr/>
        </p:nvPicPr>
        <p:blipFill>
          <a:blip r:embed="rId2"/>
          <a:stretch>
            <a:fillRect/>
          </a:stretch>
        </p:blipFill>
        <p:spPr>
          <a:xfrm>
            <a:off x="2157198" y="2152992"/>
            <a:ext cx="7877601" cy="3697023"/>
          </a:xfrm>
          <a:prstGeom prst="rect">
            <a:avLst/>
          </a:prstGeom>
        </p:spPr>
      </p:pic>
    </p:spTree>
    <p:extLst>
      <p:ext uri="{BB962C8B-B14F-4D97-AF65-F5344CB8AC3E}">
        <p14:creationId xmlns:p14="http://schemas.microsoft.com/office/powerpoint/2010/main" val="69403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52" y="275921"/>
            <a:ext cx="10992785" cy="1305955"/>
          </a:xfrm>
        </p:spPr>
        <p:txBody>
          <a:bodyPr>
            <a:noAutofit/>
          </a:bodyPr>
          <a:lstStyle/>
          <a:p>
            <a:r>
              <a:rPr lang="en-US" sz="3600" b="1" dirty="0">
                <a:latin typeface="Calibri" panose="020F0502020204030204" pitchFamily="34" charset="0"/>
                <a:cs typeface="Calibri" panose="020F0502020204030204" pitchFamily="34" charset="0"/>
              </a:rPr>
              <a:t>ICH Guidance Q3A(R2)/B(R2) – Thresholds</a:t>
            </a:r>
          </a:p>
        </p:txBody>
      </p:sp>
      <p:sp>
        <p:nvSpPr>
          <p:cNvPr id="3" name="Content Placeholder 2"/>
          <p:cNvSpPr>
            <a:spLocks noGrp="1"/>
          </p:cNvSpPr>
          <p:nvPr>
            <p:ph idx="1"/>
          </p:nvPr>
        </p:nvSpPr>
        <p:spPr>
          <a:xfrm>
            <a:off x="431802" y="1853992"/>
            <a:ext cx="11345471" cy="4500833"/>
          </a:xfrm>
        </p:spPr>
        <p:txBody>
          <a:bodyPr>
            <a:noAutofit/>
          </a:bodyPr>
          <a:lstStyle/>
          <a:p>
            <a:pPr marL="0" indent="0">
              <a:buNone/>
              <a:defRPr/>
            </a:pPr>
            <a:r>
              <a:rPr lang="en-US" sz="3200" dirty="0">
                <a:latin typeface="Calibri" panose="020F0502020204030204" pitchFamily="34" charset="0"/>
                <a:cs typeface="Calibri" panose="020F0502020204030204" pitchFamily="34" charset="0"/>
              </a:rPr>
              <a:t>ICH Q3B (R2): drug products</a:t>
            </a:r>
          </a:p>
          <a:p>
            <a:pPr marL="0" indent="0">
              <a:buNone/>
              <a:defRPr/>
            </a:pPr>
            <a:endParaRPr lang="en-US" sz="2667" dirty="0"/>
          </a:p>
        </p:txBody>
      </p:sp>
      <p:pic>
        <p:nvPicPr>
          <p:cNvPr id="6" name="Picture 5">
            <a:extLst>
              <a:ext uri="{FF2B5EF4-FFF2-40B4-BE49-F238E27FC236}">
                <a16:creationId xmlns:a16="http://schemas.microsoft.com/office/drawing/2014/main" id="{45867E3B-E66C-4AEE-AE87-571BBEDFC8A6}"/>
              </a:ext>
            </a:extLst>
          </p:cNvPr>
          <p:cNvPicPr>
            <a:picLocks noChangeAspect="1"/>
          </p:cNvPicPr>
          <p:nvPr/>
        </p:nvPicPr>
        <p:blipFill>
          <a:blip r:embed="rId2"/>
          <a:stretch>
            <a:fillRect/>
          </a:stretch>
        </p:blipFill>
        <p:spPr>
          <a:xfrm>
            <a:off x="1921346" y="2587052"/>
            <a:ext cx="7774401" cy="3448267"/>
          </a:xfrm>
          <a:prstGeom prst="rect">
            <a:avLst/>
          </a:prstGeom>
        </p:spPr>
      </p:pic>
    </p:spTree>
    <p:extLst>
      <p:ext uri="{BB962C8B-B14F-4D97-AF65-F5344CB8AC3E}">
        <p14:creationId xmlns:p14="http://schemas.microsoft.com/office/powerpoint/2010/main" val="3210568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576" y="456878"/>
            <a:ext cx="10992785" cy="986505"/>
          </a:xfrm>
        </p:spPr>
        <p:txBody>
          <a:bodyPr>
            <a:noAutofit/>
          </a:bodyPr>
          <a:lstStyle/>
          <a:p>
            <a:r>
              <a:rPr lang="en-US" sz="3600" b="1" dirty="0">
                <a:latin typeface="Calibri" panose="020F0502020204030204" pitchFamily="34" charset="0"/>
                <a:cs typeface="Calibri" panose="020F0502020204030204" pitchFamily="34" charset="0"/>
              </a:rPr>
              <a:t>ICH Guidance Q3A(R2)/B(R2) – Safety Qualification</a:t>
            </a:r>
          </a:p>
        </p:txBody>
      </p:sp>
      <p:sp>
        <p:nvSpPr>
          <p:cNvPr id="3" name="Content Placeholder 2"/>
          <p:cNvSpPr>
            <a:spLocks noGrp="1"/>
          </p:cNvSpPr>
          <p:nvPr>
            <p:ph idx="1"/>
          </p:nvPr>
        </p:nvSpPr>
        <p:spPr>
          <a:xfrm>
            <a:off x="431802" y="1733077"/>
            <a:ext cx="11345471" cy="4621747"/>
          </a:xfrm>
        </p:spPr>
        <p:txBody>
          <a:bodyPr>
            <a:noAutofit/>
          </a:bodyPr>
          <a:lstStyle/>
          <a:p>
            <a:pPr>
              <a:defRPr/>
            </a:pPr>
            <a:r>
              <a:rPr lang="en-US" b="1" dirty="0">
                <a:latin typeface="Calibri" panose="020F0502020204030204" pitchFamily="34" charset="0"/>
                <a:cs typeface="Calibri" panose="020F0502020204030204" pitchFamily="34" charset="0"/>
              </a:rPr>
              <a:t>Higher or lower levels may be appropriate based on scientific rationale and level of concern</a:t>
            </a:r>
            <a:r>
              <a:rPr lang="en-US" dirty="0">
                <a:latin typeface="Calibri" panose="020F0502020204030204" pitchFamily="34" charset="0"/>
                <a:cs typeface="Calibri" panose="020F0502020204030204" pitchFamily="34" charset="0"/>
              </a:rPr>
              <a:t>, including drug class effects and clinical experience</a:t>
            </a:r>
          </a:p>
          <a:p>
            <a:pPr lvl="1">
              <a:defRPr/>
            </a:pPr>
            <a:r>
              <a:rPr lang="en-US" dirty="0">
                <a:solidFill>
                  <a:srgbClr val="FF0000"/>
                </a:solidFill>
                <a:latin typeface="Calibri" panose="020F0502020204030204" pitchFamily="34" charset="0"/>
                <a:cs typeface="Calibri" panose="020F0502020204030204" pitchFamily="34" charset="0"/>
              </a:rPr>
              <a:t>e.g., mutagenic impurities (discussed later under ICH M7)</a:t>
            </a:r>
          </a:p>
          <a:p>
            <a:pPr marL="0" indent="0">
              <a:buNone/>
              <a:defRPr/>
            </a:pPr>
            <a:endParaRPr lang="en-US" sz="2667" dirty="0">
              <a:latin typeface="Calibri" panose="020F0502020204030204" pitchFamily="34" charset="0"/>
              <a:cs typeface="Calibri" panose="020F0502020204030204" pitchFamily="34" charset="0"/>
            </a:endParaRPr>
          </a:p>
          <a:p>
            <a:pPr>
              <a:defRPr/>
            </a:pPr>
            <a:r>
              <a:rPr lang="en-US" dirty="0">
                <a:latin typeface="Calibri" panose="020F0502020204030204" pitchFamily="34" charset="0"/>
                <a:cs typeface="Calibri" panose="020F0502020204030204" pitchFamily="34" charset="0"/>
              </a:rPr>
              <a:t>When QTs are exceeded, </a:t>
            </a:r>
          </a:p>
          <a:p>
            <a:pPr lvl="1">
              <a:defRPr/>
            </a:pPr>
            <a:r>
              <a:rPr lang="en-US" dirty="0">
                <a:latin typeface="Calibri" panose="020F0502020204030204" pitchFamily="34" charset="0"/>
                <a:cs typeface="Calibri" panose="020F0502020204030204" pitchFamily="34" charset="0"/>
              </a:rPr>
              <a:t>reduce level to less than or equal to QT</a:t>
            </a:r>
          </a:p>
          <a:p>
            <a:pPr lvl="1">
              <a:defRPr/>
            </a:pPr>
            <a:r>
              <a:rPr lang="en-US" dirty="0">
                <a:latin typeface="Calibri" panose="020F0502020204030204" pitchFamily="34" charset="0"/>
                <a:cs typeface="Calibri" panose="020F0502020204030204" pitchFamily="34" charset="0"/>
              </a:rPr>
              <a:t>support based on adequate data in the scientific literature</a:t>
            </a:r>
          </a:p>
          <a:p>
            <a:pPr lvl="1">
              <a:defRPr/>
            </a:pPr>
            <a:r>
              <a:rPr lang="en-US" dirty="0">
                <a:latin typeface="Calibri" panose="020F0502020204030204" pitchFamily="34" charset="0"/>
                <a:cs typeface="Calibri" panose="020F0502020204030204" pitchFamily="34" charset="0"/>
              </a:rPr>
              <a:t>consider conducting additional safety testing</a:t>
            </a:r>
          </a:p>
        </p:txBody>
      </p:sp>
      <p:sp>
        <p:nvSpPr>
          <p:cNvPr id="4" name="Footer Placeholder 3"/>
          <p:cNvSpPr>
            <a:spLocks noGrp="1"/>
          </p:cNvSpPr>
          <p:nvPr>
            <p:ph type="ftr" sz="quarter" idx="11"/>
          </p:nvPr>
        </p:nvSpPr>
        <p:spPr/>
        <p:txBody>
          <a:bodyPr/>
          <a:lstStyle/>
          <a:p>
            <a:pPr algn="l"/>
            <a:r>
              <a:rPr lang="en-US" b="1" dirty="0">
                <a:solidFill>
                  <a:schemeClr val="tx2">
                    <a:lumMod val="60000"/>
                    <a:lumOff val="40000"/>
                  </a:schemeClr>
                </a:solidFill>
                <a:latin typeface="Helvetica"/>
                <a:cs typeface="Helvetica"/>
              </a:rPr>
              <a:t>www.fda.gov</a:t>
            </a:r>
          </a:p>
        </p:txBody>
      </p:sp>
    </p:spTree>
    <p:extLst>
      <p:ext uri="{BB962C8B-B14F-4D97-AF65-F5344CB8AC3E}">
        <p14:creationId xmlns:p14="http://schemas.microsoft.com/office/powerpoint/2010/main" val="2839674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607" y="284217"/>
            <a:ext cx="10992785" cy="969405"/>
          </a:xfrm>
        </p:spPr>
        <p:txBody>
          <a:bodyPr>
            <a:noAutofit/>
          </a:bodyPr>
          <a:lstStyle/>
          <a:p>
            <a:r>
              <a:rPr lang="en-US" sz="3600" b="1" dirty="0">
                <a:latin typeface="Calibri" panose="020F0502020204030204" pitchFamily="34" charset="0"/>
                <a:cs typeface="Calibri" panose="020F0502020204030204" pitchFamily="34" charset="0"/>
              </a:rPr>
              <a:t>ICH Guidance Q3A(R2)/B(R2) – Qualification</a:t>
            </a:r>
          </a:p>
        </p:txBody>
      </p:sp>
      <p:pic>
        <p:nvPicPr>
          <p:cNvPr id="5" name="Picture 4">
            <a:extLst>
              <a:ext uri="{FF2B5EF4-FFF2-40B4-BE49-F238E27FC236}">
                <a16:creationId xmlns:a16="http://schemas.microsoft.com/office/drawing/2014/main" id="{41300189-F8BD-4F80-9771-5D687A536792}"/>
              </a:ext>
            </a:extLst>
          </p:cNvPr>
          <p:cNvPicPr>
            <a:picLocks noChangeAspect="1"/>
          </p:cNvPicPr>
          <p:nvPr/>
        </p:nvPicPr>
        <p:blipFill>
          <a:blip r:embed="rId2"/>
          <a:stretch>
            <a:fillRect/>
          </a:stretch>
        </p:blipFill>
        <p:spPr>
          <a:xfrm>
            <a:off x="1968000" y="1299921"/>
            <a:ext cx="8256001" cy="5180979"/>
          </a:xfrm>
          <a:prstGeom prst="rect">
            <a:avLst/>
          </a:prstGeom>
        </p:spPr>
      </p:pic>
      <p:sp>
        <p:nvSpPr>
          <p:cNvPr id="6" name="TextBox 5">
            <a:extLst>
              <a:ext uri="{FF2B5EF4-FFF2-40B4-BE49-F238E27FC236}">
                <a16:creationId xmlns:a16="http://schemas.microsoft.com/office/drawing/2014/main" id="{BE22FAA0-9EAF-4C82-8B66-03FE4E1E6216}"/>
              </a:ext>
            </a:extLst>
          </p:cNvPr>
          <p:cNvSpPr txBox="1"/>
          <p:nvPr/>
        </p:nvSpPr>
        <p:spPr>
          <a:xfrm>
            <a:off x="6777376" y="5173964"/>
            <a:ext cx="1090362" cy="584968"/>
          </a:xfrm>
          <a:prstGeom prst="rect">
            <a:avLst/>
          </a:prstGeom>
          <a:noFill/>
        </p:spPr>
        <p:txBody>
          <a:bodyPr wrap="none" rtlCol="0">
            <a:spAutoFit/>
          </a:bodyPr>
          <a:lstStyle/>
          <a:p>
            <a:pPr algn="ctr"/>
            <a:r>
              <a:rPr lang="en-US" sz="1067" dirty="0"/>
              <a:t>Any</a:t>
            </a:r>
          </a:p>
          <a:p>
            <a:pPr algn="ctr"/>
            <a:r>
              <a:rPr lang="en-US" sz="1067" dirty="0"/>
              <a:t>known human</a:t>
            </a:r>
          </a:p>
          <a:p>
            <a:pPr algn="ctr"/>
            <a:r>
              <a:rPr lang="en-US" sz="1067" dirty="0"/>
              <a:t>relevant </a:t>
            </a:r>
            <a:r>
              <a:rPr lang="en-US" sz="1067" dirty="0" err="1"/>
              <a:t>risks</a:t>
            </a:r>
            <a:r>
              <a:rPr lang="en-US" sz="1067" baseline="30000" dirty="0" err="1"/>
              <a:t>d</a:t>
            </a:r>
            <a:r>
              <a:rPr lang="en-US" sz="1067" dirty="0"/>
              <a:t>?</a:t>
            </a:r>
          </a:p>
        </p:txBody>
      </p:sp>
    </p:spTree>
    <p:extLst>
      <p:ext uri="{BB962C8B-B14F-4D97-AF65-F5344CB8AC3E}">
        <p14:creationId xmlns:p14="http://schemas.microsoft.com/office/powerpoint/2010/main" val="1927591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52" y="89941"/>
            <a:ext cx="10992785" cy="1305955"/>
          </a:xfrm>
        </p:spPr>
        <p:txBody>
          <a:bodyPr>
            <a:noAutofit/>
          </a:bodyPr>
          <a:lstStyle/>
          <a:p>
            <a:r>
              <a:rPr lang="en-US" sz="3600" b="1" dirty="0">
                <a:latin typeface="Calibri" panose="020F0502020204030204" pitchFamily="34" charset="0"/>
                <a:cs typeface="Calibri" panose="020F0502020204030204" pitchFamily="34" charset="0"/>
              </a:rPr>
              <a:t>ICH Guidance Q3A(R2)/B(R2) – Qualification</a:t>
            </a:r>
          </a:p>
        </p:txBody>
      </p:sp>
      <p:pic>
        <p:nvPicPr>
          <p:cNvPr id="6" name="Picture 5">
            <a:extLst>
              <a:ext uri="{FF2B5EF4-FFF2-40B4-BE49-F238E27FC236}">
                <a16:creationId xmlns:a16="http://schemas.microsoft.com/office/drawing/2014/main" id="{2C026EB7-D3BA-4DE0-B000-9A336A12DC51}"/>
              </a:ext>
            </a:extLst>
          </p:cNvPr>
          <p:cNvPicPr>
            <a:picLocks noChangeAspect="1"/>
          </p:cNvPicPr>
          <p:nvPr/>
        </p:nvPicPr>
        <p:blipFill>
          <a:blip r:embed="rId2"/>
          <a:stretch>
            <a:fillRect/>
          </a:stretch>
        </p:blipFill>
        <p:spPr>
          <a:xfrm>
            <a:off x="1834787" y="1176185"/>
            <a:ext cx="8244503" cy="5399876"/>
          </a:xfrm>
          <a:prstGeom prst="rect">
            <a:avLst/>
          </a:prstGeom>
        </p:spPr>
      </p:pic>
    </p:spTree>
    <p:extLst>
      <p:ext uri="{BB962C8B-B14F-4D97-AF65-F5344CB8AC3E}">
        <p14:creationId xmlns:p14="http://schemas.microsoft.com/office/powerpoint/2010/main" val="3011572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200" y="191052"/>
            <a:ext cx="10681989" cy="1019976"/>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Safety qualification approaches in FDA OND</a:t>
            </a:r>
            <a:endParaRPr lang="en-US" sz="3600" b="1" dirty="0">
              <a:solidFill>
                <a:schemeClr val="tx2"/>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23265" y="1635760"/>
            <a:ext cx="11345471" cy="4118654"/>
          </a:xfrm>
        </p:spPr>
        <p:txBody>
          <a:bodyPr>
            <a:noAutofit/>
          </a:bodyPr>
          <a:lstStyle/>
          <a:p>
            <a:pPr marL="0" indent="0">
              <a:buNone/>
              <a:defRPr/>
            </a:pPr>
            <a:r>
              <a:rPr lang="en-US" b="1" dirty="0">
                <a:latin typeface="Calibri" panose="020F0502020204030204" pitchFamily="34" charset="0"/>
                <a:cs typeface="Calibri" panose="020F0502020204030204" pitchFamily="34" charset="0"/>
              </a:rPr>
              <a:t>Some variations in approach exist based on internal (2024) survey*:</a:t>
            </a:r>
          </a:p>
          <a:p>
            <a:pPr marL="0" indent="0">
              <a:buNone/>
              <a:defRPr/>
            </a:pPr>
            <a:endParaRPr lang="en-US" b="1" dirty="0">
              <a:latin typeface="Calibri" panose="020F0502020204030204" pitchFamily="34" charset="0"/>
              <a:cs typeface="Calibri" panose="020F0502020204030204" pitchFamily="34" charset="0"/>
            </a:endParaRPr>
          </a:p>
          <a:p>
            <a:pPr>
              <a:defRPr/>
            </a:pPr>
            <a:r>
              <a:rPr lang="en-US" dirty="0">
                <a:latin typeface="Calibri" panose="020F0502020204030204" pitchFamily="34" charset="0"/>
                <a:cs typeface="Calibri" panose="020F0502020204030204" pitchFamily="34" charset="0"/>
              </a:rPr>
              <a:t>When impurity is </a:t>
            </a:r>
            <a:r>
              <a:rPr lang="en-US" u="sng" dirty="0">
                <a:latin typeface="Calibri" panose="020F0502020204030204" pitchFamily="34" charset="0"/>
                <a:cs typeface="Calibri" panose="020F0502020204030204" pitchFamily="34" charset="0"/>
              </a:rPr>
              <a:t>present</a:t>
            </a:r>
            <a:r>
              <a:rPr lang="en-US" dirty="0">
                <a:latin typeface="Calibri" panose="020F0502020204030204" pitchFamily="34" charset="0"/>
                <a:cs typeface="Calibri" panose="020F0502020204030204" pitchFamily="34" charset="0"/>
              </a:rPr>
              <a:t> in batches used in nonclinical toxicology studies, one approach includes: </a:t>
            </a:r>
          </a:p>
          <a:p>
            <a:pPr lvl="1">
              <a:buFont typeface="Arial" panose="020B0604020202020204" pitchFamily="34" charset="0"/>
              <a:buChar char="•"/>
              <a:defRPr/>
            </a:pPr>
            <a:r>
              <a:rPr lang="en-US" sz="2800" dirty="0">
                <a:latin typeface="Calibri" panose="020F0502020204030204" pitchFamily="34" charset="0"/>
                <a:cs typeface="Calibri" panose="020F0502020204030204" pitchFamily="34" charset="0"/>
              </a:rPr>
              <a:t>Calculate impurity dose at NOAEL from nonclinical study</a:t>
            </a:r>
          </a:p>
          <a:p>
            <a:pPr lvl="1">
              <a:buFont typeface="Arial" panose="020B0604020202020204" pitchFamily="34" charset="0"/>
              <a:buChar char="•"/>
              <a:defRPr/>
            </a:pPr>
            <a:r>
              <a:rPr lang="en-US" sz="2800" dirty="0">
                <a:latin typeface="Calibri" panose="020F0502020204030204" pitchFamily="34" charset="0"/>
                <a:cs typeface="Calibri" panose="020F0502020204030204" pitchFamily="34" charset="0"/>
              </a:rPr>
              <a:t>Convert to HED (based on BSA)</a:t>
            </a:r>
          </a:p>
          <a:p>
            <a:pPr lvl="1">
              <a:buFont typeface="Arial" panose="020B0604020202020204" pitchFamily="34" charset="0"/>
              <a:buChar char="•"/>
              <a:defRPr/>
            </a:pPr>
            <a:r>
              <a:rPr lang="en-US" sz="2800" dirty="0">
                <a:latin typeface="Calibri" panose="020F0502020204030204" pitchFamily="34" charset="0"/>
                <a:cs typeface="Calibri" panose="020F0502020204030204" pitchFamily="34" charset="0"/>
              </a:rPr>
              <a:t>Compare to maximum human exposure</a:t>
            </a:r>
          </a:p>
          <a:p>
            <a:pPr lvl="1">
              <a:buFont typeface="Arial" panose="020B0604020202020204" pitchFamily="34" charset="0"/>
              <a:buChar char="•"/>
              <a:defRPr/>
            </a:pPr>
            <a:r>
              <a:rPr lang="en-US" sz="2800" dirty="0">
                <a:latin typeface="Calibri" panose="020F0502020204030204" pitchFamily="34" charset="0"/>
                <a:cs typeface="Calibri" panose="020F0502020204030204" pitchFamily="34" charset="0"/>
              </a:rPr>
              <a:t>Expect safety margin of at least 1X at NOAEL dose</a:t>
            </a:r>
          </a:p>
        </p:txBody>
      </p:sp>
      <p:sp>
        <p:nvSpPr>
          <p:cNvPr id="4" name="TextBox 3">
            <a:extLst>
              <a:ext uri="{FF2B5EF4-FFF2-40B4-BE49-F238E27FC236}">
                <a16:creationId xmlns:a16="http://schemas.microsoft.com/office/drawing/2014/main" id="{1022D64F-F4D7-6E7E-C7A1-CE727F0EA8FE}"/>
              </a:ext>
            </a:extLst>
          </p:cNvPr>
          <p:cNvSpPr txBox="1"/>
          <p:nvPr/>
        </p:nvSpPr>
        <p:spPr>
          <a:xfrm>
            <a:off x="1828800" y="5990897"/>
            <a:ext cx="6516464"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*Presented at American College of Toxicology 2024 Annual Meeting</a:t>
            </a:r>
          </a:p>
        </p:txBody>
      </p:sp>
    </p:spTree>
    <p:extLst>
      <p:ext uri="{BB962C8B-B14F-4D97-AF65-F5344CB8AC3E}">
        <p14:creationId xmlns:p14="http://schemas.microsoft.com/office/powerpoint/2010/main" val="774660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2" y="333292"/>
            <a:ext cx="10790835" cy="1019976"/>
          </a:xfrm>
        </p:spPr>
        <p:txBody>
          <a:bodyPr>
            <a:noAutofit/>
          </a:bodyPr>
          <a:lstStyle/>
          <a:p>
            <a:r>
              <a:rPr lang="en-US" altLang="en-US" sz="3600" b="1" dirty="0">
                <a:latin typeface="Calibri" panose="020F0502020204030204" pitchFamily="34" charset="0"/>
                <a:cs typeface="Calibri" panose="020F0502020204030204" pitchFamily="34" charset="0"/>
              </a:rPr>
              <a:t>Safety qualification approaches in FDA OND</a:t>
            </a:r>
            <a:endParaRPr lang="en-US" sz="36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31803" y="1717040"/>
            <a:ext cx="10790835" cy="3738880"/>
          </a:xfrm>
        </p:spPr>
        <p:txBody>
          <a:bodyPr>
            <a:noAutofit/>
          </a:bodyPr>
          <a:lstStyle/>
          <a:p>
            <a:pPr>
              <a:defRPr/>
            </a:pPr>
            <a:r>
              <a:rPr lang="en-US" sz="3200" dirty="0">
                <a:latin typeface="Calibri" panose="020F0502020204030204" pitchFamily="34" charset="0"/>
                <a:cs typeface="Calibri" panose="020F0502020204030204" pitchFamily="34" charset="0"/>
              </a:rPr>
              <a:t>Other approaches include: </a:t>
            </a:r>
          </a:p>
          <a:p>
            <a:pPr lvl="1">
              <a:buFont typeface="Arial" panose="020B0604020202020204" pitchFamily="34" charset="0"/>
              <a:buChar char="•"/>
              <a:defRPr/>
            </a:pPr>
            <a:r>
              <a:rPr lang="en-US" sz="3200" dirty="0">
                <a:latin typeface="Calibri" panose="020F0502020204030204" pitchFamily="34" charset="0"/>
                <a:cs typeface="Calibri" panose="020F0502020204030204" pitchFamily="34" charset="0"/>
              </a:rPr>
              <a:t>Compare mg/kg doses (rather than HED, BSA)</a:t>
            </a:r>
          </a:p>
          <a:p>
            <a:pPr lvl="1">
              <a:buFont typeface="Arial" panose="020B0604020202020204" pitchFamily="34" charset="0"/>
              <a:buChar char="•"/>
              <a:defRPr/>
            </a:pPr>
            <a:r>
              <a:rPr lang="en-US" sz="3200" dirty="0">
                <a:latin typeface="Calibri" panose="020F0502020204030204" pitchFamily="34" charset="0"/>
                <a:cs typeface="Calibri" panose="020F0502020204030204" pitchFamily="34" charset="0"/>
              </a:rPr>
              <a:t>Expect safety margins of at least 2X at NOAEL dose</a:t>
            </a:r>
          </a:p>
          <a:p>
            <a:pPr lvl="1">
              <a:buFont typeface="Arial" panose="020B0604020202020204" pitchFamily="34" charset="0"/>
              <a:buChar char="•"/>
              <a:defRPr/>
            </a:pPr>
            <a:r>
              <a:rPr lang="en-US" sz="3200" dirty="0">
                <a:latin typeface="Calibri" panose="020F0502020204030204" pitchFamily="34" charset="0"/>
                <a:cs typeface="Calibri" panose="020F0502020204030204" pitchFamily="34" charset="0"/>
              </a:rPr>
              <a:t>When NOAEL dose does not provide adequate safety coverage and effects clearly API-related, consider safety margins at doses above the NOAEL</a:t>
            </a:r>
          </a:p>
        </p:txBody>
      </p:sp>
    </p:spTree>
    <p:extLst>
      <p:ext uri="{BB962C8B-B14F-4D97-AF65-F5344CB8AC3E}">
        <p14:creationId xmlns:p14="http://schemas.microsoft.com/office/powerpoint/2010/main" val="517978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52" y="89941"/>
            <a:ext cx="10992785" cy="103781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What about early clinical trials?</a:t>
            </a:r>
            <a:endParaRPr lang="en-US" sz="3600" b="1" dirty="0">
              <a:solidFill>
                <a:schemeClr val="tx2"/>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345973" y="1094025"/>
            <a:ext cx="10876664" cy="4534266"/>
          </a:xfrm>
        </p:spPr>
        <p:txBody>
          <a:bodyPr>
            <a:noAutofit/>
          </a:bodyPr>
          <a:lstStyle/>
          <a:p>
            <a:pPr>
              <a:defRPr/>
            </a:pPr>
            <a:r>
              <a:rPr lang="en-US" dirty="0">
                <a:latin typeface="Calibri" panose="020F0502020204030204" pitchFamily="34" charset="0"/>
                <a:cs typeface="Calibri" panose="020F0502020204030204" pitchFamily="34" charset="0"/>
              </a:rPr>
              <a:t>No guidances currently exist that address early phase clinical trials</a:t>
            </a:r>
          </a:p>
          <a:p>
            <a:pPr lvl="1">
              <a:defRPr/>
            </a:pPr>
            <a:r>
              <a:rPr lang="en-US" dirty="0">
                <a:latin typeface="Calibri" panose="020F0502020204030204" pitchFamily="34" charset="0"/>
                <a:cs typeface="Calibri" panose="020F0502020204030204" pitchFamily="34" charset="0"/>
              </a:rPr>
              <a:t>Recognized that manufacturing processes still being refined</a:t>
            </a:r>
          </a:p>
          <a:p>
            <a:pPr lvl="1">
              <a:defRPr/>
            </a:pPr>
            <a:r>
              <a:rPr lang="en-US" dirty="0">
                <a:latin typeface="Calibri" panose="020F0502020204030204" pitchFamily="34" charset="0"/>
                <a:cs typeface="Calibri" panose="020F0502020204030204" pitchFamily="34" charset="0"/>
              </a:rPr>
              <a:t>Uncertainty as to appropriate ways to address drug-related impurities</a:t>
            </a:r>
          </a:p>
          <a:p>
            <a:pPr>
              <a:defRPr/>
            </a:pPr>
            <a:endParaRPr lang="en-US" sz="3200" b="1" dirty="0"/>
          </a:p>
          <a:p>
            <a:pPr>
              <a:defRPr/>
            </a:pPr>
            <a:r>
              <a:rPr lang="en-US" b="1" dirty="0">
                <a:latin typeface="Calibri" panose="020F0502020204030204" pitchFamily="34" charset="0"/>
                <a:cs typeface="Calibri" panose="020F0502020204030204" pitchFamily="34" charset="0"/>
              </a:rPr>
              <a:t>ICH M3(R2): </a:t>
            </a:r>
          </a:p>
          <a:p>
            <a:pPr lvl="1">
              <a:defRPr/>
            </a:pPr>
            <a:r>
              <a:rPr lang="en-US" dirty="0">
                <a:solidFill>
                  <a:srgbClr val="000000"/>
                </a:solidFill>
                <a:latin typeface="Calibri" panose="020F0502020204030204" pitchFamily="34" charset="0"/>
                <a:cs typeface="Calibri" panose="020F0502020204030204" pitchFamily="34" charset="0"/>
              </a:rPr>
              <a:t>If studies are warranted, generally these studies </a:t>
            </a:r>
            <a:r>
              <a:rPr lang="en-US" b="1" dirty="0">
                <a:solidFill>
                  <a:srgbClr val="000000"/>
                </a:solidFill>
                <a:latin typeface="Calibri" panose="020F0502020204030204" pitchFamily="34" charset="0"/>
                <a:cs typeface="Calibri" panose="020F0502020204030204" pitchFamily="34" charset="0"/>
              </a:rPr>
              <a:t>are not warranted before phase 3 </a:t>
            </a:r>
            <a:r>
              <a:rPr lang="en-US" dirty="0">
                <a:solidFill>
                  <a:srgbClr val="000000"/>
                </a:solidFill>
                <a:latin typeface="Calibri" panose="020F0502020204030204" pitchFamily="34" charset="0"/>
                <a:cs typeface="Calibri" panose="020F0502020204030204" pitchFamily="34" charset="0"/>
              </a:rPr>
              <a:t>unless there are changes that result in a significant new impurity profile (e.g., a new synthetic pathway, a new degradant formed by interactions between the components of the formulation). </a:t>
            </a:r>
          </a:p>
          <a:p>
            <a:pPr lvl="1">
              <a:defRPr/>
            </a:pPr>
            <a:r>
              <a:rPr lang="en-US" dirty="0">
                <a:solidFill>
                  <a:srgbClr val="000000"/>
                </a:solidFill>
                <a:latin typeface="Calibri" panose="020F0502020204030204" pitchFamily="34" charset="0"/>
                <a:cs typeface="Calibri" panose="020F0502020204030204" pitchFamily="34" charset="0"/>
              </a:rPr>
              <a:t>In these latter cases, appropriate qualification studies </a:t>
            </a:r>
            <a:r>
              <a:rPr lang="en-US" b="1" dirty="0">
                <a:solidFill>
                  <a:srgbClr val="000000"/>
                </a:solidFill>
                <a:latin typeface="Calibri" panose="020F0502020204030204" pitchFamily="34" charset="0"/>
                <a:cs typeface="Calibri" panose="020F0502020204030204" pitchFamily="34" charset="0"/>
              </a:rPr>
              <a:t>can be warranted to support phase 2 or later stages </a:t>
            </a:r>
            <a:r>
              <a:rPr lang="en-US" dirty="0">
                <a:solidFill>
                  <a:srgbClr val="000000"/>
                </a:solidFill>
                <a:latin typeface="Calibri" panose="020F0502020204030204" pitchFamily="34" charset="0"/>
                <a:cs typeface="Calibri" panose="020F0502020204030204" pitchFamily="34" charset="0"/>
              </a:rPr>
              <a:t>of development. </a:t>
            </a:r>
            <a:endParaRPr lang="en-US"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54DA03-AC2B-85CE-9BA2-5DB5142E9F58}"/>
              </a:ext>
            </a:extLst>
          </p:cNvPr>
          <p:cNvSpPr txBox="1"/>
          <p:nvPr/>
        </p:nvSpPr>
        <p:spPr>
          <a:xfrm>
            <a:off x="1828800" y="5990897"/>
            <a:ext cx="6516464"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*Presented at American College of Toxicology 2024 Annual Meeting</a:t>
            </a:r>
          </a:p>
        </p:txBody>
      </p:sp>
    </p:spTree>
    <p:extLst>
      <p:ext uri="{BB962C8B-B14F-4D97-AF65-F5344CB8AC3E}">
        <p14:creationId xmlns:p14="http://schemas.microsoft.com/office/powerpoint/2010/main" val="2927597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435" y="270771"/>
            <a:ext cx="10690202" cy="960869"/>
          </a:xfrm>
        </p:spPr>
        <p:txBody>
          <a:bodyPr>
            <a:noAutofit/>
          </a:bodyPr>
          <a:lstStyle/>
          <a:p>
            <a:r>
              <a:rPr lang="en-US" altLang="en-US" sz="3600" b="1" dirty="0">
                <a:latin typeface="Calibri" panose="020F0502020204030204" pitchFamily="34" charset="0"/>
                <a:cs typeface="Calibri" panose="020F0502020204030204" pitchFamily="34" charset="0"/>
              </a:rPr>
              <a:t>Safety qualification approaches in FDA OND </a:t>
            </a:r>
            <a:endParaRPr lang="en-US" sz="36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23265" y="1564296"/>
            <a:ext cx="11345471" cy="4287865"/>
          </a:xfrm>
        </p:spPr>
        <p:txBody>
          <a:bodyPr>
            <a:noAutofit/>
          </a:bodyPr>
          <a:lstStyle/>
          <a:p>
            <a:pPr>
              <a:defRPr/>
            </a:pPr>
            <a:r>
              <a:rPr lang="en-US" sz="3200" dirty="0">
                <a:latin typeface="Calibri" panose="020F0502020204030204" pitchFamily="34" charset="0"/>
                <a:cs typeface="Calibri" panose="020F0502020204030204" pitchFamily="34" charset="0"/>
              </a:rPr>
              <a:t>When impurity is </a:t>
            </a:r>
            <a:r>
              <a:rPr lang="en-US" sz="3200" u="sng" dirty="0">
                <a:latin typeface="Calibri" panose="020F0502020204030204" pitchFamily="34" charset="0"/>
                <a:cs typeface="Calibri" panose="020F0502020204030204" pitchFamily="34" charset="0"/>
              </a:rPr>
              <a:t>not</a:t>
            </a:r>
            <a:r>
              <a:rPr lang="en-US" sz="3200" dirty="0">
                <a:latin typeface="Calibri" panose="020F0502020204030204" pitchFamily="34" charset="0"/>
                <a:cs typeface="Calibri" panose="020F0502020204030204" pitchFamily="34" charset="0"/>
              </a:rPr>
              <a:t> present in API batches used in nonclinical toxicology studies </a:t>
            </a:r>
            <a:r>
              <a:rPr lang="en-US" sz="3200" u="sng" dirty="0">
                <a:latin typeface="Calibri" panose="020F0502020204030204" pitchFamily="34" charset="0"/>
                <a:cs typeface="Calibri" panose="020F0502020204030204" pitchFamily="34" charset="0"/>
              </a:rPr>
              <a:t>or</a:t>
            </a:r>
            <a:r>
              <a:rPr lang="en-US" sz="3200" dirty="0">
                <a:latin typeface="Calibri" panose="020F0502020204030204" pitchFamily="34" charset="0"/>
                <a:cs typeface="Calibri" panose="020F0502020204030204" pitchFamily="34" charset="0"/>
              </a:rPr>
              <a:t> proposed specifications &gt; Q3A/B QTs :</a:t>
            </a:r>
          </a:p>
          <a:p>
            <a:pPr lvl="1">
              <a:defRPr/>
            </a:pPr>
            <a:r>
              <a:rPr lang="en-US" sz="2667" dirty="0">
                <a:latin typeface="Calibri" panose="020F0502020204030204" pitchFamily="34" charset="0"/>
                <a:cs typeface="Calibri" panose="020F0502020204030204" pitchFamily="34" charset="0"/>
              </a:rPr>
              <a:t>Some review divisions have allowed for some flexibility above ICH Q3A/B QTs </a:t>
            </a:r>
            <a:r>
              <a:rPr lang="en-US" sz="2667" u="sng" dirty="0">
                <a:latin typeface="Calibri" panose="020F0502020204030204" pitchFamily="34" charset="0"/>
                <a:cs typeface="Calibri" panose="020F0502020204030204" pitchFamily="34" charset="0"/>
              </a:rPr>
              <a:t>for early clinical development</a:t>
            </a:r>
          </a:p>
          <a:p>
            <a:pPr lvl="2">
              <a:defRPr/>
            </a:pPr>
            <a:r>
              <a:rPr lang="en-US" sz="2667" dirty="0">
                <a:latin typeface="Calibri" panose="020F0502020204030204" pitchFamily="34" charset="0"/>
                <a:cs typeface="Calibri" panose="020F0502020204030204" pitchFamily="34" charset="0"/>
              </a:rPr>
              <a:t>Recommend further refinement as development continues</a:t>
            </a:r>
          </a:p>
          <a:p>
            <a:pPr lvl="1">
              <a:defRPr/>
            </a:pPr>
            <a:endParaRPr lang="en-US" sz="2667" dirty="0">
              <a:latin typeface="Calibri" panose="020F0502020204030204" pitchFamily="34" charset="0"/>
              <a:cs typeface="Calibri" panose="020F0502020204030204" pitchFamily="34" charset="0"/>
            </a:endParaRPr>
          </a:p>
          <a:p>
            <a:pPr lvl="1">
              <a:defRPr/>
            </a:pPr>
            <a:r>
              <a:rPr lang="en-US" sz="2667" dirty="0">
                <a:latin typeface="Calibri" panose="020F0502020204030204" pitchFamily="34" charset="0"/>
                <a:cs typeface="Calibri" panose="020F0502020204030204" pitchFamily="34" charset="0"/>
              </a:rPr>
              <a:t>Others have relied on the Q3A/B QTs in absence of other accepted thresholds and request safety information to support levels &gt; QTs</a:t>
            </a:r>
          </a:p>
        </p:txBody>
      </p:sp>
    </p:spTree>
    <p:extLst>
      <p:ext uri="{BB962C8B-B14F-4D97-AF65-F5344CB8AC3E}">
        <p14:creationId xmlns:p14="http://schemas.microsoft.com/office/powerpoint/2010/main" val="289641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608" y="293222"/>
            <a:ext cx="10041553" cy="771188"/>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Safety qualification approaches in FDA OND </a:t>
            </a:r>
            <a:endParaRPr lang="en-US" sz="3600" b="1" dirty="0">
              <a:solidFill>
                <a:schemeClr val="tx2"/>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23265" y="1343026"/>
            <a:ext cx="11345471" cy="4836159"/>
          </a:xfrm>
        </p:spPr>
        <p:txBody>
          <a:bodyPr>
            <a:noAutofit/>
          </a:bodyPr>
          <a:lstStyle/>
          <a:p>
            <a:pPr>
              <a:defRPr/>
            </a:pPr>
            <a:r>
              <a:rPr lang="en-US" sz="3200" dirty="0">
                <a:latin typeface="Calibri" panose="020F0502020204030204" pitchFamily="34" charset="0"/>
                <a:cs typeface="Calibri" panose="020F0502020204030204" pitchFamily="34" charset="0"/>
              </a:rPr>
              <a:t>Overall, requests to provide additional nonclinical data are relatively infrequent</a:t>
            </a:r>
          </a:p>
          <a:p>
            <a:pPr lvl="1">
              <a:defRPr/>
            </a:pPr>
            <a:r>
              <a:rPr lang="en-US" sz="2800" dirty="0">
                <a:latin typeface="Calibri" panose="020F0502020204030204" pitchFamily="34" charset="0"/>
                <a:cs typeface="Calibri" panose="020F0502020204030204" pitchFamily="34" charset="0"/>
              </a:rPr>
              <a:t>Sponsors typically able to adjust their specifications when necessary</a:t>
            </a:r>
          </a:p>
          <a:p>
            <a:pPr lvl="2">
              <a:defRPr/>
            </a:pPr>
            <a:r>
              <a:rPr lang="en-US" sz="2800" i="1" dirty="0">
                <a:latin typeface="Calibri" panose="020F0502020204030204" pitchFamily="34" charset="0"/>
                <a:cs typeface="Calibri" panose="020F0502020204030204" pitchFamily="34" charset="0"/>
              </a:rPr>
              <a:t>Noted that behind scenes work often done on industry side prior to submissions to avoid potential regulatory pushback</a:t>
            </a:r>
          </a:p>
          <a:p>
            <a:pPr lvl="1">
              <a:defRPr/>
            </a:pPr>
            <a:endParaRPr lang="en-US" sz="2800" dirty="0">
              <a:latin typeface="Calibri" panose="020F0502020204030204" pitchFamily="34" charset="0"/>
              <a:cs typeface="Calibri" panose="020F0502020204030204" pitchFamily="34" charset="0"/>
            </a:endParaRPr>
          </a:p>
          <a:p>
            <a:pPr lvl="1">
              <a:defRPr/>
            </a:pPr>
            <a:r>
              <a:rPr lang="en-US" sz="2800" dirty="0">
                <a:latin typeface="Calibri" panose="020F0502020204030204" pitchFamily="34" charset="0"/>
                <a:cs typeface="Calibri" panose="020F0502020204030204" pitchFamily="34" charset="0"/>
              </a:rPr>
              <a:t>If a study is recommended, study duration can range from single dose extended study (pre-operative procedure) to 90 days (chronic administration)</a:t>
            </a:r>
          </a:p>
          <a:p>
            <a:pPr lvl="1">
              <a:defRPr/>
            </a:pPr>
            <a:r>
              <a:rPr lang="en-US" sz="2800" dirty="0">
                <a:latin typeface="Calibri" panose="020F0502020204030204" pitchFamily="34" charset="0"/>
                <a:cs typeface="Calibri" panose="020F0502020204030204" pitchFamily="34" charset="0"/>
              </a:rPr>
              <a:t>Generally, accept proposed species with sufficient justification</a:t>
            </a:r>
          </a:p>
          <a:p>
            <a:pPr lvl="2">
              <a:defRPr/>
            </a:pPr>
            <a:r>
              <a:rPr lang="en-US" sz="2400" dirty="0">
                <a:latin typeface="Calibri" panose="020F0502020204030204" pitchFamily="34" charset="0"/>
                <a:cs typeface="Calibri" panose="020F0502020204030204" pitchFamily="34" charset="0"/>
              </a:rPr>
              <a:t>rodent most common</a:t>
            </a:r>
          </a:p>
        </p:txBody>
      </p:sp>
    </p:spTree>
    <p:extLst>
      <p:ext uri="{BB962C8B-B14F-4D97-AF65-F5344CB8AC3E}">
        <p14:creationId xmlns:p14="http://schemas.microsoft.com/office/powerpoint/2010/main" val="3687888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075" y="485028"/>
            <a:ext cx="9845040" cy="771188"/>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Safety qualification approaches in FDA OND </a:t>
            </a:r>
            <a:endParaRPr lang="en-US" sz="3600" b="1" dirty="0">
              <a:solidFill>
                <a:schemeClr val="tx2"/>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71075" y="1702604"/>
            <a:ext cx="10819886" cy="4032080"/>
          </a:xfrm>
        </p:spPr>
        <p:txBody>
          <a:bodyPr>
            <a:noAutofit/>
          </a:bodyPr>
          <a:lstStyle/>
          <a:p>
            <a:pPr>
              <a:defRPr/>
            </a:pPr>
            <a:r>
              <a:rPr lang="en-US" sz="3200" dirty="0">
                <a:latin typeface="Calibri" panose="020F0502020204030204" pitchFamily="34" charset="0"/>
                <a:cs typeface="Calibri" panose="020F0502020204030204" pitchFamily="34" charset="0"/>
              </a:rPr>
              <a:t>Overall, requests to provide additional nonclinical data are relatively infrequent (cont’d)</a:t>
            </a:r>
          </a:p>
          <a:p>
            <a:pPr lvl="1">
              <a:defRPr/>
            </a:pPr>
            <a:r>
              <a:rPr lang="en-US" sz="2800" dirty="0">
                <a:latin typeface="Calibri" panose="020F0502020204030204" pitchFamily="34" charset="0"/>
                <a:cs typeface="Calibri" panose="020F0502020204030204" pitchFamily="34" charset="0"/>
              </a:rPr>
              <a:t>Generally, isolated impurity or enriched/degraded API is acceptable</a:t>
            </a:r>
          </a:p>
          <a:p>
            <a:pPr lvl="1">
              <a:defRPr/>
            </a:pPr>
            <a:r>
              <a:rPr lang="en-US" sz="2800" dirty="0">
                <a:latin typeface="Calibri" panose="020F0502020204030204" pitchFamily="34" charset="0"/>
                <a:cs typeface="Calibri" panose="020F0502020204030204" pitchFamily="34" charset="0"/>
              </a:rPr>
              <a:t>Dose groups: typically include 1 to 3 dose groups</a:t>
            </a:r>
          </a:p>
          <a:p>
            <a:pPr lvl="1">
              <a:defRPr/>
            </a:pPr>
            <a:r>
              <a:rPr lang="en-US" sz="2800" dirty="0">
                <a:latin typeface="Calibri" panose="020F0502020204030204" pitchFamily="34" charset="0"/>
                <a:cs typeface="Calibri" panose="020F0502020204030204" pitchFamily="34" charset="0"/>
              </a:rPr>
              <a:t>Animal #s: varies, some recommend standard #s as in general tox studies; </a:t>
            </a:r>
          </a:p>
          <a:p>
            <a:pPr lvl="1">
              <a:defRPr/>
            </a:pPr>
            <a:r>
              <a:rPr lang="en-US" sz="2800" dirty="0">
                <a:latin typeface="Calibri" panose="020F0502020204030204" pitchFamily="34" charset="0"/>
                <a:cs typeface="Calibri" panose="020F0502020204030204" pitchFamily="34" charset="0"/>
              </a:rPr>
              <a:t>Sex: usually male &amp; female included</a:t>
            </a:r>
          </a:p>
          <a:p>
            <a:pPr lvl="2">
              <a:defRPr/>
            </a:pPr>
            <a:r>
              <a:rPr lang="en-US" sz="2400" dirty="0">
                <a:latin typeface="Calibri" panose="020F0502020204030204" pitchFamily="34" charset="0"/>
                <a:cs typeface="Calibri" panose="020F0502020204030204" pitchFamily="34" charset="0"/>
              </a:rPr>
              <a:t>Use of single sex accepted with justification</a:t>
            </a:r>
          </a:p>
        </p:txBody>
      </p:sp>
    </p:spTree>
    <p:extLst>
      <p:ext uri="{BB962C8B-B14F-4D97-AF65-F5344CB8AC3E}">
        <p14:creationId xmlns:p14="http://schemas.microsoft.com/office/powerpoint/2010/main" val="2028263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033" y="89942"/>
            <a:ext cx="10597604" cy="1152167"/>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Role of clinical experience</a:t>
            </a:r>
            <a:endParaRPr lang="en-US" sz="3600" b="1" dirty="0">
              <a:solidFill>
                <a:schemeClr val="tx2"/>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31802" y="1286391"/>
            <a:ext cx="11345471" cy="4833509"/>
          </a:xfrm>
        </p:spPr>
        <p:txBody>
          <a:bodyPr>
            <a:noAutofit/>
          </a:bodyPr>
          <a:lstStyle/>
          <a:p>
            <a:pPr>
              <a:defRPr/>
            </a:pPr>
            <a:r>
              <a:rPr lang="en-US" sz="3200" dirty="0">
                <a:latin typeface="Calibri" panose="020F0502020204030204" pitchFamily="34" charset="0"/>
                <a:cs typeface="Calibri" panose="020F0502020204030204" pitchFamily="34" charset="0"/>
              </a:rPr>
              <a:t>When clinical experience is available, it can alleviate some concern with impurity exposures, assuming no concerning findings are observed</a:t>
            </a:r>
          </a:p>
          <a:p>
            <a:pPr marL="0" indent="0">
              <a:buNone/>
              <a:defRPr/>
            </a:pPr>
            <a:endParaRPr lang="en-US" sz="3200" dirty="0">
              <a:latin typeface="Calibri" panose="020F0502020204030204" pitchFamily="34" charset="0"/>
              <a:cs typeface="Calibri" panose="020F0502020204030204" pitchFamily="34" charset="0"/>
            </a:endParaRPr>
          </a:p>
          <a:p>
            <a:pPr>
              <a:defRPr/>
            </a:pPr>
            <a:r>
              <a:rPr lang="en-US" sz="3200" dirty="0">
                <a:latin typeface="Calibri" panose="020F0502020204030204" pitchFamily="34" charset="0"/>
                <a:cs typeface="Calibri" panose="020F0502020204030204" pitchFamily="34" charset="0"/>
              </a:rPr>
              <a:t>However, there are limits:</a:t>
            </a:r>
          </a:p>
          <a:p>
            <a:pPr lvl="1">
              <a:defRPr/>
            </a:pPr>
            <a:r>
              <a:rPr lang="en-US" sz="2800" dirty="0">
                <a:latin typeface="Calibri" panose="020F0502020204030204" pitchFamily="34" charset="0"/>
                <a:cs typeface="Calibri" panose="020F0502020204030204" pitchFamily="34" charset="0"/>
              </a:rPr>
              <a:t>Lack of histopathology to fully evaluate toxicity profile</a:t>
            </a:r>
          </a:p>
          <a:p>
            <a:pPr lvl="1">
              <a:defRPr/>
            </a:pPr>
            <a:r>
              <a:rPr lang="en-US" sz="2800" dirty="0">
                <a:latin typeface="Calibri" panose="020F0502020204030204" pitchFamily="34" charset="0"/>
                <a:cs typeface="Calibri" panose="020F0502020204030204" pitchFamily="34" charset="0"/>
              </a:rPr>
              <a:t>Clinical trials generally increase in duration for many indications</a:t>
            </a:r>
          </a:p>
          <a:p>
            <a:pPr lvl="1">
              <a:defRPr/>
            </a:pPr>
            <a:r>
              <a:rPr lang="en-US" sz="2800" dirty="0">
                <a:latin typeface="Calibri" panose="020F0502020204030204" pitchFamily="34" charset="0"/>
                <a:cs typeface="Calibri" panose="020F0502020204030204" pitchFamily="34" charset="0"/>
              </a:rPr>
              <a:t>Not a factor for first-in-human trials unless impurity was observed with other programs</a:t>
            </a:r>
          </a:p>
        </p:txBody>
      </p:sp>
    </p:spTree>
    <p:extLst>
      <p:ext uri="{BB962C8B-B14F-4D97-AF65-F5344CB8AC3E}">
        <p14:creationId xmlns:p14="http://schemas.microsoft.com/office/powerpoint/2010/main" val="1539394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861" y="221713"/>
            <a:ext cx="10701776" cy="993792"/>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Impurities that are also metabolites</a:t>
            </a:r>
            <a:endParaRPr lang="en-US" sz="3600" b="1" dirty="0">
              <a:solidFill>
                <a:schemeClr val="tx2"/>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31802" y="1535289"/>
            <a:ext cx="11345471" cy="4832240"/>
          </a:xfrm>
        </p:spPr>
        <p:txBody>
          <a:bodyPr>
            <a:noAutofit/>
          </a:bodyPr>
          <a:lstStyle/>
          <a:p>
            <a:pPr>
              <a:defRPr/>
            </a:pPr>
            <a:r>
              <a:rPr lang="en-US" sz="3200" dirty="0">
                <a:latin typeface="Calibri" panose="020F0502020204030204" pitchFamily="34" charset="0"/>
                <a:cs typeface="Calibri" panose="020F0502020204030204" pitchFamily="34" charset="0"/>
              </a:rPr>
              <a:t>ICH Q3A/B – impurities/degradation products that are also </a:t>
            </a:r>
            <a:r>
              <a:rPr lang="en-US" sz="3200" dirty="0">
                <a:solidFill>
                  <a:srgbClr val="FF0000"/>
                </a:solidFill>
                <a:latin typeface="Calibri" panose="020F0502020204030204" pitchFamily="34" charset="0"/>
                <a:cs typeface="Calibri" panose="020F0502020204030204" pitchFamily="34" charset="0"/>
              </a:rPr>
              <a:t>significant</a:t>
            </a:r>
            <a:r>
              <a:rPr lang="en-US" sz="3200" dirty="0">
                <a:latin typeface="Calibri" panose="020F0502020204030204" pitchFamily="34" charset="0"/>
                <a:cs typeface="Calibri" panose="020F0502020204030204" pitchFamily="34" charset="0"/>
              </a:rPr>
              <a:t> metabolites present in animal and/or human studies are generally considered qualified</a:t>
            </a:r>
          </a:p>
          <a:p>
            <a:pPr>
              <a:defRPr/>
            </a:pPr>
            <a:endParaRPr lang="en-US" sz="3200" dirty="0">
              <a:latin typeface="Calibri" panose="020F0502020204030204" pitchFamily="34" charset="0"/>
              <a:cs typeface="Calibri" panose="020F0502020204030204" pitchFamily="34" charset="0"/>
            </a:endParaRPr>
          </a:p>
          <a:p>
            <a:pPr>
              <a:defRPr/>
            </a:pPr>
            <a:r>
              <a:rPr lang="en-US" sz="3200" dirty="0">
                <a:latin typeface="Calibri" panose="020F0502020204030204" pitchFamily="34" charset="0"/>
                <a:cs typeface="Calibri" panose="020F0502020204030204" pitchFamily="34" charset="0"/>
              </a:rPr>
              <a:t>However, the mere presence of a metabolite in an animal model usually not sufficient</a:t>
            </a:r>
          </a:p>
          <a:p>
            <a:pPr lvl="1">
              <a:defRPr/>
            </a:pPr>
            <a:r>
              <a:rPr lang="en-US" sz="2800" dirty="0">
                <a:latin typeface="Calibri" panose="020F0502020204030204" pitchFamily="34" charset="0"/>
                <a:cs typeface="Calibri" panose="020F0502020204030204" pitchFamily="34" charset="0"/>
              </a:rPr>
              <a:t>Demonstrate that sufficient levels generated in animals compared to maximum potential human exposure</a:t>
            </a:r>
          </a:p>
        </p:txBody>
      </p:sp>
    </p:spTree>
    <p:extLst>
      <p:ext uri="{BB962C8B-B14F-4D97-AF65-F5344CB8AC3E}">
        <p14:creationId xmlns:p14="http://schemas.microsoft.com/office/powerpoint/2010/main" val="2212453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2" y="250440"/>
            <a:ext cx="10992785" cy="833924"/>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Industry proposals for safety qualification</a:t>
            </a:r>
            <a:endParaRPr lang="en-US" sz="3600" b="1" dirty="0">
              <a:solidFill>
                <a:schemeClr val="tx2"/>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342900" y="1084364"/>
            <a:ext cx="11081687" cy="5523195"/>
          </a:xfrm>
        </p:spPr>
        <p:txBody>
          <a:bodyPr>
            <a:noAutofit/>
          </a:bodyPr>
          <a:lstStyle/>
          <a:p>
            <a:pPr>
              <a:defRPr/>
            </a:pPr>
            <a:r>
              <a:rPr lang="en-US" sz="2400" dirty="0">
                <a:latin typeface="Calibri" panose="020F0502020204030204" pitchFamily="34" charset="0"/>
                <a:cs typeface="Calibri" panose="020F0502020204030204" pitchFamily="34" charset="0"/>
              </a:rPr>
              <a:t>Various published proposals re safety qualification approaches and thresholds for early stages of clinical development</a:t>
            </a:r>
          </a:p>
          <a:p>
            <a:pPr>
              <a:defRPr/>
            </a:pPr>
            <a:endParaRPr lang="en-US" sz="2400" dirty="0">
              <a:latin typeface="Calibri" panose="020F0502020204030204" pitchFamily="34" charset="0"/>
              <a:cs typeface="Calibri" panose="020F0502020204030204" pitchFamily="34" charset="0"/>
            </a:endParaRPr>
          </a:p>
          <a:p>
            <a:pPr>
              <a:defRPr/>
            </a:pPr>
            <a:r>
              <a:rPr lang="en-US" sz="2400" dirty="0">
                <a:latin typeface="Calibri" panose="020F0502020204030204" pitchFamily="34" charset="0"/>
                <a:cs typeface="Calibri" panose="020F0502020204030204" pitchFamily="34" charset="0"/>
              </a:rPr>
              <a:t>Harvey et al (2017) proposal was topic of discussion/break-out sessions at 2018 FDA meeting with </a:t>
            </a:r>
            <a:r>
              <a:rPr lang="en-US" sz="2400" dirty="0" err="1">
                <a:latin typeface="Calibri" panose="020F0502020204030204" pitchFamily="34" charset="0"/>
                <a:cs typeface="Calibri" panose="020F0502020204030204" pitchFamily="34" charset="0"/>
              </a:rPr>
              <a:t>BioSafe</a:t>
            </a:r>
            <a:r>
              <a:rPr lang="en-US" sz="2400" dirty="0">
                <a:latin typeface="Calibri" panose="020F0502020204030204" pitchFamily="34" charset="0"/>
                <a:cs typeface="Calibri" panose="020F0502020204030204" pitchFamily="34" charset="0"/>
              </a:rPr>
              <a:t>/</a:t>
            </a:r>
            <a:r>
              <a:rPr lang="en-US" sz="2400" dirty="0" err="1">
                <a:latin typeface="Calibri" panose="020F0502020204030204" pitchFamily="34" charset="0"/>
                <a:cs typeface="Calibri" panose="020F0502020204030204" pitchFamily="34" charset="0"/>
              </a:rPr>
              <a:t>DruSafe</a:t>
            </a:r>
            <a:r>
              <a:rPr lang="en-US" sz="2400" dirty="0">
                <a:latin typeface="Calibri" panose="020F0502020204030204" pitchFamily="34" charset="0"/>
                <a:cs typeface="Calibri" panose="020F0502020204030204" pitchFamily="34" charset="0"/>
              </a:rPr>
              <a:t>:</a:t>
            </a:r>
          </a:p>
          <a:p>
            <a:pPr lvl="1">
              <a:defRPr/>
            </a:pPr>
            <a:r>
              <a:rPr lang="en-US" sz="2000" dirty="0">
                <a:latin typeface="Calibri" panose="020F0502020204030204" pitchFamily="34" charset="0"/>
                <a:cs typeface="Calibri" panose="020F0502020204030204" pitchFamily="34" charset="0"/>
              </a:rPr>
              <a:t>General non-familiarity with proposal</a:t>
            </a:r>
          </a:p>
          <a:p>
            <a:pPr lvl="1">
              <a:defRPr/>
            </a:pPr>
            <a:r>
              <a:rPr lang="en-US" sz="2000" dirty="0">
                <a:latin typeface="Calibri" panose="020F0502020204030204" pitchFamily="34" charset="0"/>
                <a:cs typeface="Calibri" panose="020F0502020204030204" pitchFamily="34" charset="0"/>
              </a:rPr>
              <a:t>Wide variety of approaches applied</a:t>
            </a:r>
          </a:p>
          <a:p>
            <a:pPr lvl="1">
              <a:defRPr/>
            </a:pPr>
            <a:r>
              <a:rPr lang="en-US" sz="2000" dirty="0">
                <a:latin typeface="Calibri" panose="020F0502020204030204" pitchFamily="34" charset="0"/>
                <a:cs typeface="Calibri" panose="020F0502020204030204" pitchFamily="34" charset="0"/>
              </a:rPr>
              <a:t>No conclusion on Harvey et al proposal; needs further consideration</a:t>
            </a:r>
          </a:p>
          <a:p>
            <a:pPr lvl="1">
              <a:defRPr/>
            </a:pPr>
            <a:endParaRPr lang="en-US" sz="2800" dirty="0">
              <a:latin typeface="Calibri" panose="020F0502020204030204" pitchFamily="34" charset="0"/>
              <a:cs typeface="Calibri" panose="020F0502020204030204" pitchFamily="34" charset="0"/>
            </a:endParaRPr>
          </a:p>
          <a:p>
            <a:pPr>
              <a:defRPr/>
            </a:pPr>
            <a:r>
              <a:rPr lang="en-US" sz="2400" dirty="0">
                <a:latin typeface="Calibri" panose="020F0502020204030204" pitchFamily="34" charset="0"/>
                <a:cs typeface="Calibri" panose="020F0502020204030204" pitchFamily="34" charset="0"/>
              </a:rPr>
              <a:t>Subsequent related publications include:</a:t>
            </a:r>
          </a:p>
          <a:p>
            <a:pPr lvl="1">
              <a:defRPr/>
            </a:pPr>
            <a:r>
              <a:rPr lang="en-US" sz="2000" dirty="0">
                <a:latin typeface="Calibri" panose="020F0502020204030204" pitchFamily="34" charset="0"/>
                <a:cs typeface="Calibri" panose="020F0502020204030204" pitchFamily="34" charset="0"/>
              </a:rPr>
              <a:t>Hasselgren et al, 2024</a:t>
            </a:r>
          </a:p>
          <a:p>
            <a:pPr lvl="1">
              <a:defRPr/>
            </a:pPr>
            <a:r>
              <a:rPr lang="en-US" sz="2000" dirty="0">
                <a:latin typeface="Calibri" panose="020F0502020204030204" pitchFamily="34" charset="0"/>
                <a:cs typeface="Calibri" panose="020F0502020204030204" pitchFamily="34" charset="0"/>
              </a:rPr>
              <a:t>Graham et al, 2021</a:t>
            </a:r>
          </a:p>
          <a:p>
            <a:pPr lvl="1">
              <a:defRPr/>
            </a:pPr>
            <a:r>
              <a:rPr lang="en-US" sz="2000" dirty="0">
                <a:latin typeface="Calibri" panose="020F0502020204030204" pitchFamily="34" charset="0"/>
                <a:cs typeface="Calibri" panose="020F0502020204030204" pitchFamily="34" charset="0"/>
              </a:rPr>
              <a:t>Kenyon et al, 2024</a:t>
            </a:r>
          </a:p>
          <a:p>
            <a:pPr lvl="1">
              <a:defRPr/>
            </a:pPr>
            <a:r>
              <a:rPr lang="en-US" sz="2000" dirty="0">
                <a:latin typeface="Calibri" panose="020F0502020204030204" pitchFamily="34" charset="0"/>
                <a:cs typeface="Calibri" panose="020F0502020204030204" pitchFamily="34" charset="0"/>
              </a:rPr>
              <a:t>Mitra et al, 2021</a:t>
            </a:r>
          </a:p>
          <a:p>
            <a:pPr lvl="1">
              <a:defRPr/>
            </a:pPr>
            <a:r>
              <a:rPr lang="en-US" sz="2000" dirty="0" err="1">
                <a:latin typeface="Calibri" panose="020F0502020204030204" pitchFamily="34" charset="0"/>
                <a:cs typeface="Calibri" panose="020F0502020204030204" pitchFamily="34" charset="0"/>
              </a:rPr>
              <a:t>Slikkerveer</a:t>
            </a:r>
            <a:r>
              <a:rPr lang="en-US" sz="2000" dirty="0">
                <a:latin typeface="Calibri" panose="020F0502020204030204" pitchFamily="34" charset="0"/>
                <a:cs typeface="Calibri" panose="020F0502020204030204" pitchFamily="34" charset="0"/>
              </a:rPr>
              <a:t> et al, 2024</a:t>
            </a:r>
          </a:p>
        </p:txBody>
      </p:sp>
    </p:spTree>
    <p:extLst>
      <p:ext uri="{BB962C8B-B14F-4D97-AF65-F5344CB8AC3E}">
        <p14:creationId xmlns:p14="http://schemas.microsoft.com/office/powerpoint/2010/main" val="1169365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1" y="89942"/>
            <a:ext cx="11090556" cy="895121"/>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Perspectives on current industry evaluations/proposals</a:t>
            </a:r>
            <a:endParaRPr lang="en-US" sz="36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23265" y="1066800"/>
            <a:ext cx="11345471" cy="5435600"/>
          </a:xfrm>
        </p:spPr>
        <p:txBody>
          <a:bodyPr>
            <a:noAutofit/>
          </a:bodyPr>
          <a:lstStyle/>
          <a:p>
            <a:pPr>
              <a:defRPr/>
            </a:pPr>
            <a:r>
              <a:rPr lang="en-US" sz="3200" dirty="0">
                <a:latin typeface="Calibri" panose="020F0502020204030204" pitchFamily="34" charset="0"/>
                <a:cs typeface="Calibri" panose="020F0502020204030204" pitchFamily="34" charset="0"/>
              </a:rPr>
              <a:t>Generally, has not been an area of significant focus/perceived impact from FDA/OND review divisions</a:t>
            </a:r>
          </a:p>
          <a:p>
            <a:pPr lvl="1">
              <a:defRPr/>
            </a:pPr>
            <a:r>
              <a:rPr lang="en-US" sz="2800" dirty="0">
                <a:latin typeface="Calibri" panose="020F0502020204030204" pitchFamily="34" charset="0"/>
                <a:cs typeface="Calibri" panose="020F0502020204030204" pitchFamily="34" charset="0"/>
              </a:rPr>
              <a:t>Not a significant role in clinical hold decisions</a:t>
            </a:r>
          </a:p>
          <a:p>
            <a:pPr lvl="1">
              <a:defRPr/>
            </a:pPr>
            <a:r>
              <a:rPr lang="en-US" sz="2800" dirty="0">
                <a:latin typeface="Calibri" panose="020F0502020204030204" pitchFamily="34" charset="0"/>
                <a:cs typeface="Calibri" panose="020F0502020204030204" pitchFamily="34" charset="0"/>
              </a:rPr>
              <a:t>One case: animal lethality attributed to DS impurity identified in a </a:t>
            </a:r>
            <a:r>
              <a:rPr lang="en-US" sz="2800" dirty="0" err="1">
                <a:latin typeface="Calibri" panose="020F0502020204030204" pitchFamily="34" charset="0"/>
                <a:cs typeface="Calibri" panose="020F0502020204030204" pitchFamily="34" charset="0"/>
              </a:rPr>
              <a:t>pIND</a:t>
            </a:r>
            <a:r>
              <a:rPr lang="en-US" sz="2800" dirty="0">
                <a:latin typeface="Calibri" panose="020F0502020204030204" pitchFamily="34" charset="0"/>
                <a:cs typeface="Calibri" panose="020F0502020204030204" pitchFamily="34" charset="0"/>
              </a:rPr>
              <a:t> package</a:t>
            </a:r>
          </a:p>
          <a:p>
            <a:pPr lvl="1">
              <a:defRPr/>
            </a:pPr>
            <a:endParaRPr lang="en-US" sz="3200" dirty="0">
              <a:latin typeface="Calibri" panose="020F0502020204030204" pitchFamily="34" charset="0"/>
              <a:cs typeface="Calibri" panose="020F0502020204030204" pitchFamily="34" charset="0"/>
            </a:endParaRPr>
          </a:p>
          <a:p>
            <a:pPr>
              <a:defRPr/>
            </a:pPr>
            <a:r>
              <a:rPr lang="en-US" sz="3200" dirty="0">
                <a:latin typeface="Calibri" panose="020F0502020204030204" pitchFamily="34" charset="0"/>
                <a:cs typeface="Calibri" panose="020F0502020204030204" pitchFamily="34" charset="0"/>
              </a:rPr>
              <a:t>Industry evaluations/proposed best practices do add value</a:t>
            </a:r>
          </a:p>
          <a:p>
            <a:pPr lvl="1">
              <a:defRPr/>
            </a:pPr>
            <a:r>
              <a:rPr lang="en-US" sz="2800" dirty="0">
                <a:latin typeface="Calibri" panose="020F0502020204030204" pitchFamily="34" charset="0"/>
                <a:cs typeface="Calibri" panose="020F0502020204030204" pitchFamily="34" charset="0"/>
              </a:rPr>
              <a:t>Basis of Q3A/B QTs has been questioned; assessment confirms safety of 1 mg/day exposure</a:t>
            </a:r>
          </a:p>
          <a:p>
            <a:pPr lvl="1">
              <a:defRPr/>
            </a:pPr>
            <a:r>
              <a:rPr lang="en-US" sz="2800" dirty="0">
                <a:latin typeface="Calibri" panose="020F0502020204030204" pitchFamily="34" charset="0"/>
                <a:cs typeface="Calibri" panose="020F0502020204030204" pitchFamily="34" charset="0"/>
              </a:rPr>
              <a:t>Q3A/B provide limited to no guidance on</a:t>
            </a:r>
          </a:p>
          <a:p>
            <a:pPr lvl="2">
              <a:defRPr/>
            </a:pPr>
            <a:r>
              <a:rPr lang="en-US" dirty="0">
                <a:latin typeface="Calibri" panose="020F0502020204030204" pitchFamily="34" charset="0"/>
                <a:cs typeface="Calibri" panose="020F0502020204030204" pitchFamily="34" charset="0"/>
              </a:rPr>
              <a:t>Early clinical development considerations</a:t>
            </a:r>
          </a:p>
          <a:p>
            <a:pPr lvl="2">
              <a:defRPr/>
            </a:pPr>
            <a:r>
              <a:rPr lang="en-US" dirty="0">
                <a:latin typeface="Calibri" panose="020F0502020204030204" pitchFamily="34" charset="0"/>
                <a:cs typeface="Calibri" panose="020F0502020204030204" pitchFamily="34" charset="0"/>
              </a:rPr>
              <a:t>What represents an acceptable qualification approach based on general toxicity data</a:t>
            </a:r>
          </a:p>
        </p:txBody>
      </p:sp>
    </p:spTree>
    <p:extLst>
      <p:ext uri="{BB962C8B-B14F-4D97-AF65-F5344CB8AC3E}">
        <p14:creationId xmlns:p14="http://schemas.microsoft.com/office/powerpoint/2010/main" val="15345656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090" y="231493"/>
            <a:ext cx="10892549" cy="1057557"/>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Perspectives on current industry evaluations/proposals</a:t>
            </a:r>
            <a:endParaRPr lang="en-US" sz="36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23265" y="1460500"/>
            <a:ext cx="10989373" cy="4924425"/>
          </a:xfrm>
        </p:spPr>
        <p:txBody>
          <a:bodyPr>
            <a:noAutofit/>
          </a:bodyPr>
          <a:lstStyle/>
          <a:p>
            <a:pPr>
              <a:lnSpc>
                <a:spcPct val="107000"/>
              </a:lnSpc>
              <a:spcBef>
                <a:spcPts val="0"/>
              </a:spcBef>
              <a:spcAft>
                <a:spcPts val="1067"/>
              </a:spcAft>
            </a:pPr>
            <a:r>
              <a:rPr lang="en-US" dirty="0">
                <a:latin typeface="Calibri" panose="020F0502020204030204" pitchFamily="34" charset="0"/>
                <a:ea typeface="Calibri" panose="020F0502020204030204" pitchFamily="34" charset="0"/>
                <a:cs typeface="Calibri" panose="020F0502020204030204" pitchFamily="34" charset="0"/>
              </a:rPr>
              <a:t>The proposed qualification thresholds (5 mg/day &gt; 1 month and 20 mg/day for up to 1 month and 20 mg/day) seem reasonable based on the data assessment in the relevant publications </a:t>
            </a:r>
            <a:r>
              <a:rPr lang="en-US" b="1" dirty="0">
                <a:latin typeface="Calibri" panose="020F0502020204030204" pitchFamily="34" charset="0"/>
                <a:ea typeface="Calibri" panose="020F0502020204030204" pitchFamily="34" charset="0"/>
                <a:cs typeface="Calibri" panose="020F0502020204030204" pitchFamily="34" charset="0"/>
              </a:rPr>
              <a:t>for orally administered drugs</a:t>
            </a:r>
            <a:r>
              <a:rPr lang="en-US" dirty="0">
                <a:latin typeface="Calibri" panose="020F0502020204030204" pitchFamily="34" charset="0"/>
                <a:ea typeface="Calibri" panose="020F0502020204030204" pitchFamily="34" charset="0"/>
                <a:cs typeface="Calibri" panose="020F0502020204030204" pitchFamily="34" charset="0"/>
              </a:rPr>
              <a:t>.</a:t>
            </a:r>
          </a:p>
          <a:p>
            <a:pPr lvl="1">
              <a:lnSpc>
                <a:spcPct val="107000"/>
              </a:lnSpc>
              <a:spcBef>
                <a:spcPts val="0"/>
              </a:spcBef>
              <a:spcAft>
                <a:spcPts val="1067"/>
              </a:spcAft>
            </a:pPr>
            <a:r>
              <a:rPr lang="en-US" dirty="0">
                <a:latin typeface="Calibri" panose="020F0502020204030204" pitchFamily="34" charset="0"/>
                <a:ea typeface="Calibri" panose="020F0502020204030204" pitchFamily="34" charset="0"/>
                <a:cs typeface="Calibri" panose="020F0502020204030204" pitchFamily="34" charset="0"/>
              </a:rPr>
              <a:t>Further formal assessment needed (status?)</a:t>
            </a:r>
          </a:p>
          <a:p>
            <a:pPr lvl="1">
              <a:lnSpc>
                <a:spcPct val="107000"/>
              </a:lnSpc>
              <a:spcBef>
                <a:spcPts val="0"/>
              </a:spcBef>
              <a:spcAft>
                <a:spcPts val="1067"/>
              </a:spcAft>
            </a:pPr>
            <a:r>
              <a:rPr lang="en-US" dirty="0">
                <a:latin typeface="Calibri" panose="020F0502020204030204" pitchFamily="34" charset="0"/>
                <a:ea typeface="Calibri" panose="020F0502020204030204" pitchFamily="34" charset="0"/>
                <a:cs typeface="Calibri" panose="020F0502020204030204" pitchFamily="34" charset="0"/>
              </a:rPr>
              <a:t>Encourage interaction with review divisions on specific applications</a:t>
            </a:r>
          </a:p>
          <a:p>
            <a:pPr>
              <a:lnSpc>
                <a:spcPct val="107000"/>
              </a:lnSpc>
              <a:spcBef>
                <a:spcPts val="0"/>
              </a:spcBef>
              <a:spcAft>
                <a:spcPts val="1067"/>
              </a:spcAft>
            </a:pPr>
            <a:endParaRPr lang="en-US" sz="2400" dirty="0">
              <a:latin typeface="Calibri" panose="020F0502020204030204" pitchFamily="34" charset="0"/>
              <a:ea typeface="Calibri" panose="020F0502020204030204" pitchFamily="34" charset="0"/>
              <a:cs typeface="Calibri" panose="020F0502020204030204" pitchFamily="34" charset="0"/>
            </a:endParaRPr>
          </a:p>
          <a:p>
            <a:pPr>
              <a:lnSpc>
                <a:spcPct val="107000"/>
              </a:lnSpc>
              <a:spcBef>
                <a:spcPts val="0"/>
              </a:spcBef>
              <a:spcAft>
                <a:spcPts val="1067"/>
              </a:spcAft>
            </a:pPr>
            <a:r>
              <a:rPr lang="en-US" kern="100" dirty="0">
                <a:latin typeface="Calibri" panose="020F0502020204030204" pitchFamily="34" charset="0"/>
                <a:ea typeface="Calibri" panose="020F0502020204030204" pitchFamily="34" charset="0"/>
                <a:cs typeface="Calibri" panose="020F0502020204030204" pitchFamily="34" charset="0"/>
              </a:rPr>
              <a:t>As noted in Kenyon et al 2024, q</a:t>
            </a:r>
            <a:r>
              <a:rPr lang="en-US" dirty="0">
                <a:latin typeface="Calibri" panose="020F0502020204030204" pitchFamily="34" charset="0"/>
                <a:ea typeface="Calibri" panose="020F0502020204030204" pitchFamily="34" charset="0"/>
                <a:cs typeface="Calibri" panose="020F0502020204030204" pitchFamily="34" charset="0"/>
              </a:rPr>
              <a:t>uality considerations should be taken into account as well as safety</a:t>
            </a:r>
            <a:endParaRPr lang="en-US" kern="1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6925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247EA-6700-70E3-236E-8D5081E536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B797D0-FC33-B6E5-D605-AA2CF041DE35}"/>
              </a:ext>
            </a:extLst>
          </p:cNvPr>
          <p:cNvSpPr>
            <a:spLocks noGrp="1"/>
          </p:cNvSpPr>
          <p:nvPr>
            <p:ph idx="1"/>
          </p:nvPr>
        </p:nvSpPr>
        <p:spPr>
          <a:xfrm>
            <a:off x="991609" y="1762158"/>
            <a:ext cx="10478732" cy="3657335"/>
          </a:xfrm>
        </p:spPr>
        <p:txBody>
          <a:bodyPr>
            <a:noAutofit/>
          </a:bodyPr>
          <a:lstStyle/>
          <a:p>
            <a:pPr>
              <a:buSzPct val="90000"/>
            </a:pPr>
            <a:r>
              <a:rPr lang="en-US" sz="3200" dirty="0">
                <a:latin typeface="Calibri" panose="020F0502020204030204" pitchFamily="34" charset="0"/>
                <a:cs typeface="Calibri" panose="020F0502020204030204" pitchFamily="34" charset="0"/>
              </a:rPr>
              <a:t>ICH Q3A</a:t>
            </a:r>
          </a:p>
          <a:p>
            <a:pPr>
              <a:buSzPct val="90000"/>
            </a:pPr>
            <a:r>
              <a:rPr lang="en-US" sz="3200" dirty="0">
                <a:latin typeface="Calibri" panose="020F0502020204030204" pitchFamily="34" charset="0"/>
                <a:cs typeface="Calibri" panose="020F0502020204030204" pitchFamily="34" charset="0"/>
              </a:rPr>
              <a:t>ICH Q3B</a:t>
            </a:r>
          </a:p>
          <a:p>
            <a:pPr>
              <a:buSzPct val="90000"/>
            </a:pPr>
            <a:r>
              <a:rPr lang="en-US" sz="3200" dirty="0">
                <a:solidFill>
                  <a:srgbClr val="FF0000"/>
                </a:solidFill>
                <a:latin typeface="Calibri" panose="020F0502020204030204" pitchFamily="34" charset="0"/>
                <a:cs typeface="Calibri" panose="020F0502020204030204" pitchFamily="34" charset="0"/>
              </a:rPr>
              <a:t>ICH M7(R2)</a:t>
            </a:r>
          </a:p>
          <a:p>
            <a:pPr lvl="1">
              <a:buSzPct val="90000"/>
            </a:pPr>
            <a:r>
              <a:rPr lang="en-US" sz="3200" dirty="0">
                <a:solidFill>
                  <a:schemeClr val="accent5">
                    <a:lumMod val="75000"/>
                  </a:schemeClr>
                </a:solidFill>
                <a:latin typeface="Calibri" panose="020F0502020204030204" pitchFamily="34" charset="0"/>
                <a:cs typeface="Calibri" panose="020F0502020204030204" pitchFamily="34" charset="0"/>
              </a:rPr>
              <a:t>Nitrosamines</a:t>
            </a:r>
          </a:p>
          <a:p>
            <a:pPr>
              <a:buSzPct val="90000"/>
            </a:pPr>
            <a:r>
              <a:rPr lang="en-US" sz="3200" dirty="0">
                <a:latin typeface="Calibri" panose="020F0502020204030204" pitchFamily="34" charset="0"/>
                <a:cs typeface="Calibri" panose="020F0502020204030204" pitchFamily="34" charset="0"/>
              </a:rPr>
              <a:t>ICH Q3C</a:t>
            </a:r>
          </a:p>
          <a:p>
            <a:pPr>
              <a:buSzPct val="90000"/>
            </a:pPr>
            <a:r>
              <a:rPr lang="en-US" sz="3200" dirty="0">
                <a:latin typeface="Calibri" panose="020F0502020204030204" pitchFamily="34" charset="0"/>
                <a:cs typeface="Calibri" panose="020F0502020204030204" pitchFamily="34" charset="0"/>
              </a:rPr>
              <a:t>ICH Q3D</a:t>
            </a:r>
          </a:p>
          <a:p>
            <a:pPr>
              <a:buSzPct val="90000"/>
            </a:pPr>
            <a:endParaRPr lang="en-US" sz="3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C5734B5-271D-C550-D69D-3A43483C8013}"/>
              </a:ext>
            </a:extLst>
          </p:cNvPr>
          <p:cNvSpPr txBox="1"/>
          <p:nvPr/>
        </p:nvSpPr>
        <p:spPr>
          <a:xfrm>
            <a:off x="991609" y="792176"/>
            <a:ext cx="5230599" cy="646331"/>
          </a:xfrm>
          <a:prstGeom prst="rect">
            <a:avLst/>
          </a:prstGeom>
          <a:noFill/>
        </p:spPr>
        <p:txBody>
          <a:bodyPr wrap="none" rtlCol="0">
            <a:spAutoFit/>
          </a:bodyPr>
          <a:lstStyle/>
          <a:p>
            <a:r>
              <a:rPr lang="en-US" sz="3600" b="1" dirty="0">
                <a:latin typeface="Calibri" panose="020F0502020204030204" pitchFamily="34" charset="0"/>
                <a:cs typeface="Calibri" panose="020F0502020204030204" pitchFamily="34" charset="0"/>
              </a:rPr>
              <a:t>Impurity Evaluation Topics</a:t>
            </a:r>
          </a:p>
        </p:txBody>
      </p:sp>
      <p:pic>
        <p:nvPicPr>
          <p:cNvPr id="2" name="Picture 1">
            <a:extLst>
              <a:ext uri="{FF2B5EF4-FFF2-40B4-BE49-F238E27FC236}">
                <a16:creationId xmlns:a16="http://schemas.microsoft.com/office/drawing/2014/main" id="{430BDD61-EFEC-A6D9-8FC4-3533563B0B7A}"/>
              </a:ext>
            </a:extLst>
          </p:cNvPr>
          <p:cNvPicPr>
            <a:picLocks noChangeAspect="1"/>
          </p:cNvPicPr>
          <p:nvPr/>
        </p:nvPicPr>
        <p:blipFill>
          <a:blip r:embed="rId2"/>
          <a:stretch>
            <a:fillRect/>
          </a:stretch>
        </p:blipFill>
        <p:spPr>
          <a:xfrm>
            <a:off x="6819901" y="613056"/>
            <a:ext cx="3676650" cy="1247775"/>
          </a:xfrm>
          <a:prstGeom prst="rect">
            <a:avLst/>
          </a:prstGeom>
        </p:spPr>
      </p:pic>
      <p:pic>
        <p:nvPicPr>
          <p:cNvPr id="4" name="Picture 3">
            <a:extLst>
              <a:ext uri="{FF2B5EF4-FFF2-40B4-BE49-F238E27FC236}">
                <a16:creationId xmlns:a16="http://schemas.microsoft.com/office/drawing/2014/main" id="{DE28F17E-2B7A-3B60-8EDA-F8583F7635FE}"/>
              </a:ext>
            </a:extLst>
          </p:cNvPr>
          <p:cNvPicPr>
            <a:picLocks noChangeAspect="1"/>
          </p:cNvPicPr>
          <p:nvPr/>
        </p:nvPicPr>
        <p:blipFill>
          <a:blip r:embed="rId3"/>
          <a:stretch>
            <a:fillRect/>
          </a:stretch>
        </p:blipFill>
        <p:spPr>
          <a:xfrm>
            <a:off x="6819901" y="2409810"/>
            <a:ext cx="3817296" cy="3657334"/>
          </a:xfrm>
          <a:prstGeom prst="rect">
            <a:avLst/>
          </a:prstGeom>
          <a:effectLst>
            <a:outerShdw blurRad="50800" dist="50800" dir="5400000" algn="ctr" rotWithShape="0">
              <a:schemeClr val="tx1"/>
            </a:outerShdw>
            <a:softEdge rad="50800"/>
          </a:effectLst>
        </p:spPr>
      </p:pic>
    </p:spTree>
    <p:extLst>
      <p:ext uri="{BB962C8B-B14F-4D97-AF65-F5344CB8AC3E}">
        <p14:creationId xmlns:p14="http://schemas.microsoft.com/office/powerpoint/2010/main" val="1049811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49EAE-CBA4-9A46-BD2C-4D21DD211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42D06-6F91-5B7B-F70B-8B375E9437EE}"/>
              </a:ext>
            </a:extLst>
          </p:cNvPr>
          <p:cNvSpPr>
            <a:spLocks noGrp="1"/>
          </p:cNvSpPr>
          <p:nvPr>
            <p:ph type="title"/>
          </p:nvPr>
        </p:nvSpPr>
        <p:spPr>
          <a:xfrm>
            <a:off x="423263" y="89943"/>
            <a:ext cx="11070397"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ICH M7(R2) – DNA reactive (mutagenic) impurities</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37FA9190-2A32-B124-496C-D3209BCE4E7C}"/>
              </a:ext>
            </a:extLst>
          </p:cNvPr>
          <p:cNvSpPr>
            <a:spLocks noGrp="1"/>
          </p:cNvSpPr>
          <p:nvPr>
            <p:ph idx="1"/>
          </p:nvPr>
        </p:nvSpPr>
        <p:spPr>
          <a:xfrm>
            <a:off x="423264" y="1231900"/>
            <a:ext cx="11345471" cy="4991100"/>
          </a:xfrm>
        </p:spPr>
        <p:txBody>
          <a:bodyPr>
            <a:noAutofit/>
          </a:bodyPr>
          <a:lstStyle/>
          <a:p>
            <a:pPr marL="0" indent="0">
              <a:buNone/>
              <a:defRPr/>
            </a:pPr>
            <a:r>
              <a:rPr lang="en-US" sz="3200" b="1" dirty="0">
                <a:latin typeface="Calibri" panose="020F0502020204030204" pitchFamily="34" charset="0"/>
                <a:cs typeface="Calibri" panose="020F0502020204030204" pitchFamily="34" charset="0"/>
              </a:rPr>
              <a:t>From Q3A/B:</a:t>
            </a:r>
          </a:p>
          <a:p>
            <a:pPr lvl="1">
              <a:defRPr/>
            </a:pPr>
            <a:r>
              <a:rPr lang="en-US" sz="3200" u="sng" dirty="0">
                <a:latin typeface="Calibri" panose="020F0502020204030204" pitchFamily="34" charset="0"/>
                <a:cs typeface="Calibri" panose="020F0502020204030204" pitchFamily="34" charset="0"/>
              </a:rPr>
              <a:t>Higher or lower levels may be appropriate based on scientific rationale and level of concern,</a:t>
            </a:r>
            <a:r>
              <a:rPr lang="en-US" sz="3200" dirty="0">
                <a:latin typeface="Calibri" panose="020F0502020204030204" pitchFamily="34" charset="0"/>
                <a:cs typeface="Calibri" panose="020F0502020204030204" pitchFamily="34" charset="0"/>
              </a:rPr>
              <a:t> including drug class effects and clinical experience</a:t>
            </a:r>
          </a:p>
          <a:p>
            <a:pPr lvl="1">
              <a:defRPr/>
            </a:pPr>
            <a:endParaRPr lang="en-US" sz="3200" dirty="0">
              <a:latin typeface="Calibri" panose="020F0502020204030204" pitchFamily="34" charset="0"/>
              <a:cs typeface="Calibri" panose="020F0502020204030204" pitchFamily="34" charset="0"/>
            </a:endParaRPr>
          </a:p>
          <a:p>
            <a:pPr>
              <a:defRPr/>
            </a:pPr>
            <a:r>
              <a:rPr lang="en-US" sz="3200" dirty="0">
                <a:latin typeface="Calibri" panose="020F0502020204030204" pitchFamily="34" charset="0"/>
                <a:cs typeface="Calibri" panose="020F0502020204030204" pitchFamily="34" charset="0"/>
              </a:rPr>
              <a:t>Regional </a:t>
            </a:r>
            <a:r>
              <a:rPr lang="en-US" sz="3200" dirty="0" err="1">
                <a:latin typeface="Calibri" panose="020F0502020204030204" pitchFamily="34" charset="0"/>
                <a:cs typeface="Calibri" panose="020F0502020204030204" pitchFamily="34" charset="0"/>
              </a:rPr>
              <a:t>guidances</a:t>
            </a:r>
            <a:r>
              <a:rPr lang="en-US" sz="3200" dirty="0">
                <a:latin typeface="Calibri" panose="020F0502020204030204" pitchFamily="34" charset="0"/>
                <a:cs typeface="Calibri" panose="020F0502020204030204" pitchFamily="34" charset="0"/>
              </a:rPr>
              <a:t> developed in early 2000’s to address mutagenic impurities</a:t>
            </a:r>
          </a:p>
          <a:p>
            <a:pPr>
              <a:defRPr/>
            </a:pPr>
            <a:endParaRPr lang="en-US" sz="3200" dirty="0">
              <a:latin typeface="Calibri" panose="020F0502020204030204" pitchFamily="34" charset="0"/>
              <a:cs typeface="Calibri" panose="020F0502020204030204" pitchFamily="34" charset="0"/>
            </a:endParaRPr>
          </a:p>
          <a:p>
            <a:pPr>
              <a:defRPr/>
            </a:pPr>
            <a:r>
              <a:rPr lang="en-US" sz="3200" dirty="0">
                <a:latin typeface="Calibri" panose="020F0502020204030204" pitchFamily="34" charset="0"/>
                <a:cs typeface="Calibri" panose="020F0502020204030204" pitchFamily="34" charset="0"/>
              </a:rPr>
              <a:t>Eventual adopted as a topic for harmonization by ICH with both safety and quality aspects</a:t>
            </a:r>
          </a:p>
          <a:p>
            <a:pPr>
              <a:lnSpc>
                <a:spcPct val="107000"/>
              </a:lnSpc>
              <a:spcBef>
                <a:spcPts val="0"/>
              </a:spcBef>
              <a:spcAft>
                <a:spcPts val="1067"/>
              </a:spcAft>
            </a:pPr>
            <a:endParaRPr lang="en-US" sz="3200" kern="1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2517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4A22B-949E-2134-5AFE-1BC635D74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80A5A-81A6-E803-65E3-2C5C52524D92}"/>
              </a:ext>
            </a:extLst>
          </p:cNvPr>
          <p:cNvSpPr>
            <a:spLocks noGrp="1"/>
          </p:cNvSpPr>
          <p:nvPr>
            <p:ph type="title"/>
          </p:nvPr>
        </p:nvSpPr>
        <p:spPr>
          <a:xfrm>
            <a:off x="423263" y="89943"/>
            <a:ext cx="11070397"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ICH M7(R2) – Overview</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4EC056B-FEC4-4A20-2E91-E72C37D8C0D4}"/>
              </a:ext>
            </a:extLst>
          </p:cNvPr>
          <p:cNvSpPr>
            <a:spLocks noGrp="1"/>
          </p:cNvSpPr>
          <p:nvPr>
            <p:ph idx="1"/>
          </p:nvPr>
        </p:nvSpPr>
        <p:spPr>
          <a:xfrm>
            <a:off x="423264" y="1169044"/>
            <a:ext cx="11345471" cy="4884515"/>
          </a:xfrm>
        </p:spPr>
        <p:txBody>
          <a:bodyPr>
            <a:noAutofit/>
          </a:bodyPr>
          <a:lstStyle/>
          <a:p>
            <a:r>
              <a:rPr lang="en-US" sz="2400" dirty="0">
                <a:latin typeface="Calibri" panose="020F0502020204030204" pitchFamily="34" charset="0"/>
                <a:cs typeface="Calibri" panose="020F0502020204030204" pitchFamily="34" charset="0"/>
              </a:rPr>
              <a:t>M7 provides recommendations on how to assess and control mutagenic impurities </a:t>
            </a:r>
          </a:p>
          <a:p>
            <a:r>
              <a:rPr lang="en-US" sz="2400" dirty="0">
                <a:latin typeface="Calibri" panose="020F0502020204030204" pitchFamily="34" charset="0"/>
                <a:cs typeface="Calibri" panose="020F0502020204030204" pitchFamily="34" charset="0"/>
              </a:rPr>
              <a:t>Recommends selecting potential impurities based on the risk of presence at relevant levels in the drug substance or drug product </a:t>
            </a:r>
          </a:p>
          <a:p>
            <a:r>
              <a:rPr lang="en-US" sz="2400" dirty="0">
                <a:latin typeface="Calibri" panose="020F0502020204030204" pitchFamily="34" charset="0"/>
                <a:cs typeface="Calibri" panose="020F0502020204030204" pitchFamily="34" charset="0"/>
              </a:rPr>
              <a:t>Utilizes Structure Activity Relationship to assess and predict mutagenicity potential (Hazard Identification) and if warranted, control or determine risk (Risk Assessment) </a:t>
            </a:r>
          </a:p>
          <a:p>
            <a:r>
              <a:rPr lang="en-US" sz="2400" dirty="0">
                <a:latin typeface="Calibri" panose="020F0502020204030204" pitchFamily="34" charset="0"/>
                <a:cs typeface="Calibri" panose="020F0502020204030204" pitchFamily="34" charset="0"/>
              </a:rPr>
              <a:t>Applies the concept of TTC (Threshold of Toxicological Concern) and classifies impurities into 5 classes based on mutagenicity and carcinogenicity </a:t>
            </a:r>
          </a:p>
          <a:p>
            <a:r>
              <a:rPr lang="en-US" sz="2400" dirty="0">
                <a:latin typeface="Calibri" panose="020F0502020204030204" pitchFamily="34" charset="0"/>
                <a:cs typeface="Calibri" panose="020F0502020204030204" pitchFamily="34" charset="0"/>
              </a:rPr>
              <a:t>Applies LTL (Less-Than-Lifetime) limits based on duration of use providing a flexible and practical approach during clinical development and marketing</a:t>
            </a:r>
          </a:p>
          <a:p>
            <a:r>
              <a:rPr lang="en-US" sz="2400" dirty="0">
                <a:latin typeface="Calibri" panose="020F0502020204030204" pitchFamily="34" charset="0"/>
                <a:cs typeface="Calibri" panose="020F0502020204030204" pitchFamily="34" charset="0"/>
              </a:rPr>
              <a:t>Outlines flexible ways to control mutagenic impurities, and a staged approach to documentation during development</a:t>
            </a:r>
          </a:p>
          <a:p>
            <a:r>
              <a:rPr lang="en-US" sz="2400" dirty="0">
                <a:latin typeface="Calibri" panose="020F0502020204030204" pitchFamily="34" charset="0"/>
                <a:cs typeface="Calibri" panose="020F0502020204030204" pitchFamily="34" charset="0"/>
              </a:rPr>
              <a:t>Impurity monographs with identified Acceptable Intakes or Permissible Daily Intakes</a:t>
            </a:r>
          </a:p>
        </p:txBody>
      </p:sp>
    </p:spTree>
    <p:extLst>
      <p:ext uri="{BB962C8B-B14F-4D97-AF65-F5344CB8AC3E}">
        <p14:creationId xmlns:p14="http://schemas.microsoft.com/office/powerpoint/2010/main" val="2839975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3AE2F-A529-58CF-9988-5273B5B1C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3AE79-CCAB-8EA0-D5C2-A0DA1D7C3364}"/>
              </a:ext>
            </a:extLst>
          </p:cNvPr>
          <p:cNvSpPr>
            <a:spLocks noGrp="1"/>
          </p:cNvSpPr>
          <p:nvPr>
            <p:ph type="title"/>
          </p:nvPr>
        </p:nvSpPr>
        <p:spPr>
          <a:xfrm>
            <a:off x="335665" y="89943"/>
            <a:ext cx="11157996"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ICH M7(R2) – Hazard Assessment</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913252E-EB22-B2FD-2F32-059A27FA2C7F}"/>
              </a:ext>
            </a:extLst>
          </p:cNvPr>
          <p:cNvSpPr>
            <a:spLocks noGrp="1"/>
          </p:cNvSpPr>
          <p:nvPr>
            <p:ph idx="1"/>
          </p:nvPr>
        </p:nvSpPr>
        <p:spPr>
          <a:xfrm>
            <a:off x="423264" y="1203767"/>
            <a:ext cx="11345471" cy="4819001"/>
          </a:xfrm>
        </p:spPr>
        <p:txBody>
          <a:bodyPr>
            <a:noAutofit/>
          </a:bodyPr>
          <a:lstStyle/>
          <a:p>
            <a:r>
              <a:rPr lang="en-US" dirty="0">
                <a:latin typeface="Calibri" panose="020F0502020204030204" pitchFamily="34" charset="0"/>
                <a:cs typeface="Calibri" panose="020F0502020204030204" pitchFamily="34" charset="0"/>
              </a:rPr>
              <a:t>Actual and potential impurities are assessed for mutagenic hazards </a:t>
            </a:r>
          </a:p>
          <a:p>
            <a:r>
              <a:rPr lang="en-US" b="1" dirty="0">
                <a:latin typeface="Calibri" panose="020F0502020204030204" pitchFamily="34" charset="0"/>
                <a:cs typeface="Calibri" panose="020F0502020204030204" pitchFamily="34" charset="0"/>
              </a:rPr>
              <a:t>Known mutagen </a:t>
            </a:r>
            <a:r>
              <a:rPr lang="en-US" dirty="0">
                <a:latin typeface="Calibri" panose="020F0502020204030204" pitchFamily="34" charset="0"/>
                <a:cs typeface="Calibri" panose="020F0502020204030204" pitchFamily="34" charset="0"/>
              </a:rPr>
              <a:t>- evaluate literature and databases </a:t>
            </a:r>
          </a:p>
          <a:p>
            <a:r>
              <a:rPr lang="en-US" b="1" dirty="0">
                <a:latin typeface="Calibri" panose="020F0502020204030204" pitchFamily="34" charset="0"/>
                <a:cs typeface="Calibri" panose="020F0502020204030204" pitchFamily="34" charset="0"/>
              </a:rPr>
              <a:t>Structure of unknown mutagenicity </a:t>
            </a:r>
            <a:r>
              <a:rPr lang="en-US" dirty="0">
                <a:latin typeface="Calibri" panose="020F0502020204030204" pitchFamily="34" charset="0"/>
                <a:cs typeface="Calibri" panose="020F0502020204030204" pitchFamily="34" charset="0"/>
              </a:rPr>
              <a:t>- perform a computational toxicology assessment using (Q)SAR methodologies that predict bacterial mutagenicity </a:t>
            </a:r>
          </a:p>
          <a:p>
            <a:pPr lvl="1"/>
            <a:r>
              <a:rPr lang="en-US" dirty="0">
                <a:latin typeface="Calibri" panose="020F0502020204030204" pitchFamily="34" charset="0"/>
                <a:cs typeface="Calibri" panose="020F0502020204030204" pitchFamily="34" charset="0"/>
              </a:rPr>
              <a:t>Employ </a:t>
            </a:r>
            <a:r>
              <a:rPr lang="en-US" b="1" dirty="0">
                <a:latin typeface="Calibri" panose="020F0502020204030204" pitchFamily="34" charset="0"/>
                <a:cs typeface="Calibri" panose="020F0502020204030204" pitchFamily="34" charset="0"/>
              </a:rPr>
              <a:t>two </a:t>
            </a:r>
            <a:r>
              <a:rPr lang="en-US" dirty="0">
                <a:latin typeface="Calibri" panose="020F0502020204030204" pitchFamily="34" charset="0"/>
                <a:cs typeface="Calibri" panose="020F0502020204030204" pitchFamily="34" charset="0"/>
              </a:rPr>
              <a:t>complementary (Q)SAR systems (expert rule-based and statistical based) </a:t>
            </a:r>
          </a:p>
          <a:p>
            <a:pPr lvl="1"/>
            <a:r>
              <a:rPr lang="en-US" dirty="0">
                <a:latin typeface="Calibri" panose="020F0502020204030204" pitchFamily="34" charset="0"/>
                <a:cs typeface="Calibri" panose="020F0502020204030204" pitchFamily="34" charset="0"/>
              </a:rPr>
              <a:t>Apply expert knowledge to review outcomes if warranted </a:t>
            </a:r>
          </a:p>
          <a:p>
            <a:pPr lvl="1"/>
            <a:r>
              <a:rPr lang="en-US" dirty="0">
                <a:latin typeface="Calibri" panose="020F0502020204030204" pitchFamily="34" charset="0"/>
                <a:cs typeface="Calibri" panose="020F0502020204030204" pitchFamily="34" charset="0"/>
              </a:rPr>
              <a:t>Absence of structural alert is sufficient to conclude that impurity is of no concern, and no further testing is recommended</a:t>
            </a:r>
          </a:p>
        </p:txBody>
      </p:sp>
    </p:spTree>
    <p:extLst>
      <p:ext uri="{BB962C8B-B14F-4D97-AF65-F5344CB8AC3E}">
        <p14:creationId xmlns:p14="http://schemas.microsoft.com/office/powerpoint/2010/main" val="2903781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4542BA-4694-2478-AB33-853D12E48A7B}"/>
              </a:ext>
            </a:extLst>
          </p:cNvPr>
          <p:cNvPicPr>
            <a:picLocks noChangeAspect="1"/>
          </p:cNvPicPr>
          <p:nvPr/>
        </p:nvPicPr>
        <p:blipFill>
          <a:blip r:embed="rId2"/>
          <a:stretch>
            <a:fillRect/>
          </a:stretch>
        </p:blipFill>
        <p:spPr>
          <a:xfrm>
            <a:off x="1847642" y="399849"/>
            <a:ext cx="8146133" cy="5858949"/>
          </a:xfrm>
          <a:prstGeom prst="rect">
            <a:avLst/>
          </a:prstGeom>
        </p:spPr>
      </p:pic>
    </p:spTree>
    <p:extLst>
      <p:ext uri="{BB962C8B-B14F-4D97-AF65-F5344CB8AC3E}">
        <p14:creationId xmlns:p14="http://schemas.microsoft.com/office/powerpoint/2010/main" val="38969596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7168C-1211-7701-8424-23B667795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6EE9A-FADD-5821-6BCE-3609D0CB026E}"/>
              </a:ext>
            </a:extLst>
          </p:cNvPr>
          <p:cNvSpPr>
            <a:spLocks noGrp="1"/>
          </p:cNvSpPr>
          <p:nvPr>
            <p:ph type="title"/>
          </p:nvPr>
        </p:nvSpPr>
        <p:spPr>
          <a:xfrm>
            <a:off x="335665" y="89943"/>
            <a:ext cx="11157996" cy="956539"/>
          </a:xfrm>
        </p:spPr>
        <p:txBody>
          <a:bodyPr>
            <a:noAutofit/>
          </a:bodyPr>
          <a:lstStyle/>
          <a:p>
            <a:r>
              <a:rPr lang="en-US" altLang="en-US" sz="3733" b="1" dirty="0">
                <a:solidFill>
                  <a:schemeClr val="tx2"/>
                </a:solidFill>
                <a:latin typeface="Calibri" panose="020F0502020204030204" pitchFamily="34" charset="0"/>
                <a:cs typeface="Calibri" panose="020F0502020204030204" pitchFamily="34" charset="0"/>
              </a:rPr>
              <a:t>ICH M7(R2) – Hazard Assessment – LTL adjustments</a:t>
            </a:r>
            <a:endParaRPr lang="en-US" sz="3733" b="1" dirty="0">
              <a:latin typeface="Calibri" panose="020F0502020204030204" pitchFamily="34" charset="0"/>
              <a:cs typeface="Calibri" panose="020F0502020204030204" pitchFamily="34" charset="0"/>
            </a:endParaRPr>
          </a:p>
        </p:txBody>
      </p:sp>
      <p:pic>
        <p:nvPicPr>
          <p:cNvPr id="4" name="Content Placeholder 3">
            <a:extLst>
              <a:ext uri="{FF2B5EF4-FFF2-40B4-BE49-F238E27FC236}">
                <a16:creationId xmlns:a16="http://schemas.microsoft.com/office/drawing/2014/main" id="{01F0B6E5-5D7F-E553-EE8A-6B8D90EBCAD7}"/>
              </a:ext>
            </a:extLst>
          </p:cNvPr>
          <p:cNvPicPr>
            <a:picLocks noGrp="1" noChangeAspect="1"/>
          </p:cNvPicPr>
          <p:nvPr>
            <p:ph idx="1"/>
          </p:nvPr>
        </p:nvPicPr>
        <p:blipFill>
          <a:blip r:embed="rId2"/>
          <a:stretch>
            <a:fillRect/>
          </a:stretch>
        </p:blipFill>
        <p:spPr>
          <a:xfrm>
            <a:off x="2192277" y="844289"/>
            <a:ext cx="7645400" cy="2273300"/>
          </a:xfrm>
          <a:prstGeom prst="rect">
            <a:avLst/>
          </a:prstGeom>
        </p:spPr>
      </p:pic>
      <p:pic>
        <p:nvPicPr>
          <p:cNvPr id="5" name="Picture 4">
            <a:extLst>
              <a:ext uri="{FF2B5EF4-FFF2-40B4-BE49-F238E27FC236}">
                <a16:creationId xmlns:a16="http://schemas.microsoft.com/office/drawing/2014/main" id="{0E13BFC3-D883-78D8-9CB3-551528F18251}"/>
              </a:ext>
            </a:extLst>
          </p:cNvPr>
          <p:cNvPicPr>
            <a:picLocks noChangeAspect="1"/>
          </p:cNvPicPr>
          <p:nvPr/>
        </p:nvPicPr>
        <p:blipFill>
          <a:blip r:embed="rId3"/>
          <a:stretch>
            <a:fillRect/>
          </a:stretch>
        </p:blipFill>
        <p:spPr>
          <a:xfrm>
            <a:off x="1712089" y="3662800"/>
            <a:ext cx="7772400" cy="2350911"/>
          </a:xfrm>
          <a:prstGeom prst="rect">
            <a:avLst/>
          </a:prstGeom>
        </p:spPr>
      </p:pic>
    </p:spTree>
    <p:extLst>
      <p:ext uri="{BB962C8B-B14F-4D97-AF65-F5344CB8AC3E}">
        <p14:creationId xmlns:p14="http://schemas.microsoft.com/office/powerpoint/2010/main" val="2172320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E13AC-EB9F-7345-9188-CCA47CE45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1D5EC-F7C4-991A-A2F0-4B5B5641F8F7}"/>
              </a:ext>
            </a:extLst>
          </p:cNvPr>
          <p:cNvSpPr>
            <a:spLocks noGrp="1"/>
          </p:cNvSpPr>
          <p:nvPr>
            <p:ph type="title"/>
          </p:nvPr>
        </p:nvSpPr>
        <p:spPr>
          <a:xfrm>
            <a:off x="335665" y="89943"/>
            <a:ext cx="11157996" cy="956539"/>
          </a:xfrm>
        </p:spPr>
        <p:txBody>
          <a:bodyPr>
            <a:noAutofit/>
          </a:bodyPr>
          <a:lstStyle/>
          <a:p>
            <a:r>
              <a:rPr lang="en-US" altLang="en-US" sz="3733" b="1" dirty="0">
                <a:solidFill>
                  <a:schemeClr val="tx2"/>
                </a:solidFill>
                <a:latin typeface="Calibri" panose="020F0502020204030204" pitchFamily="34" charset="0"/>
                <a:cs typeface="Calibri" panose="020F0502020204030204" pitchFamily="34" charset="0"/>
              </a:rPr>
              <a:t>ICH M7(R2) – Hazard Assessment – LTL adjustments</a:t>
            </a:r>
            <a:endParaRPr lang="en-US" sz="3733" b="1" dirty="0">
              <a:latin typeface="Calibri" panose="020F0502020204030204" pitchFamily="34" charset="0"/>
              <a:cs typeface="Calibri" panose="020F0502020204030204" pitchFamily="34" charset="0"/>
            </a:endParaRPr>
          </a:p>
        </p:txBody>
      </p:sp>
      <p:pic>
        <p:nvPicPr>
          <p:cNvPr id="7" name="Content Placeholder 6">
            <a:extLst>
              <a:ext uri="{FF2B5EF4-FFF2-40B4-BE49-F238E27FC236}">
                <a16:creationId xmlns:a16="http://schemas.microsoft.com/office/drawing/2014/main" id="{C18A79CE-6B3F-16CD-FF68-68D9599EAF21}"/>
              </a:ext>
            </a:extLst>
          </p:cNvPr>
          <p:cNvPicPr>
            <a:picLocks noGrp="1" noChangeAspect="1"/>
          </p:cNvPicPr>
          <p:nvPr>
            <p:ph idx="1"/>
          </p:nvPr>
        </p:nvPicPr>
        <p:blipFill>
          <a:blip r:embed="rId2"/>
          <a:stretch>
            <a:fillRect/>
          </a:stretch>
        </p:blipFill>
        <p:spPr>
          <a:xfrm>
            <a:off x="2146300" y="914399"/>
            <a:ext cx="6959600" cy="5586189"/>
          </a:xfrm>
          <a:prstGeom prst="rect">
            <a:avLst/>
          </a:prstGeom>
        </p:spPr>
      </p:pic>
    </p:spTree>
    <p:extLst>
      <p:ext uri="{BB962C8B-B14F-4D97-AF65-F5344CB8AC3E}">
        <p14:creationId xmlns:p14="http://schemas.microsoft.com/office/powerpoint/2010/main" val="37055926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2BC4D-ECC3-4021-B68D-1903D956C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FF4B6-CBAB-23A1-BF32-34E0FCFC56AC}"/>
              </a:ext>
            </a:extLst>
          </p:cNvPr>
          <p:cNvSpPr>
            <a:spLocks noGrp="1"/>
          </p:cNvSpPr>
          <p:nvPr>
            <p:ph type="title"/>
          </p:nvPr>
        </p:nvSpPr>
        <p:spPr>
          <a:xfrm>
            <a:off x="335665" y="89943"/>
            <a:ext cx="11157996"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ICH M7(R2) – Documentation &amp; Timing</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D1279C7-D394-CA26-08AA-B195C3E0A6B3}"/>
              </a:ext>
            </a:extLst>
          </p:cNvPr>
          <p:cNvSpPr>
            <a:spLocks noGrp="1"/>
          </p:cNvSpPr>
          <p:nvPr>
            <p:ph idx="1"/>
          </p:nvPr>
        </p:nvSpPr>
        <p:spPr>
          <a:xfrm>
            <a:off x="423264" y="1046483"/>
            <a:ext cx="11345471" cy="4891330"/>
          </a:xfrm>
        </p:spPr>
        <p:txBody>
          <a:bodyPr>
            <a:noAutofit/>
          </a:bodyPr>
          <a:lstStyle/>
          <a:p>
            <a:r>
              <a:rPr lang="en-US" sz="2000" u="sng" dirty="0">
                <a:latin typeface="Calibri" panose="020F0502020204030204" pitchFamily="34" charset="0"/>
                <a:cs typeface="Calibri" panose="020F0502020204030204" pitchFamily="34" charset="0"/>
              </a:rPr>
              <a:t>Phase 1 (1 to 14 days)</a:t>
            </a:r>
            <a:r>
              <a:rPr lang="en-US" sz="2000" dirty="0">
                <a:latin typeface="Calibri" panose="020F0502020204030204" pitchFamily="34" charset="0"/>
                <a:cs typeface="Calibri" panose="020F0502020204030204" pitchFamily="34" charset="0"/>
              </a:rPr>
              <a:t>:</a:t>
            </a:r>
          </a:p>
          <a:p>
            <a:pPr lvl="1"/>
            <a:r>
              <a:rPr lang="en-US" sz="1800" dirty="0">
                <a:latin typeface="Calibri" panose="020F0502020204030204" pitchFamily="34" charset="0"/>
                <a:cs typeface="Calibri" panose="020F0502020204030204" pitchFamily="34" charset="0"/>
              </a:rPr>
              <a:t>Description of efforts to mitigate risks of mutagenic impurities focused on Class 1, and Class 2 impurities and those in the cohort of concern as outlined in Section 7 should be included</a:t>
            </a:r>
          </a:p>
          <a:p>
            <a:r>
              <a:rPr lang="en-US" sz="2000" u="sng" dirty="0">
                <a:latin typeface="Calibri" panose="020F0502020204030204" pitchFamily="34" charset="0"/>
                <a:cs typeface="Calibri" panose="020F0502020204030204" pitchFamily="34" charset="0"/>
              </a:rPr>
              <a:t>Phase 1 (&gt; 14 days) and Phase 2a</a:t>
            </a:r>
            <a:r>
              <a:rPr lang="en-US" sz="2000" dirty="0">
                <a:latin typeface="Calibri" panose="020F0502020204030204" pitchFamily="34" charset="0"/>
                <a:cs typeface="Calibri" panose="020F0502020204030204" pitchFamily="34" charset="0"/>
              </a:rPr>
              <a:t>:</a:t>
            </a:r>
          </a:p>
          <a:p>
            <a:pPr lvl="1"/>
            <a:r>
              <a:rPr lang="en-US" sz="1800" dirty="0">
                <a:latin typeface="Calibri" panose="020F0502020204030204" pitchFamily="34" charset="0"/>
                <a:cs typeface="Calibri" panose="020F0502020204030204" pitchFamily="34" charset="0"/>
              </a:rPr>
              <a:t>Additionally, Class 3 impurities that require analytical controls should be included</a:t>
            </a:r>
          </a:p>
          <a:p>
            <a:r>
              <a:rPr lang="en-US" sz="2000" u="sng" dirty="0">
                <a:latin typeface="Calibri" panose="020F0502020204030204" pitchFamily="34" charset="0"/>
                <a:cs typeface="Calibri" panose="020F0502020204030204" pitchFamily="34" charset="0"/>
              </a:rPr>
              <a:t>Phase 2b and 3</a:t>
            </a:r>
            <a:r>
              <a:rPr lang="en-US" sz="2000" dirty="0">
                <a:latin typeface="Calibri" panose="020F0502020204030204" pitchFamily="34" charset="0"/>
                <a:cs typeface="Calibri" panose="020F0502020204030204" pitchFamily="34" charset="0"/>
              </a:rPr>
              <a:t>: </a:t>
            </a:r>
          </a:p>
          <a:p>
            <a:pPr lvl="1"/>
            <a:r>
              <a:rPr lang="en-US" sz="1800" dirty="0">
                <a:latin typeface="Calibri" panose="020F0502020204030204" pitchFamily="34" charset="0"/>
                <a:cs typeface="Calibri" panose="020F0502020204030204" pitchFamily="34" charset="0"/>
              </a:rPr>
              <a:t>A list of the impurities assessed by (Q)SAR should be included, </a:t>
            </a:r>
          </a:p>
          <a:p>
            <a:pPr lvl="1"/>
            <a:r>
              <a:rPr lang="en-US" sz="1800" dirty="0">
                <a:latin typeface="Calibri" panose="020F0502020204030204" pitchFamily="34" charset="0"/>
                <a:cs typeface="Calibri" panose="020F0502020204030204" pitchFamily="34" charset="0"/>
              </a:rPr>
              <a:t>Any Class 1, 2 or 3 actual and potential impurities should be described along with plans for control. </a:t>
            </a:r>
          </a:p>
          <a:p>
            <a:pPr lvl="1"/>
            <a:r>
              <a:rPr lang="en-US" sz="1800" dirty="0">
                <a:latin typeface="Calibri" panose="020F0502020204030204" pitchFamily="34" charset="0"/>
                <a:cs typeface="Calibri" panose="020F0502020204030204" pitchFamily="34" charset="0"/>
              </a:rPr>
              <a:t>The </a:t>
            </a:r>
            <a:r>
              <a:rPr lang="en-US" sz="1800" i="1" dirty="0">
                <a:latin typeface="Calibri" panose="020F0502020204030204" pitchFamily="34" charset="0"/>
                <a:cs typeface="Calibri" panose="020F0502020204030204" pitchFamily="34" charset="0"/>
              </a:rPr>
              <a:t>in silico </a:t>
            </a:r>
            <a:r>
              <a:rPr lang="en-US" sz="1800" dirty="0">
                <a:latin typeface="Calibri" panose="020F0502020204030204" pitchFamily="34" charset="0"/>
                <a:cs typeface="Calibri" panose="020F0502020204030204" pitchFamily="34" charset="0"/>
              </a:rPr>
              <a:t>(Q)SAR systems used to perform the assessments should be described. </a:t>
            </a:r>
          </a:p>
          <a:p>
            <a:pPr lvl="1"/>
            <a:r>
              <a:rPr lang="en-US" sz="1800" dirty="0">
                <a:latin typeface="Calibri" panose="020F0502020204030204" pitchFamily="34" charset="0"/>
                <a:cs typeface="Calibri" panose="020F0502020204030204" pitchFamily="34" charset="0"/>
              </a:rPr>
              <a:t>The results of bacterial mutagenicity tests of actual impurities should be reported.</a:t>
            </a:r>
          </a:p>
          <a:p>
            <a:r>
              <a:rPr lang="en-US" sz="2000" u="sng" dirty="0">
                <a:latin typeface="Calibri" panose="020F0502020204030204" pitchFamily="34" charset="0"/>
                <a:cs typeface="Calibri" panose="020F0502020204030204" pitchFamily="34" charset="0"/>
              </a:rPr>
              <a:t>Marketing Application</a:t>
            </a:r>
            <a:r>
              <a:rPr lang="en-US" sz="2000" dirty="0">
                <a:latin typeface="Calibri" panose="020F0502020204030204" pitchFamily="34" charset="0"/>
                <a:cs typeface="Calibri" panose="020F0502020204030204" pitchFamily="34" charset="0"/>
              </a:rPr>
              <a:t>:</a:t>
            </a:r>
          </a:p>
          <a:p>
            <a:pPr lvl="1"/>
            <a:r>
              <a:rPr lang="en-US" sz="1800" dirty="0">
                <a:latin typeface="Calibri" panose="020F0502020204030204" pitchFamily="34" charset="0"/>
                <a:cs typeface="Calibri" panose="020F0502020204030204" pitchFamily="34" charset="0"/>
              </a:rPr>
              <a:t>Results and description of (Q)SAR systems used and supporting information </a:t>
            </a:r>
          </a:p>
          <a:p>
            <a:pPr lvl="1"/>
            <a:r>
              <a:rPr lang="en-US" sz="1800" dirty="0">
                <a:latin typeface="Calibri" panose="020F0502020204030204" pitchFamily="34" charset="0"/>
                <a:cs typeface="Calibri" panose="020F0502020204030204" pitchFamily="34" charset="0"/>
              </a:rPr>
              <a:t>Ames mutagenicity study reports</a:t>
            </a:r>
          </a:p>
          <a:p>
            <a:pPr lvl="1"/>
            <a:r>
              <a:rPr lang="en-US" sz="1800" dirty="0">
                <a:latin typeface="Calibri" panose="020F0502020204030204" pitchFamily="34" charset="0"/>
                <a:cs typeface="Calibri" panose="020F0502020204030204" pitchFamily="34" charset="0"/>
              </a:rPr>
              <a:t>Justification for proposed specifications and approach to control (</a:t>
            </a:r>
            <a:r>
              <a:rPr lang="en-US" sz="1800" dirty="0" err="1">
                <a:latin typeface="Calibri" panose="020F0502020204030204" pitchFamily="34" charset="0"/>
                <a:cs typeface="Calibri" panose="020F0502020204030204" pitchFamily="34" charset="0"/>
              </a:rPr>
              <a:t>eg</a:t>
            </a:r>
            <a:r>
              <a:rPr lang="en-US" sz="1800" dirty="0">
                <a:latin typeface="Calibri" panose="020F0502020204030204" pitchFamily="34" charset="0"/>
                <a:cs typeface="Calibri" panose="020F0502020204030204" pitchFamily="34" charset="0"/>
              </a:rPr>
              <a:t>, purge factors)</a:t>
            </a:r>
          </a:p>
        </p:txBody>
      </p:sp>
    </p:spTree>
    <p:extLst>
      <p:ext uri="{BB962C8B-B14F-4D97-AF65-F5344CB8AC3E}">
        <p14:creationId xmlns:p14="http://schemas.microsoft.com/office/powerpoint/2010/main" val="10407016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A4B91-6EFD-9D9D-DC38-C095EB3F9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EEC60-5F64-46A2-7130-93E2B1EAC740}"/>
              </a:ext>
            </a:extLst>
          </p:cNvPr>
          <p:cNvSpPr>
            <a:spLocks noGrp="1"/>
          </p:cNvSpPr>
          <p:nvPr>
            <p:ph type="title"/>
          </p:nvPr>
        </p:nvSpPr>
        <p:spPr>
          <a:xfrm>
            <a:off x="335666" y="368537"/>
            <a:ext cx="7081135"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Nitrosamines – hot area since 2018</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C7ABA9D-2F5D-9019-9D4A-5F33E0EABAA2}"/>
              </a:ext>
            </a:extLst>
          </p:cNvPr>
          <p:cNvSpPr>
            <a:spLocks noGrp="1"/>
          </p:cNvSpPr>
          <p:nvPr>
            <p:ph idx="1"/>
          </p:nvPr>
        </p:nvSpPr>
        <p:spPr>
          <a:xfrm>
            <a:off x="335666" y="1740550"/>
            <a:ext cx="11030674" cy="4228449"/>
          </a:xfrm>
        </p:spPr>
        <p:txBody>
          <a:bodyPr>
            <a:noAutofit/>
          </a:bodyPr>
          <a:lstStyle/>
          <a:p>
            <a:pPr marL="292100" lvl="1" indent="-254000"/>
            <a:r>
              <a:rPr lang="en-US" b="1" dirty="0">
                <a:latin typeface="Calibri" panose="020F0502020204030204" pitchFamily="34" charset="0"/>
                <a:cs typeface="Calibri" panose="020F0502020204030204" pitchFamily="34" charset="0"/>
              </a:rPr>
              <a:t>ICH M7</a:t>
            </a:r>
            <a:r>
              <a:rPr lang="en-US" dirty="0">
                <a:latin typeface="Calibri" panose="020F0502020204030204" pitchFamily="34" charset="0"/>
                <a:cs typeface="Calibri" panose="020F0502020204030204" pitchFamily="34" charset="0"/>
              </a:rPr>
              <a:t>: Certain structural groups were identified to be of such </a:t>
            </a:r>
            <a:r>
              <a:rPr lang="en-US" b="1" dirty="0">
                <a:latin typeface="Calibri" panose="020F0502020204030204" pitchFamily="34" charset="0"/>
                <a:cs typeface="Calibri" panose="020F0502020204030204" pitchFamily="34" charset="0"/>
              </a:rPr>
              <a:t>high potency </a:t>
            </a:r>
            <a:r>
              <a:rPr lang="en-US" dirty="0">
                <a:latin typeface="Calibri" panose="020F0502020204030204" pitchFamily="34" charset="0"/>
                <a:cs typeface="Calibri" panose="020F0502020204030204" pitchFamily="34" charset="0"/>
              </a:rPr>
              <a:t>that intakes even below the TTC (1.5 ug/day) would theoretically be associated with a potential for a significant carcinogenic risk </a:t>
            </a:r>
          </a:p>
          <a:p>
            <a:pPr marL="292100" lvl="1" indent="-254000"/>
            <a:endParaRPr lang="en-US" dirty="0">
              <a:latin typeface="Calibri" panose="020F0502020204030204" pitchFamily="34" charset="0"/>
              <a:cs typeface="Calibri" panose="020F0502020204030204" pitchFamily="34" charset="0"/>
            </a:endParaRPr>
          </a:p>
          <a:p>
            <a:pPr marL="292100" lvl="1" indent="-254000"/>
            <a:r>
              <a:rPr lang="en-US" dirty="0">
                <a:latin typeface="Calibri" panose="020F0502020204030204" pitchFamily="34" charset="0"/>
                <a:cs typeface="Calibri" panose="020F0502020204030204" pitchFamily="34" charset="0"/>
              </a:rPr>
              <a:t>Referred to as the “cohort of concern”</a:t>
            </a:r>
          </a:p>
          <a:p>
            <a:pPr marL="692150" lvl="2" indent="-225425"/>
            <a:r>
              <a:rPr lang="en-US" sz="2400" dirty="0">
                <a:latin typeface="Calibri" panose="020F0502020204030204" pitchFamily="34" charset="0"/>
                <a:cs typeface="Calibri" panose="020F0502020204030204" pitchFamily="34" charset="0"/>
              </a:rPr>
              <a:t>comprises aflatoxin-like-, </a:t>
            </a:r>
            <a:r>
              <a:rPr lang="en-US" sz="2400" b="1" dirty="0">
                <a:latin typeface="Calibri" panose="020F0502020204030204" pitchFamily="34" charset="0"/>
                <a:cs typeface="Calibri" panose="020F0502020204030204" pitchFamily="34" charset="0"/>
              </a:rPr>
              <a:t>N-nitroso-,</a:t>
            </a:r>
            <a:r>
              <a:rPr lang="en-US" sz="2400" dirty="0">
                <a:latin typeface="Calibri" panose="020F0502020204030204" pitchFamily="34" charset="0"/>
                <a:cs typeface="Calibri" panose="020F0502020204030204" pitchFamily="34" charset="0"/>
              </a:rPr>
              <a:t> and alkyl-azoxy compounds </a:t>
            </a:r>
          </a:p>
          <a:p>
            <a:pPr marL="692150" lvl="2" indent="-225425"/>
            <a:r>
              <a:rPr lang="en-US" sz="2400" dirty="0">
                <a:latin typeface="Calibri" panose="020F0502020204030204" pitchFamily="34" charset="0"/>
                <a:cs typeface="Calibri" panose="020F0502020204030204" pitchFamily="34" charset="0"/>
              </a:rPr>
              <a:t>acceptable intakes for these </a:t>
            </a:r>
            <a:r>
              <a:rPr lang="en-US" sz="2400" b="1" dirty="0">
                <a:latin typeface="Calibri" panose="020F0502020204030204" pitchFamily="34" charset="0"/>
                <a:cs typeface="Calibri" panose="020F0502020204030204" pitchFamily="34" charset="0"/>
              </a:rPr>
              <a:t>high-potency carcinogens </a:t>
            </a:r>
            <a:r>
              <a:rPr lang="en-US" sz="2400" dirty="0">
                <a:latin typeface="Calibri" panose="020F0502020204030204" pitchFamily="34" charset="0"/>
                <a:cs typeface="Calibri" panose="020F0502020204030204" pitchFamily="34" charset="0"/>
              </a:rPr>
              <a:t>would likely be significantly lower than the acceptable intakes defined in this guideline</a:t>
            </a:r>
          </a:p>
          <a:p>
            <a:pPr marL="692150" lvl="2" indent="-225425"/>
            <a:r>
              <a:rPr lang="en-US" sz="2400" dirty="0">
                <a:latin typeface="Calibri" panose="020F0502020204030204" pitchFamily="34" charset="0"/>
                <a:cs typeface="Calibri" panose="020F0502020204030204" pitchFamily="34" charset="0"/>
              </a:rPr>
              <a:t>a </a:t>
            </a:r>
            <a:r>
              <a:rPr lang="en-US" sz="2400" b="1" dirty="0">
                <a:latin typeface="Calibri" panose="020F0502020204030204" pitchFamily="34" charset="0"/>
                <a:cs typeface="Calibri" panose="020F0502020204030204" pitchFamily="34" charset="0"/>
              </a:rPr>
              <a:t>case-by-case approach </a:t>
            </a:r>
            <a:r>
              <a:rPr lang="en-US" sz="2400" dirty="0">
                <a:latin typeface="Calibri" panose="020F0502020204030204" pitchFamily="34" charset="0"/>
                <a:cs typeface="Calibri" panose="020F0502020204030204" pitchFamily="34" charset="0"/>
              </a:rPr>
              <a:t>using e.g., carcinogenicity data from closely related structures, if available, should usually be developed to justify acceptable intakes for pharmaceutical development and marketed products</a:t>
            </a:r>
          </a:p>
          <a:p>
            <a:pPr>
              <a:lnSpc>
                <a:spcPct val="107000"/>
              </a:lnSpc>
              <a:spcBef>
                <a:spcPts val="0"/>
              </a:spcBef>
              <a:spcAft>
                <a:spcPts val="1067"/>
              </a:spcAft>
            </a:pPr>
            <a:endParaRPr lang="en-US" sz="3200" kern="1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DD2A078-FA31-2234-9EF5-6A247D83E696}"/>
              </a:ext>
            </a:extLst>
          </p:cNvPr>
          <p:cNvPicPr>
            <a:picLocks noChangeAspect="1"/>
          </p:cNvPicPr>
          <p:nvPr/>
        </p:nvPicPr>
        <p:blipFill>
          <a:blip r:embed="rId2"/>
          <a:stretch>
            <a:fillRect/>
          </a:stretch>
        </p:blipFill>
        <p:spPr>
          <a:xfrm>
            <a:off x="7742475" y="230857"/>
            <a:ext cx="1968500" cy="1231900"/>
          </a:xfrm>
          <a:prstGeom prst="rect">
            <a:avLst/>
          </a:prstGeom>
        </p:spPr>
      </p:pic>
    </p:spTree>
    <p:extLst>
      <p:ext uri="{BB962C8B-B14F-4D97-AF65-F5344CB8AC3E}">
        <p14:creationId xmlns:p14="http://schemas.microsoft.com/office/powerpoint/2010/main" val="2193545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11DE8-7E3D-F5AB-A08E-AEC83CB15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BA9B5-25E8-34E2-D7D5-E259B6CC8FD1}"/>
              </a:ext>
            </a:extLst>
          </p:cNvPr>
          <p:cNvSpPr>
            <a:spLocks noGrp="1"/>
          </p:cNvSpPr>
          <p:nvPr>
            <p:ph type="title"/>
          </p:nvPr>
        </p:nvSpPr>
        <p:spPr>
          <a:xfrm>
            <a:off x="517002" y="286713"/>
            <a:ext cx="11157996"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Nitrosamines - </a:t>
            </a:r>
            <a:r>
              <a:rPr lang="en-US" sz="3600" b="1" dirty="0">
                <a:latin typeface="Calibri" panose="020F0502020204030204" pitchFamily="34" charset="0"/>
                <a:cs typeface="Calibri" panose="020F0502020204030204" pitchFamily="34" charset="0"/>
              </a:rPr>
              <a:t>Risk Assessment Considerations</a:t>
            </a:r>
          </a:p>
        </p:txBody>
      </p:sp>
      <p:sp>
        <p:nvSpPr>
          <p:cNvPr id="3" name="Content Placeholder 2">
            <a:extLst>
              <a:ext uri="{FF2B5EF4-FFF2-40B4-BE49-F238E27FC236}">
                <a16:creationId xmlns:a16="http://schemas.microsoft.com/office/drawing/2014/main" id="{B9B96139-E824-3361-F52B-B2A71247F3AA}"/>
              </a:ext>
            </a:extLst>
          </p:cNvPr>
          <p:cNvSpPr>
            <a:spLocks noGrp="1"/>
          </p:cNvSpPr>
          <p:nvPr>
            <p:ph idx="1"/>
          </p:nvPr>
        </p:nvSpPr>
        <p:spPr>
          <a:xfrm>
            <a:off x="609600" y="1331089"/>
            <a:ext cx="10756740" cy="4409956"/>
          </a:xfrm>
        </p:spPr>
        <p:txBody>
          <a:bodyPr>
            <a:noAutofit/>
          </a:bodyPr>
          <a:lstStyle/>
          <a:p>
            <a:r>
              <a:rPr lang="en-US" sz="2400" b="1" dirty="0">
                <a:latin typeface="Calibri" panose="020F0502020204030204" pitchFamily="34" charset="0"/>
                <a:cs typeface="Calibri" panose="020F0502020204030204" pitchFamily="34" charset="0"/>
              </a:rPr>
              <a:t>Single or multiple nitrosamines detected </a:t>
            </a:r>
            <a:r>
              <a:rPr lang="en-US" sz="2400" b="1" dirty="0">
                <a:solidFill>
                  <a:srgbClr val="FF0000"/>
                </a:solidFill>
                <a:latin typeface="Calibri" panose="020F0502020204030204" pitchFamily="34" charset="0"/>
                <a:cs typeface="Calibri" panose="020F0502020204030204" pitchFamily="34" charset="0"/>
              </a:rPr>
              <a:t>in the drug product</a:t>
            </a:r>
            <a:endParaRPr lang="en-US" sz="2400" b="1" dirty="0">
              <a:latin typeface="Calibri" panose="020F0502020204030204" pitchFamily="34" charset="0"/>
              <a:cs typeface="Calibri" panose="020F0502020204030204" pitchFamily="34" charset="0"/>
            </a:endParaRPr>
          </a:p>
          <a:p>
            <a:pPr lvl="1"/>
            <a:r>
              <a:rPr lang="en-US" sz="2000" dirty="0">
                <a:latin typeface="Calibri" panose="020F0502020204030204" pitchFamily="34" charset="0"/>
                <a:cs typeface="Calibri" panose="020F0502020204030204" pitchFamily="34" charset="0"/>
              </a:rPr>
              <a:t>Analytical method sufficiently sensitive and validated</a:t>
            </a:r>
          </a:p>
          <a:p>
            <a:pPr lvl="1"/>
            <a:r>
              <a:rPr lang="en-US" sz="2000" dirty="0">
                <a:latin typeface="Calibri" panose="020F0502020204030204" pitchFamily="34" charset="0"/>
                <a:cs typeface="Calibri" panose="020F0502020204030204" pitchFamily="34" charset="0"/>
              </a:rPr>
              <a:t>Root cause investigation</a:t>
            </a:r>
          </a:p>
          <a:p>
            <a:pPr lvl="1"/>
            <a:r>
              <a:rPr lang="en-US" sz="2000" dirty="0">
                <a:latin typeface="Calibri" panose="020F0502020204030204" pitchFamily="34" charset="0"/>
                <a:cs typeface="Calibri" panose="020F0502020204030204" pitchFamily="34" charset="0"/>
              </a:rPr>
              <a:t>How many lots affected?</a:t>
            </a:r>
          </a:p>
          <a:p>
            <a:endParaRPr lang="en-US" sz="1600" dirty="0">
              <a:latin typeface="Calibri" panose="020F0502020204030204" pitchFamily="34" charset="0"/>
              <a:cs typeface="Calibri" panose="020F0502020204030204" pitchFamily="34" charset="0"/>
            </a:endParaRPr>
          </a:p>
          <a:p>
            <a:r>
              <a:rPr lang="en-US" sz="2400" b="1" dirty="0">
                <a:latin typeface="Calibri" panose="020F0502020204030204" pitchFamily="34" charset="0"/>
                <a:cs typeface="Calibri" panose="020F0502020204030204" pitchFamily="34" charset="0"/>
              </a:rPr>
              <a:t>What is the acceptable intake (AI) limit for the nitrosamine</a:t>
            </a:r>
            <a:r>
              <a:rPr lang="en-US" sz="2400" b="1" dirty="0">
                <a:solidFill>
                  <a:srgbClr val="FF0000"/>
                </a:solidFill>
                <a:latin typeface="Calibri" panose="020F0502020204030204" pitchFamily="34" charset="0"/>
                <a:cs typeface="Calibri" panose="020F0502020204030204" pitchFamily="34" charset="0"/>
              </a:rPr>
              <a:t> in the drug product</a:t>
            </a:r>
            <a:r>
              <a:rPr lang="en-US" sz="2400" b="1" dirty="0">
                <a:latin typeface="Calibri" panose="020F0502020204030204" pitchFamily="34" charset="0"/>
                <a:cs typeface="Calibri" panose="020F0502020204030204" pitchFamily="34" charset="0"/>
              </a:rPr>
              <a:t>?</a:t>
            </a:r>
          </a:p>
          <a:p>
            <a:pPr lvl="1"/>
            <a:r>
              <a:rPr lang="en-US" sz="2000" dirty="0">
                <a:latin typeface="Calibri" panose="020F0502020204030204" pitchFamily="34" charset="0"/>
                <a:cs typeface="Calibri" panose="020F0502020204030204" pitchFamily="34" charset="0"/>
              </a:rPr>
              <a:t>Availability of nonclinical data?</a:t>
            </a:r>
          </a:p>
          <a:p>
            <a:pPr lvl="1"/>
            <a:r>
              <a:rPr lang="en-US" sz="2000" dirty="0">
                <a:latin typeface="Calibri" panose="020F0502020204030204" pitchFamily="34" charset="0"/>
                <a:cs typeface="Calibri" panose="020F0502020204030204" pitchFamily="34" charset="0"/>
              </a:rPr>
              <a:t>Identification of appropriate surrogate compound </a:t>
            </a:r>
            <a:r>
              <a:rPr lang="en-US" sz="2000" dirty="0">
                <a:solidFill>
                  <a:srgbClr val="FF0000"/>
                </a:solidFill>
                <a:latin typeface="Calibri" panose="020F0502020204030204" pitchFamily="34" charset="0"/>
                <a:cs typeface="Calibri" panose="020F0502020204030204" pitchFamily="34" charset="0"/>
              </a:rPr>
              <a:t>to enable a read-across</a:t>
            </a:r>
          </a:p>
        </p:txBody>
      </p:sp>
    </p:spTree>
    <p:extLst>
      <p:ext uri="{BB962C8B-B14F-4D97-AF65-F5344CB8AC3E}">
        <p14:creationId xmlns:p14="http://schemas.microsoft.com/office/powerpoint/2010/main" val="42610314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6F4FF-24E2-41D1-B319-3654F7DCE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DCDCD-D150-DCA4-43A9-F7A32B8394A4}"/>
              </a:ext>
            </a:extLst>
          </p:cNvPr>
          <p:cNvSpPr>
            <a:spLocks noGrp="1"/>
          </p:cNvSpPr>
          <p:nvPr>
            <p:ph type="title"/>
          </p:nvPr>
        </p:nvSpPr>
        <p:spPr>
          <a:xfrm>
            <a:off x="625032" y="251988"/>
            <a:ext cx="11157996"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Nitrosamines - </a:t>
            </a:r>
            <a:r>
              <a:rPr lang="en-US" sz="3600" b="1" dirty="0">
                <a:latin typeface="Calibri" panose="020F0502020204030204" pitchFamily="34" charset="0"/>
                <a:cs typeface="Calibri" panose="020F0502020204030204" pitchFamily="34" charset="0"/>
              </a:rPr>
              <a:t>Risk Assessment Considerations</a:t>
            </a:r>
          </a:p>
        </p:txBody>
      </p:sp>
      <p:sp>
        <p:nvSpPr>
          <p:cNvPr id="3" name="Content Placeholder 2">
            <a:extLst>
              <a:ext uri="{FF2B5EF4-FFF2-40B4-BE49-F238E27FC236}">
                <a16:creationId xmlns:a16="http://schemas.microsoft.com/office/drawing/2014/main" id="{52ABADB0-046A-1C5E-312B-A1FB4D01E992}"/>
              </a:ext>
            </a:extLst>
          </p:cNvPr>
          <p:cNvSpPr>
            <a:spLocks noGrp="1"/>
          </p:cNvSpPr>
          <p:nvPr>
            <p:ph idx="1"/>
          </p:nvPr>
        </p:nvSpPr>
        <p:spPr>
          <a:xfrm>
            <a:off x="762000" y="1331089"/>
            <a:ext cx="10604340" cy="4409956"/>
          </a:xfrm>
        </p:spPr>
        <p:txBody>
          <a:bodyPr>
            <a:noAutofit/>
          </a:bodyPr>
          <a:lstStyle/>
          <a:p>
            <a:r>
              <a:rPr lang="en-US" sz="2400" b="1" dirty="0">
                <a:latin typeface="Calibri" panose="020F0502020204030204" pitchFamily="34" charset="0"/>
                <a:cs typeface="Calibri" panose="020F0502020204030204" pitchFamily="34" charset="0"/>
              </a:rPr>
              <a:t>Medical necessity of approved drug product</a:t>
            </a:r>
          </a:p>
          <a:p>
            <a:pPr lvl="1"/>
            <a:r>
              <a:rPr lang="en-US" sz="2000" dirty="0">
                <a:latin typeface="Calibri" panose="020F0502020204030204" pitchFamily="34" charset="0"/>
                <a:cs typeface="Calibri" panose="020F0502020204030204" pitchFamily="34" charset="0"/>
              </a:rPr>
              <a:t>Are batch levels &gt; AI limit</a:t>
            </a:r>
          </a:p>
          <a:p>
            <a:pPr lvl="1"/>
            <a:r>
              <a:rPr lang="en-US" sz="2000" dirty="0">
                <a:latin typeface="Calibri" panose="020F0502020204030204" pitchFamily="34" charset="0"/>
                <a:cs typeface="Calibri" panose="020F0502020204030204" pitchFamily="34" charset="0"/>
              </a:rPr>
              <a:t>Impact of drug recall on potential drug shortage</a:t>
            </a:r>
          </a:p>
          <a:p>
            <a:pPr lvl="1"/>
            <a:r>
              <a:rPr lang="en-US" sz="2000" dirty="0">
                <a:latin typeface="Calibri" panose="020F0502020204030204" pitchFamily="34" charset="0"/>
                <a:cs typeface="Calibri" panose="020F0502020204030204" pitchFamily="34" charset="0"/>
              </a:rPr>
              <a:t>Availability of therapeutic alternatives</a:t>
            </a:r>
          </a:p>
          <a:p>
            <a:pPr lvl="1"/>
            <a:endParaRPr lang="en-US" sz="1600" dirty="0">
              <a:latin typeface="Calibri" panose="020F0502020204030204" pitchFamily="34" charset="0"/>
              <a:cs typeface="Calibri" panose="020F0502020204030204" pitchFamily="34" charset="0"/>
            </a:endParaRPr>
          </a:p>
          <a:p>
            <a:r>
              <a:rPr lang="en-US" sz="2400" b="1" dirty="0">
                <a:latin typeface="Calibri" panose="020F0502020204030204" pitchFamily="34" charset="0"/>
                <a:cs typeface="Calibri" panose="020F0502020204030204" pitchFamily="34" charset="0"/>
              </a:rPr>
              <a:t>Is Regulatory Discretion warranted? If so, to what level?</a:t>
            </a:r>
          </a:p>
        </p:txBody>
      </p:sp>
    </p:spTree>
    <p:extLst>
      <p:ext uri="{BB962C8B-B14F-4D97-AF65-F5344CB8AC3E}">
        <p14:creationId xmlns:p14="http://schemas.microsoft.com/office/powerpoint/2010/main" val="27084813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0FE14-E5BE-2BC7-59F7-779F7C661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B872F-8035-4835-2DA4-6F351467E4B3}"/>
              </a:ext>
            </a:extLst>
          </p:cNvPr>
          <p:cNvSpPr>
            <a:spLocks noGrp="1"/>
          </p:cNvSpPr>
          <p:nvPr>
            <p:ph type="title"/>
          </p:nvPr>
        </p:nvSpPr>
        <p:spPr>
          <a:xfrm>
            <a:off x="335665" y="89943"/>
            <a:ext cx="11157996"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Nitrosamines - </a:t>
            </a:r>
            <a:r>
              <a:rPr lang="en-US" sz="3600" b="1" dirty="0">
                <a:latin typeface="Calibri" panose="020F0502020204030204" pitchFamily="34" charset="0"/>
                <a:cs typeface="Calibri" panose="020F0502020204030204" pitchFamily="34" charset="0"/>
              </a:rPr>
              <a:t>Risk (Safety) Assessment Considerations</a:t>
            </a:r>
          </a:p>
        </p:txBody>
      </p:sp>
      <p:sp>
        <p:nvSpPr>
          <p:cNvPr id="3" name="Content Placeholder 2">
            <a:extLst>
              <a:ext uri="{FF2B5EF4-FFF2-40B4-BE49-F238E27FC236}">
                <a16:creationId xmlns:a16="http://schemas.microsoft.com/office/drawing/2014/main" id="{7DEEF8EE-9AC9-054A-29F8-DD92F06BD898}"/>
              </a:ext>
            </a:extLst>
          </p:cNvPr>
          <p:cNvSpPr>
            <a:spLocks noGrp="1"/>
          </p:cNvSpPr>
          <p:nvPr>
            <p:ph idx="1"/>
          </p:nvPr>
        </p:nvSpPr>
        <p:spPr>
          <a:xfrm>
            <a:off x="335666" y="1331089"/>
            <a:ext cx="11030674" cy="4409956"/>
          </a:xfrm>
        </p:spPr>
        <p:txBody>
          <a:bodyPr>
            <a:noAutofit/>
          </a:bodyPr>
          <a:lstStyle/>
          <a:p>
            <a:r>
              <a:rPr lang="en-US" sz="2400" dirty="0">
                <a:latin typeface="Calibri" panose="020F0502020204030204" pitchFamily="34" charset="0"/>
                <a:cs typeface="Calibri" panose="020F0502020204030204" pitchFamily="34" charset="0"/>
              </a:rPr>
              <a:t>Initial focus primarily on specific compound assessment or read across assessments to “robustly” tested nitrosamines (NDMA, NDEA, NPIP)</a:t>
            </a:r>
          </a:p>
          <a:p>
            <a:pPr lvl="1"/>
            <a:r>
              <a:rPr lang="en-US" dirty="0">
                <a:latin typeface="Calibri" panose="020F0502020204030204" pitchFamily="34" charset="0"/>
                <a:cs typeface="Calibri" panose="020F0502020204030204" pitchFamily="34" charset="0"/>
              </a:rPr>
              <a:t>Acceptable Intake determination for a given NA - time consuming </a:t>
            </a:r>
          </a:p>
          <a:p>
            <a:pPr lvl="2"/>
            <a:r>
              <a:rPr lang="en-US" dirty="0">
                <a:latin typeface="Calibri" panose="020F0502020204030204" pitchFamily="34" charset="0"/>
                <a:cs typeface="Calibri" panose="020F0502020204030204" pitchFamily="34" charset="0"/>
              </a:rPr>
              <a:t>Internal Agency assessment</a:t>
            </a:r>
          </a:p>
          <a:p>
            <a:pPr lvl="2"/>
            <a:r>
              <a:rPr lang="en-US" dirty="0">
                <a:latin typeface="Calibri" panose="020F0502020204030204" pitchFamily="34" charset="0"/>
                <a:cs typeface="Calibri" panose="020F0502020204030204" pitchFamily="34" charset="0"/>
              </a:rPr>
              <a:t>Discussion with other agencies (NITWG) to achieve harmonization</a:t>
            </a:r>
          </a:p>
          <a:p>
            <a:pPr lvl="1"/>
            <a:r>
              <a:rPr lang="en-US" dirty="0">
                <a:latin typeface="Calibri" panose="020F0502020204030204" pitchFamily="34" charset="0"/>
                <a:cs typeface="Calibri" panose="020F0502020204030204" pitchFamily="34" charset="0"/>
              </a:rPr>
              <a:t>Relatively few robustly tested options</a:t>
            </a:r>
          </a:p>
          <a:p>
            <a:pPr lvl="1"/>
            <a:r>
              <a:rPr lang="en-US" dirty="0">
                <a:latin typeface="Calibri" panose="020F0502020204030204" pitchFamily="34" charset="0"/>
                <a:cs typeface="Calibri" panose="020F0502020204030204" pitchFamily="34" charset="0"/>
              </a:rPr>
              <a:t>Most AI’s limits defaulted to NDEA or NDMA with some exceptions (</a:t>
            </a: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NPIP)</a:t>
            </a:r>
          </a:p>
          <a:p>
            <a:pPr lvl="1"/>
            <a:r>
              <a:rPr lang="en-US" dirty="0">
                <a:latin typeface="Calibri" panose="020F0502020204030204" pitchFamily="34" charset="0"/>
                <a:cs typeface="Calibri" panose="020F0502020204030204" pitchFamily="34" charset="0"/>
              </a:rPr>
              <a:t>Eventual “default” limit of 18-26.5 ng/day for NAs/Nitrosamine Drug Substance-Related Impurities (NDSRIs) with inadequate supporting data</a:t>
            </a:r>
          </a:p>
        </p:txBody>
      </p:sp>
    </p:spTree>
    <p:extLst>
      <p:ext uri="{BB962C8B-B14F-4D97-AF65-F5344CB8AC3E}">
        <p14:creationId xmlns:p14="http://schemas.microsoft.com/office/powerpoint/2010/main" val="2247137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3E979-BB23-9AF7-05E1-DE76A5711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4C8B4-8D19-6F26-3C3E-87DFD3C83B92}"/>
              </a:ext>
            </a:extLst>
          </p:cNvPr>
          <p:cNvSpPr txBox="1">
            <a:spLocks/>
          </p:cNvSpPr>
          <p:nvPr/>
        </p:nvSpPr>
        <p:spPr>
          <a:xfrm>
            <a:off x="482600" y="334301"/>
            <a:ext cx="11226800" cy="9436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54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227E75C-BD1D-FD97-9E1F-21D92BDF7FA9}"/>
              </a:ext>
            </a:extLst>
          </p:cNvPr>
          <p:cNvSpPr txBox="1">
            <a:spLocks/>
          </p:cNvSpPr>
          <p:nvPr/>
        </p:nvSpPr>
        <p:spPr>
          <a:xfrm>
            <a:off x="936434" y="1355075"/>
            <a:ext cx="10664326" cy="44177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E2E4E5C-669E-1204-F1BE-0E54BCF2CEA2}"/>
              </a:ext>
            </a:extLst>
          </p:cNvPr>
          <p:cNvPicPr>
            <a:picLocks noChangeAspect="1"/>
          </p:cNvPicPr>
          <p:nvPr/>
        </p:nvPicPr>
        <p:blipFill>
          <a:blip r:embed="rId2"/>
          <a:stretch>
            <a:fillRect/>
          </a:stretch>
        </p:blipFill>
        <p:spPr>
          <a:xfrm>
            <a:off x="812239" y="1680576"/>
            <a:ext cx="6281898" cy="3867820"/>
          </a:xfrm>
          <a:prstGeom prst="rect">
            <a:avLst/>
          </a:prstGeom>
        </p:spPr>
      </p:pic>
      <p:sp>
        <p:nvSpPr>
          <p:cNvPr id="8" name="TextBox 7">
            <a:extLst>
              <a:ext uri="{FF2B5EF4-FFF2-40B4-BE49-F238E27FC236}">
                <a16:creationId xmlns:a16="http://schemas.microsoft.com/office/drawing/2014/main" id="{84FF4723-68C7-1FE7-AD08-9B3440F17A90}"/>
              </a:ext>
            </a:extLst>
          </p:cNvPr>
          <p:cNvSpPr txBox="1"/>
          <p:nvPr/>
        </p:nvSpPr>
        <p:spPr>
          <a:xfrm>
            <a:off x="936434" y="155443"/>
            <a:ext cx="10263556" cy="1200329"/>
          </a:xfrm>
          <a:prstGeom prst="rect">
            <a:avLst/>
          </a:prstGeom>
          <a:noFill/>
        </p:spPr>
        <p:txBody>
          <a:bodyPr wrap="square">
            <a:spAutoFit/>
          </a:bodyPr>
          <a:lstStyle/>
          <a:p>
            <a:pPr algn="ctr"/>
            <a:r>
              <a:rPr lang="en-US" sz="3600" b="1" dirty="0">
                <a:solidFill>
                  <a:schemeClr val="tx1"/>
                </a:solidFill>
                <a:latin typeface="Calibri" panose="020F0502020204030204" pitchFamily="34" charset="0"/>
                <a:cs typeface="Calibri" panose="020F0502020204030204" pitchFamily="34" charset="0"/>
              </a:rPr>
              <a:t>FDA published NDSRI Guidance and associated website in 2023 – periodically updated</a:t>
            </a:r>
            <a:endParaRPr lang="en-US" sz="3600" b="1"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ACD8F7E-2F8C-F348-7603-512CC81DABAF}"/>
              </a:ext>
            </a:extLst>
          </p:cNvPr>
          <p:cNvSpPr txBox="1"/>
          <p:nvPr/>
        </p:nvSpPr>
        <p:spPr>
          <a:xfrm>
            <a:off x="6921641" y="4717399"/>
            <a:ext cx="5157890" cy="830997"/>
          </a:xfrm>
          <a:prstGeom prst="rect">
            <a:avLst/>
          </a:prstGeom>
          <a:noFill/>
          <a:ln w="12700">
            <a:solidFill>
              <a:schemeClr val="accent1"/>
            </a:solidFill>
          </a:ln>
        </p:spPr>
        <p:txBody>
          <a:bodyPr wrap="square">
            <a:spAutoFit/>
          </a:bodyPr>
          <a:lstStyle/>
          <a:p>
            <a:r>
              <a:rPr lang="en-US" sz="1600" dirty="0">
                <a:solidFill>
                  <a:schemeClr val="accent1"/>
                </a:solidFill>
              </a:rPr>
              <a:t>https://</a:t>
            </a:r>
            <a:r>
              <a:rPr lang="en-US" sz="1600" dirty="0" err="1">
                <a:solidFill>
                  <a:schemeClr val="accent1"/>
                </a:solidFill>
              </a:rPr>
              <a:t>www.fda.gov</a:t>
            </a:r>
            <a:r>
              <a:rPr lang="en-US" sz="1600" dirty="0">
                <a:solidFill>
                  <a:schemeClr val="accent1"/>
                </a:solidFill>
              </a:rPr>
              <a:t>/regulatory-information/search-</a:t>
            </a:r>
            <a:r>
              <a:rPr lang="en-US" sz="1600" dirty="0" err="1">
                <a:solidFill>
                  <a:schemeClr val="accent1"/>
                </a:solidFill>
              </a:rPr>
              <a:t>fda</a:t>
            </a:r>
            <a:r>
              <a:rPr lang="en-US" sz="1600" dirty="0">
                <a:solidFill>
                  <a:schemeClr val="accent1"/>
                </a:solidFill>
              </a:rPr>
              <a:t>-guidance-documents/</a:t>
            </a:r>
            <a:r>
              <a:rPr lang="en-US" sz="1600" dirty="0" err="1">
                <a:solidFill>
                  <a:schemeClr val="accent1"/>
                </a:solidFill>
              </a:rPr>
              <a:t>cder</a:t>
            </a:r>
            <a:r>
              <a:rPr lang="en-US" sz="1600" dirty="0">
                <a:solidFill>
                  <a:schemeClr val="accent1"/>
                </a:solidFill>
              </a:rPr>
              <a:t>-nitrosamine-impurity-acceptable-intake-limits</a:t>
            </a:r>
          </a:p>
        </p:txBody>
      </p:sp>
    </p:spTree>
    <p:extLst>
      <p:ext uri="{BB962C8B-B14F-4D97-AF65-F5344CB8AC3E}">
        <p14:creationId xmlns:p14="http://schemas.microsoft.com/office/powerpoint/2010/main" val="2087072355"/>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417ED-D21F-3E50-58FF-842FE66AE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E1EE4-B213-854F-811A-F7AC04E1AE4E}"/>
              </a:ext>
            </a:extLst>
          </p:cNvPr>
          <p:cNvSpPr txBox="1">
            <a:spLocks/>
          </p:cNvSpPr>
          <p:nvPr/>
        </p:nvSpPr>
        <p:spPr>
          <a:xfrm>
            <a:off x="482600" y="334301"/>
            <a:ext cx="11226800" cy="9436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54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815C362-14B3-5765-C9F2-C22B2B855C8F}"/>
              </a:ext>
            </a:extLst>
          </p:cNvPr>
          <p:cNvSpPr txBox="1">
            <a:spLocks/>
          </p:cNvSpPr>
          <p:nvPr/>
        </p:nvSpPr>
        <p:spPr>
          <a:xfrm>
            <a:off x="936434" y="1355075"/>
            <a:ext cx="10664326" cy="44177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C36C62A-CCC9-40CD-5DE0-CB28A7C7B45C}"/>
              </a:ext>
            </a:extLst>
          </p:cNvPr>
          <p:cNvPicPr>
            <a:picLocks noChangeAspect="1"/>
          </p:cNvPicPr>
          <p:nvPr/>
        </p:nvPicPr>
        <p:blipFill>
          <a:blip r:embed="rId3"/>
          <a:stretch>
            <a:fillRect/>
          </a:stretch>
        </p:blipFill>
        <p:spPr>
          <a:xfrm>
            <a:off x="6116512" y="0"/>
            <a:ext cx="5911644" cy="6073025"/>
          </a:xfrm>
          <a:prstGeom prst="rect">
            <a:avLst/>
          </a:prstGeom>
        </p:spPr>
      </p:pic>
      <p:sp>
        <p:nvSpPr>
          <p:cNvPr id="7" name="TextBox 6">
            <a:extLst>
              <a:ext uri="{FF2B5EF4-FFF2-40B4-BE49-F238E27FC236}">
                <a16:creationId xmlns:a16="http://schemas.microsoft.com/office/drawing/2014/main" id="{2FFAEE1C-0EA8-28D2-EDB4-473E965B721A}"/>
              </a:ext>
            </a:extLst>
          </p:cNvPr>
          <p:cNvSpPr txBox="1"/>
          <p:nvPr/>
        </p:nvSpPr>
        <p:spPr>
          <a:xfrm>
            <a:off x="354762" y="1543566"/>
            <a:ext cx="5334354" cy="3416320"/>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Based on activating and deactivating structural features</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Carcinogenic Potency Category Approach (CPCA) is a </a:t>
            </a:r>
            <a:r>
              <a:rPr lang="en-US" sz="2400" b="1" dirty="0">
                <a:latin typeface="Calibri" panose="020F0502020204030204" pitchFamily="34" charset="0"/>
                <a:cs typeface="Calibri" panose="020F0502020204030204" pitchFamily="34" charset="0"/>
              </a:rPr>
              <a:t>conservative approach</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The science is </a:t>
            </a:r>
            <a:r>
              <a:rPr lang="en-US" sz="2400" b="1" dirty="0">
                <a:latin typeface="Calibri" panose="020F0502020204030204" pitchFamily="34" charset="0"/>
                <a:cs typeface="Calibri" panose="020F0502020204030204" pitchFamily="34" charset="0"/>
              </a:rPr>
              <a:t>evolving</a:t>
            </a:r>
          </a:p>
          <a:p>
            <a:pPr marL="285750" indent="-285750">
              <a:buFont typeface="Arial" panose="020B0604020202020204" pitchFamily="34" charset="0"/>
              <a:buChar char="•"/>
            </a:pPr>
            <a:r>
              <a:rPr lang="en-US" sz="2400" b="1" dirty="0">
                <a:latin typeface="Calibri" panose="020F0502020204030204" pitchFamily="34" charset="0"/>
                <a:cs typeface="Calibri" panose="020F0502020204030204" pitchFamily="34" charset="0"/>
              </a:rPr>
              <a:t>May change over time </a:t>
            </a:r>
            <a:r>
              <a:rPr lang="en-US" sz="2400" dirty="0">
                <a:latin typeface="Calibri" panose="020F0502020204030204" pitchFamily="34" charset="0"/>
                <a:cs typeface="Calibri" panose="020F0502020204030204" pitchFamily="34" charset="0"/>
              </a:rPr>
              <a:t>as science advances and additional data are generated</a:t>
            </a:r>
          </a:p>
        </p:txBody>
      </p:sp>
      <p:sp>
        <p:nvSpPr>
          <p:cNvPr id="9" name="TextBox 8">
            <a:extLst>
              <a:ext uri="{FF2B5EF4-FFF2-40B4-BE49-F238E27FC236}">
                <a16:creationId xmlns:a16="http://schemas.microsoft.com/office/drawing/2014/main" id="{E7DF6D33-1AA4-2BC4-1681-170ADCECB1CE}"/>
              </a:ext>
            </a:extLst>
          </p:cNvPr>
          <p:cNvSpPr txBox="1"/>
          <p:nvPr/>
        </p:nvSpPr>
        <p:spPr>
          <a:xfrm>
            <a:off x="264327" y="254027"/>
            <a:ext cx="5664200" cy="646331"/>
          </a:xfrm>
          <a:prstGeom prst="rect">
            <a:avLst/>
          </a:prstGeom>
          <a:noFill/>
        </p:spPr>
        <p:txBody>
          <a:bodyPr wrap="square">
            <a:spAutoFit/>
          </a:bodyPr>
          <a:lstStyle/>
          <a:p>
            <a:pPr algn="ctr"/>
            <a:r>
              <a:rPr lang="en-US" sz="3600" b="1" dirty="0">
                <a:solidFill>
                  <a:schemeClr val="tx1"/>
                </a:solidFill>
                <a:latin typeface="Calibri" panose="020F0502020204030204" pitchFamily="34" charset="0"/>
                <a:cs typeface="Calibri" panose="020F0502020204030204" pitchFamily="34" charset="0"/>
              </a:rPr>
              <a:t>Introduction of the CPCA</a:t>
            </a:r>
            <a:endParaRPr lang="en-US" sz="3600" b="1"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4808CC1-8479-C392-9E9D-5035EF6B3ED7}"/>
              </a:ext>
            </a:extLst>
          </p:cNvPr>
          <p:cNvSpPr txBox="1"/>
          <p:nvPr/>
        </p:nvSpPr>
        <p:spPr>
          <a:xfrm>
            <a:off x="3078866" y="5368934"/>
            <a:ext cx="2981741" cy="369332"/>
          </a:xfrm>
          <a:prstGeom prst="rect">
            <a:avLst/>
          </a:prstGeom>
          <a:noFill/>
          <a:ln w="12700">
            <a:solidFill>
              <a:schemeClr val="accent1"/>
            </a:solidFill>
          </a:ln>
        </p:spPr>
        <p:txBody>
          <a:bodyPr wrap="square" rtlCol="0">
            <a:spAutoFit/>
          </a:bodyPr>
          <a:lstStyle/>
          <a:p>
            <a:r>
              <a:rPr lang="en-US" b="1" dirty="0"/>
              <a:t>FDA NDSRI Guidance, 2023</a:t>
            </a:r>
          </a:p>
        </p:txBody>
      </p:sp>
    </p:spTree>
    <p:extLst>
      <p:ext uri="{BB962C8B-B14F-4D97-AF65-F5344CB8AC3E}">
        <p14:creationId xmlns:p14="http://schemas.microsoft.com/office/powerpoint/2010/main" val="152524001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CFAED-30A4-95B7-B9AF-E53FE0DF5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A6ACA-BA2B-9698-59EB-653A3BE4164E}"/>
              </a:ext>
            </a:extLst>
          </p:cNvPr>
          <p:cNvSpPr txBox="1">
            <a:spLocks/>
          </p:cNvSpPr>
          <p:nvPr/>
        </p:nvSpPr>
        <p:spPr>
          <a:xfrm>
            <a:off x="482600" y="223769"/>
            <a:ext cx="11226800" cy="7668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tx1"/>
                </a:solidFill>
                <a:latin typeface="Calibri" panose="020F0502020204030204" pitchFamily="34" charset="0"/>
                <a:cs typeface="Calibri" panose="020F0502020204030204" pitchFamily="34" charset="0"/>
              </a:rPr>
              <a:t>Determination of alternative AI limits outside of the CPCA</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DBF0615-29A2-F412-BC6C-E97DF0A77290}"/>
              </a:ext>
            </a:extLst>
          </p:cNvPr>
          <p:cNvSpPr txBox="1">
            <a:spLocks/>
          </p:cNvSpPr>
          <p:nvPr/>
        </p:nvSpPr>
        <p:spPr>
          <a:xfrm>
            <a:off x="763837" y="990601"/>
            <a:ext cx="10664326" cy="4368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cs typeface="Calibri" panose="020F0502020204030204" pitchFamily="34" charset="0"/>
              </a:rPr>
              <a:t>Compound-specific (not common)</a:t>
            </a:r>
          </a:p>
          <a:p>
            <a:r>
              <a:rPr lang="en-US" dirty="0">
                <a:latin typeface="Calibri" panose="020F0502020204030204" pitchFamily="34" charset="0"/>
                <a:cs typeface="Calibri" panose="020F0502020204030204" pitchFamily="34" charset="0"/>
              </a:rPr>
              <a:t>Testing-based – see following slides</a:t>
            </a:r>
          </a:p>
          <a:p>
            <a:r>
              <a:rPr lang="en-US" dirty="0">
                <a:latin typeface="Calibri" panose="020F0502020204030204" pitchFamily="34" charset="0"/>
                <a:cs typeface="Calibri" panose="020F0502020204030204" pitchFamily="34" charset="0"/>
              </a:rPr>
              <a:t>Read across (surrogate) analysis</a:t>
            </a:r>
          </a:p>
          <a:p>
            <a:pPr lvl="1"/>
            <a:r>
              <a:rPr lang="en-US" dirty="0">
                <a:latin typeface="Calibri" panose="020F0502020204030204" pitchFamily="34" charset="0"/>
                <a:cs typeface="Calibri" panose="020F0502020204030204" pitchFamily="34" charset="0"/>
              </a:rPr>
              <a:t>time consuming and likely supports increasing only within range of one CPCA category to another</a:t>
            </a:r>
          </a:p>
          <a:p>
            <a:endParaRPr lang="en-US" sz="24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Regulatory activities involve some prioritization of efforts</a:t>
            </a:r>
          </a:p>
          <a:p>
            <a:pPr lvl="1"/>
            <a:r>
              <a:rPr lang="en-US" dirty="0">
                <a:latin typeface="Calibri" panose="020F0502020204030204" pitchFamily="34" charset="0"/>
                <a:cs typeface="Calibri" panose="020F0502020204030204" pitchFamily="34" charset="0"/>
              </a:rPr>
              <a:t>Consider observed levels in drug product</a:t>
            </a:r>
          </a:p>
          <a:p>
            <a:pPr lvl="1"/>
            <a:r>
              <a:rPr lang="en-US" dirty="0">
                <a:latin typeface="Calibri" panose="020F0502020204030204" pitchFamily="34" charset="0"/>
                <a:cs typeface="Calibri" panose="020F0502020204030204" pitchFamily="34" charset="0"/>
              </a:rPr>
              <a:t>If CPCA provides adequate coverage, consideration of alternative AI limits likely a reduced prioritization</a:t>
            </a:r>
          </a:p>
        </p:txBody>
      </p:sp>
    </p:spTree>
    <p:extLst>
      <p:ext uri="{BB962C8B-B14F-4D97-AF65-F5344CB8AC3E}">
        <p14:creationId xmlns:p14="http://schemas.microsoft.com/office/powerpoint/2010/main" val="2960570776"/>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09430-4308-1B7E-4F98-345F3DEB6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61D2A-501D-3005-065A-1167A96A1925}"/>
              </a:ext>
            </a:extLst>
          </p:cNvPr>
          <p:cNvSpPr txBox="1">
            <a:spLocks/>
          </p:cNvSpPr>
          <p:nvPr/>
        </p:nvSpPr>
        <p:spPr>
          <a:xfrm>
            <a:off x="482600" y="289166"/>
            <a:ext cx="11226800" cy="71230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tx1"/>
                </a:solidFill>
                <a:latin typeface="Calibri" panose="020F0502020204030204" pitchFamily="34" charset="0"/>
                <a:cs typeface="Calibri" panose="020F0502020204030204" pitchFamily="34" charset="0"/>
              </a:rPr>
              <a:t>Testing-based strategy</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F93CE8CD-F3F7-9721-F910-79D9B470545C}"/>
              </a:ext>
            </a:extLst>
          </p:cNvPr>
          <p:cNvSpPr txBox="1">
            <a:spLocks/>
          </p:cNvSpPr>
          <p:nvPr/>
        </p:nvSpPr>
        <p:spPr>
          <a:xfrm>
            <a:off x="482600" y="1457011"/>
            <a:ext cx="11077967" cy="3637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u="sng" dirty="0">
                <a:latin typeface="Calibri" panose="020F0502020204030204" pitchFamily="34" charset="0"/>
                <a:cs typeface="Calibri" panose="020F0502020204030204" pitchFamily="34" charset="0"/>
              </a:rPr>
              <a:t>Negative testing results?</a:t>
            </a:r>
          </a:p>
          <a:p>
            <a:r>
              <a:rPr lang="en-US" sz="2400" b="1" dirty="0">
                <a:latin typeface="Calibri" panose="020F0502020204030204" pitchFamily="34" charset="0"/>
                <a:cs typeface="Calibri" panose="020F0502020204030204" pitchFamily="34" charset="0"/>
              </a:rPr>
              <a:t>For proposal to support up to 1500 ng/day</a:t>
            </a:r>
          </a:p>
          <a:p>
            <a:pPr lvl="1"/>
            <a:r>
              <a:rPr lang="en-US" sz="2200" dirty="0">
                <a:latin typeface="Calibri" panose="020F0502020204030204" pitchFamily="34" charset="0"/>
                <a:cs typeface="Calibri" panose="020F0502020204030204" pitchFamily="34" charset="0"/>
              </a:rPr>
              <a:t>In US and other regions: negative Enhanced Ames Test (EAT)</a:t>
            </a:r>
          </a:p>
          <a:p>
            <a:pPr lvl="1"/>
            <a:r>
              <a:rPr lang="en-US" sz="2200" dirty="0">
                <a:latin typeface="Calibri" panose="020F0502020204030204" pitchFamily="34" charset="0"/>
                <a:cs typeface="Calibri" panose="020F0502020204030204" pitchFamily="34" charset="0"/>
              </a:rPr>
              <a:t>Additionally in US: in vitro metabolism data and mammalian cell assay</a:t>
            </a:r>
          </a:p>
          <a:p>
            <a:pPr lvl="2"/>
            <a:r>
              <a:rPr lang="en-US" sz="2200" dirty="0">
                <a:latin typeface="Calibri" panose="020F0502020204030204" pitchFamily="34" charset="0"/>
                <a:cs typeface="Calibri" panose="020F0502020204030204" pitchFamily="34" charset="0"/>
              </a:rPr>
              <a:t>Potential for future modification with publication of EAT study results</a:t>
            </a:r>
          </a:p>
          <a:p>
            <a:pPr lvl="2"/>
            <a:endParaRPr lang="en-US" sz="2200" dirty="0">
              <a:latin typeface="Calibri" panose="020F0502020204030204" pitchFamily="34" charset="0"/>
              <a:cs typeface="Calibri" panose="020F0502020204030204" pitchFamily="34" charset="0"/>
            </a:endParaRPr>
          </a:p>
          <a:p>
            <a:r>
              <a:rPr lang="en-US" sz="2400" b="1" dirty="0">
                <a:latin typeface="Calibri" panose="020F0502020204030204" pitchFamily="34" charset="0"/>
                <a:cs typeface="Calibri" panose="020F0502020204030204" pitchFamily="34" charset="0"/>
              </a:rPr>
              <a:t>To support AI limits &gt; 1500 ng/day</a:t>
            </a:r>
          </a:p>
          <a:p>
            <a:pPr lvl="1"/>
            <a:r>
              <a:rPr lang="en-US" sz="2200" dirty="0">
                <a:latin typeface="Calibri" panose="020F0502020204030204" pitchFamily="34" charset="0"/>
                <a:cs typeface="Calibri" panose="020F0502020204030204" pitchFamily="34" charset="0"/>
              </a:rPr>
              <a:t>Negative transgenic rodent mutation assay (e.g., Big Blue, </a:t>
            </a:r>
            <a:r>
              <a:rPr lang="en-US" sz="2200" dirty="0" err="1">
                <a:latin typeface="Calibri" panose="020F0502020204030204" pitchFamily="34" charset="0"/>
                <a:cs typeface="Calibri" panose="020F0502020204030204" pitchFamily="34" charset="0"/>
              </a:rPr>
              <a:t>MutaMouse</a:t>
            </a:r>
            <a:r>
              <a:rPr lang="en-US" sz="2200" dirty="0">
                <a:latin typeface="Calibri" panose="020F0502020204030204" pitchFamily="34" charset="0"/>
                <a:cs typeface="Calibri" panose="020F0502020204030204" pitchFamily="34" charset="0"/>
              </a:rPr>
              <a:t> assays)</a:t>
            </a:r>
          </a:p>
        </p:txBody>
      </p:sp>
    </p:spTree>
    <p:extLst>
      <p:ext uri="{BB962C8B-B14F-4D97-AF65-F5344CB8AC3E}">
        <p14:creationId xmlns:p14="http://schemas.microsoft.com/office/powerpoint/2010/main" val="93524112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95E2-97CA-C03F-5767-E32804CD6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89F1B-E979-32AA-757B-AAD32AC83EE1}"/>
              </a:ext>
            </a:extLst>
          </p:cNvPr>
          <p:cNvSpPr txBox="1">
            <a:spLocks/>
          </p:cNvSpPr>
          <p:nvPr/>
        </p:nvSpPr>
        <p:spPr>
          <a:xfrm>
            <a:off x="482600" y="274011"/>
            <a:ext cx="11226800" cy="71230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tx1"/>
                </a:solidFill>
                <a:latin typeface="Calibri" panose="020F0502020204030204" pitchFamily="34" charset="0"/>
                <a:cs typeface="Calibri" panose="020F0502020204030204" pitchFamily="34" charset="0"/>
              </a:rPr>
              <a:t>Testing-based strategy</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508ECCF-820B-C1FC-D2EA-2F3B32F2D745}"/>
              </a:ext>
            </a:extLst>
          </p:cNvPr>
          <p:cNvSpPr txBox="1">
            <a:spLocks/>
          </p:cNvSpPr>
          <p:nvPr/>
        </p:nvSpPr>
        <p:spPr>
          <a:xfrm>
            <a:off x="482601" y="1245995"/>
            <a:ext cx="11118160" cy="39088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sz="2200" dirty="0">
              <a:latin typeface="Arial" panose="020B0604020202020204" pitchFamily="34" charset="0"/>
              <a:cs typeface="Arial" panose="020B0604020202020204" pitchFamily="34" charset="0"/>
            </a:endParaRPr>
          </a:p>
          <a:p>
            <a:pPr marL="228600" lvl="1" indent="-219075"/>
            <a:r>
              <a:rPr lang="en-US" sz="2800" dirty="0">
                <a:latin typeface="Calibri" panose="020F0502020204030204" pitchFamily="34" charset="0"/>
                <a:cs typeface="Calibri" panose="020F0502020204030204" pitchFamily="34" charset="0"/>
              </a:rPr>
              <a:t>Most Drug Regulatory Agencies accept negative in vitro/in vivo dataset to categorize NA as “non-mutagenic impurity”</a:t>
            </a:r>
          </a:p>
          <a:p>
            <a:pPr marL="685800" lvl="2" indent="-219075"/>
            <a:r>
              <a:rPr lang="en-US" sz="2400" dirty="0">
                <a:latin typeface="Calibri" panose="020F0502020204030204" pitchFamily="34" charset="0"/>
                <a:cs typeface="Calibri" panose="020F0502020204030204" pitchFamily="34" charset="0"/>
              </a:rPr>
              <a:t>Refer to ICH Q3A/B QTs</a:t>
            </a:r>
          </a:p>
          <a:p>
            <a:pPr lvl="1"/>
            <a:endParaRPr lang="en-US" sz="2800" dirty="0">
              <a:latin typeface="Calibri" panose="020F0502020204030204" pitchFamily="34" charset="0"/>
              <a:cs typeface="Calibri" panose="020F0502020204030204" pitchFamily="34" charset="0"/>
            </a:endParaRPr>
          </a:p>
          <a:p>
            <a:pPr marL="228600" lvl="1" indent="-219075"/>
            <a:r>
              <a:rPr lang="en-US" sz="2800" dirty="0">
                <a:latin typeface="Calibri" panose="020F0502020204030204" pitchFamily="34" charset="0"/>
                <a:cs typeface="Calibri" panose="020F0502020204030204" pitchFamily="34" charset="0"/>
              </a:rPr>
              <a:t>FDA: </a:t>
            </a:r>
            <a:r>
              <a:rPr lang="en-US" sz="2800" u="sng" dirty="0">
                <a:latin typeface="Calibri" panose="020F0502020204030204" pitchFamily="34" charset="0"/>
                <a:cs typeface="Calibri" panose="020F0502020204030204" pitchFamily="34" charset="0"/>
              </a:rPr>
              <a:t>could</a:t>
            </a:r>
            <a:r>
              <a:rPr lang="en-US" sz="2800" dirty="0">
                <a:latin typeface="Calibri" panose="020F0502020204030204" pitchFamily="34" charset="0"/>
                <a:cs typeface="Calibri" panose="020F0502020204030204" pitchFamily="34" charset="0"/>
              </a:rPr>
              <a:t> accept up to Q3A/B QTs but also considers observed levels in drug batches in setting specifications</a:t>
            </a:r>
          </a:p>
          <a:p>
            <a:pPr lvl="2"/>
            <a:r>
              <a:rPr lang="en-US" sz="2400" dirty="0">
                <a:latin typeface="Calibri" panose="020F0502020204030204" pitchFamily="34" charset="0"/>
                <a:cs typeface="Calibri" panose="020F0502020204030204" pitchFamily="34" charset="0"/>
              </a:rPr>
              <a:t>Residual concerns with polypharmacy and/or products with multiple impurities </a:t>
            </a:r>
          </a:p>
        </p:txBody>
      </p:sp>
    </p:spTree>
    <p:extLst>
      <p:ext uri="{BB962C8B-B14F-4D97-AF65-F5344CB8AC3E}">
        <p14:creationId xmlns:p14="http://schemas.microsoft.com/office/powerpoint/2010/main" val="370094651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9CCDF-E582-5DDB-E8ED-97CFEE226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F560F-E728-2D14-A99D-482DA7E8B6CD}"/>
              </a:ext>
            </a:extLst>
          </p:cNvPr>
          <p:cNvSpPr txBox="1">
            <a:spLocks/>
          </p:cNvSpPr>
          <p:nvPr/>
        </p:nvSpPr>
        <p:spPr>
          <a:xfrm>
            <a:off x="482600" y="334301"/>
            <a:ext cx="11226800" cy="9436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tx1"/>
                </a:solidFill>
                <a:latin typeface="Calibri" panose="020F0502020204030204" pitchFamily="34" charset="0"/>
                <a:cs typeface="Calibri" panose="020F0502020204030204" pitchFamily="34" charset="0"/>
              </a:rPr>
              <a:t>Testing based strategy</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C6BC284B-6B28-56B6-5484-B8B389D8651E}"/>
              </a:ext>
            </a:extLst>
          </p:cNvPr>
          <p:cNvSpPr txBox="1">
            <a:spLocks/>
          </p:cNvSpPr>
          <p:nvPr/>
        </p:nvSpPr>
        <p:spPr>
          <a:xfrm>
            <a:off x="936434" y="1487155"/>
            <a:ext cx="10664326" cy="35370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u="sng" dirty="0">
                <a:latin typeface="Calibri" panose="020F0502020204030204" pitchFamily="34" charset="0"/>
                <a:cs typeface="Calibri" panose="020F0502020204030204" pitchFamily="34" charset="0"/>
              </a:rPr>
              <a:t>Positive results?</a:t>
            </a:r>
          </a:p>
          <a:p>
            <a:pPr lvl="1"/>
            <a:r>
              <a:rPr lang="en-US" sz="2400" dirty="0">
                <a:latin typeface="Calibri" panose="020F0502020204030204" pitchFamily="34" charset="0"/>
                <a:cs typeface="Calibri" panose="020F0502020204030204" pitchFamily="34" charset="0"/>
              </a:rPr>
              <a:t>Generally, refer back to CPCA (or surrogate analysis if relevant)</a:t>
            </a:r>
          </a:p>
          <a:p>
            <a:pPr marL="457200" lvl="1" indent="0">
              <a:buNone/>
            </a:pPr>
            <a:endParaRPr lang="en-US" sz="2400" dirty="0">
              <a:latin typeface="Calibri" panose="020F0502020204030204" pitchFamily="34" charset="0"/>
              <a:cs typeface="Calibri" panose="020F0502020204030204" pitchFamily="34" charset="0"/>
            </a:endParaRPr>
          </a:p>
          <a:p>
            <a:pPr marL="457200" lvl="1" indent="0">
              <a:buNone/>
            </a:pPr>
            <a:endParaRPr lang="en-US" sz="2400" dirty="0">
              <a:latin typeface="Calibri" panose="020F0502020204030204" pitchFamily="34" charset="0"/>
              <a:cs typeface="Calibri" panose="020F0502020204030204" pitchFamily="34" charset="0"/>
            </a:endParaRPr>
          </a:p>
          <a:p>
            <a:pPr marL="457200" lvl="1" indent="0">
              <a:buNone/>
            </a:pPr>
            <a:endParaRPr lang="en-US" dirty="0">
              <a:latin typeface="Calibri" panose="020F0502020204030204" pitchFamily="34" charset="0"/>
              <a:cs typeface="Calibri" panose="020F0502020204030204" pitchFamily="34" charset="0"/>
            </a:endParaRPr>
          </a:p>
          <a:p>
            <a:pPr marL="9525" lvl="1" indent="0">
              <a:buNone/>
            </a:pPr>
            <a:r>
              <a:rPr lang="en-US" sz="2400" dirty="0">
                <a:latin typeface="Calibri" panose="020F0502020204030204" pitchFamily="34" charset="0"/>
                <a:cs typeface="Calibri" panose="020F0502020204030204" pitchFamily="34" charset="0"/>
              </a:rPr>
              <a:t>Note: Research ongoing with proposals to identify AI limits based on Benchmark Dose calculations from in vivo mutation assays or based on comparative potency to </a:t>
            </a:r>
            <a:r>
              <a:rPr lang="en-US" dirty="0">
                <a:latin typeface="Calibri" panose="020F0502020204030204" pitchFamily="34" charset="0"/>
                <a:cs typeface="Calibri" panose="020F0502020204030204" pitchFamily="34" charset="0"/>
              </a:rPr>
              <a:t>“a</a:t>
            </a:r>
            <a:r>
              <a:rPr lang="en-US" sz="2400" dirty="0">
                <a:latin typeface="Calibri" panose="020F0502020204030204" pitchFamily="34" charset="0"/>
                <a:cs typeface="Calibri" panose="020F0502020204030204" pitchFamily="34" charset="0"/>
              </a:rPr>
              <a:t>nchor” compounds.</a:t>
            </a:r>
            <a:endParaRPr lang="en-US" dirty="0">
              <a:latin typeface="Calibri" panose="020F0502020204030204" pitchFamily="34" charset="0"/>
              <a:cs typeface="Calibri" panose="020F0502020204030204" pitchFamily="34" charset="0"/>
            </a:endParaRPr>
          </a:p>
          <a:p>
            <a:pPr marL="352425" lvl="1" indent="-342900"/>
            <a:r>
              <a:rPr lang="en-US" dirty="0">
                <a:latin typeface="Calibri" panose="020F0502020204030204" pitchFamily="34" charset="0"/>
                <a:cs typeface="Calibri" panose="020F0502020204030204" pitchFamily="34" charset="0"/>
              </a:rPr>
              <a:t>See later discussion on ICH EWG plans</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875423"/>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DA700-A2D8-E5F2-71FC-8B7556855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B6DC7-7F01-06E6-F459-7653887F944C}"/>
              </a:ext>
            </a:extLst>
          </p:cNvPr>
          <p:cNvSpPr txBox="1">
            <a:spLocks/>
          </p:cNvSpPr>
          <p:nvPr/>
        </p:nvSpPr>
        <p:spPr>
          <a:xfrm>
            <a:off x="482600" y="334301"/>
            <a:ext cx="11226800" cy="8334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tx1"/>
                </a:solidFill>
                <a:latin typeface="Calibri" panose="020F0502020204030204" pitchFamily="34" charset="0"/>
                <a:cs typeface="Calibri" panose="020F0502020204030204" pitchFamily="34" charset="0"/>
              </a:rPr>
              <a:t>ICH M7: Less than Lifetime (LTL) Approach</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63DB95ED-DDA2-1F7D-9FAC-52427454D6B7}"/>
              </a:ext>
            </a:extLst>
          </p:cNvPr>
          <p:cNvSpPr txBox="1">
            <a:spLocks/>
          </p:cNvSpPr>
          <p:nvPr/>
        </p:nvSpPr>
        <p:spPr>
          <a:xfrm>
            <a:off x="649382" y="1178939"/>
            <a:ext cx="11226800" cy="4319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Calibri" panose="020F0502020204030204" pitchFamily="34" charset="0"/>
                <a:cs typeface="Calibri" panose="020F0502020204030204" pitchFamily="34" charset="0"/>
              </a:rPr>
              <a:t>Not currently accepted for NAs by regulators due to concerns with:</a:t>
            </a:r>
          </a:p>
          <a:p>
            <a:pPr lvl="1"/>
            <a:r>
              <a:rPr lang="en-US" sz="2400" dirty="0">
                <a:latin typeface="Calibri" panose="020F0502020204030204" pitchFamily="34" charset="0"/>
                <a:cs typeface="Calibri" panose="020F0502020204030204" pitchFamily="34" charset="0"/>
              </a:rPr>
              <a:t>High potency: tumor induction after single doses</a:t>
            </a:r>
          </a:p>
          <a:p>
            <a:pPr lvl="1"/>
            <a:r>
              <a:rPr lang="en-US" sz="2400" dirty="0">
                <a:latin typeface="Calibri" panose="020F0502020204030204" pitchFamily="34" charset="0"/>
                <a:cs typeface="Calibri" panose="020F0502020204030204" pitchFamily="34" charset="0"/>
              </a:rPr>
              <a:t>Potential to overwhelm DNA repair mechanisms</a:t>
            </a:r>
          </a:p>
          <a:p>
            <a:pPr lvl="1"/>
            <a:r>
              <a:rPr lang="en-US" sz="2400" dirty="0">
                <a:latin typeface="Calibri" panose="020F0502020204030204" pitchFamily="34" charset="0"/>
                <a:cs typeface="Calibri" panose="020F0502020204030204" pitchFamily="34" charset="0"/>
              </a:rPr>
              <a:t>Polypharmacy</a:t>
            </a:r>
          </a:p>
          <a:p>
            <a:pPr lvl="1"/>
            <a:endParaRPr lang="en-US" sz="2400" dirty="0">
              <a:latin typeface="Calibri" panose="020F0502020204030204" pitchFamily="34" charset="0"/>
              <a:cs typeface="Calibri" panose="020F0502020204030204" pitchFamily="34" charset="0"/>
            </a:endParaRPr>
          </a:p>
          <a:p>
            <a:pPr lvl="1"/>
            <a:r>
              <a:rPr lang="en-US" sz="2400" dirty="0">
                <a:latin typeface="Calibri" panose="020F0502020204030204" pitchFamily="34" charset="0"/>
                <a:cs typeface="Calibri" panose="020F0502020204030204" pitchFamily="34" charset="0"/>
              </a:rPr>
              <a:t>Limited exception: EMA specific carve out for approved products:</a:t>
            </a:r>
          </a:p>
          <a:p>
            <a:pPr lvl="2"/>
            <a:r>
              <a:rPr lang="en-US" sz="2200" dirty="0">
                <a:latin typeface="Calibri" panose="020F0502020204030204" pitchFamily="34" charset="0"/>
                <a:cs typeface="Calibri" panose="020F0502020204030204" pitchFamily="34" charset="0"/>
              </a:rPr>
              <a:t>Up to 3 yrs during “corrective and preventive actions”</a:t>
            </a:r>
          </a:p>
          <a:p>
            <a:pPr lvl="2"/>
            <a:r>
              <a:rPr lang="en-US" sz="2200" dirty="0">
                <a:latin typeface="Calibri" panose="020F0502020204030204" pitchFamily="34" charset="0"/>
                <a:cs typeface="Calibri" panose="020F0502020204030204" pitchFamily="34" charset="0"/>
              </a:rPr>
              <a:t>Factors of 6.7-13.3X can be applied to NAs in CPCA categories 1 to 4</a:t>
            </a:r>
          </a:p>
          <a:p>
            <a:pPr lvl="2"/>
            <a:endParaRPr lang="en-US" sz="2200" dirty="0">
              <a:latin typeface="Calibri" panose="020F0502020204030204" pitchFamily="34" charset="0"/>
              <a:cs typeface="Calibri" panose="020F0502020204030204" pitchFamily="34" charset="0"/>
            </a:endParaRPr>
          </a:p>
          <a:p>
            <a:pPr lvl="1"/>
            <a:r>
              <a:rPr lang="en-US" sz="2600" dirty="0">
                <a:latin typeface="Calibri" panose="020F0502020204030204" pitchFamily="34" charset="0"/>
                <a:cs typeface="Calibri" panose="020F0502020204030204" pitchFamily="34" charset="0"/>
              </a:rPr>
              <a:t>Ongoing efforts to assess NA data to support use of M7 LTL approach </a:t>
            </a:r>
          </a:p>
        </p:txBody>
      </p:sp>
    </p:spTree>
    <p:extLst>
      <p:ext uri="{BB962C8B-B14F-4D97-AF65-F5344CB8AC3E}">
        <p14:creationId xmlns:p14="http://schemas.microsoft.com/office/powerpoint/2010/main" val="2244602069"/>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39DA7-025A-83A7-2872-5A50E9420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C3F8F-64A7-A7B0-0CE2-19A8E003951D}"/>
              </a:ext>
            </a:extLst>
          </p:cNvPr>
          <p:cNvSpPr txBox="1">
            <a:spLocks/>
          </p:cNvSpPr>
          <p:nvPr/>
        </p:nvSpPr>
        <p:spPr>
          <a:xfrm>
            <a:off x="482600" y="233818"/>
            <a:ext cx="11226800" cy="7384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tx1"/>
                </a:solidFill>
                <a:latin typeface="Calibri" panose="020F0502020204030204" pitchFamily="34" charset="0"/>
                <a:cs typeface="Calibri" panose="020F0502020204030204" pitchFamily="34" charset="0"/>
              </a:rPr>
              <a:t>Ongoing research initiatives to address data gaps</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64B1FD8-7097-A5F8-55EF-C987C2E59B8C}"/>
              </a:ext>
            </a:extLst>
          </p:cNvPr>
          <p:cNvSpPr txBox="1">
            <a:spLocks/>
          </p:cNvSpPr>
          <p:nvPr/>
        </p:nvSpPr>
        <p:spPr>
          <a:xfrm>
            <a:off x="836725" y="1206090"/>
            <a:ext cx="10752460" cy="39446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Calibri" panose="020F0502020204030204" pitchFamily="34" charset="0"/>
                <a:cs typeface="Calibri" panose="020F0502020204030204" pitchFamily="34" charset="0"/>
              </a:rPr>
              <a:t>EMA-funded </a:t>
            </a:r>
            <a:r>
              <a:rPr lang="en-US" sz="2400" dirty="0" err="1">
                <a:latin typeface="Calibri" panose="020F0502020204030204" pitchFamily="34" charset="0"/>
                <a:cs typeface="Calibri" panose="020F0502020204030204" pitchFamily="34" charset="0"/>
              </a:rPr>
              <a:t>MutaMind</a:t>
            </a:r>
            <a:r>
              <a:rPr lang="en-US" sz="2400" dirty="0">
                <a:latin typeface="Calibri" panose="020F0502020204030204" pitchFamily="34" charset="0"/>
                <a:cs typeface="Calibri" panose="020F0502020204030204" pitchFamily="34" charset="0"/>
              </a:rPr>
              <a:t> consortium conducted at Fraunhofer Institute</a:t>
            </a:r>
          </a:p>
          <a:p>
            <a:r>
              <a:rPr lang="en-US" sz="2400" dirty="0">
                <a:latin typeface="Calibri" panose="020F0502020204030204" pitchFamily="34" charset="0"/>
                <a:cs typeface="Calibri" panose="020F0502020204030204" pitchFamily="34" charset="0"/>
              </a:rPr>
              <a:t>FDA National Center for Toxicological Research </a:t>
            </a:r>
          </a:p>
          <a:p>
            <a:r>
              <a:rPr lang="en-US" sz="2400" dirty="0">
                <a:latin typeface="Calibri" panose="020F0502020204030204" pitchFamily="34" charset="0"/>
                <a:cs typeface="Calibri" panose="020F0502020204030204" pitchFamily="34" charset="0"/>
              </a:rPr>
              <a:t>HESI GTTC Nitrosamines Research Project</a:t>
            </a:r>
          </a:p>
          <a:p>
            <a:r>
              <a:rPr lang="en-US" sz="2400" dirty="0">
                <a:latin typeface="Calibri" panose="020F0502020204030204" pitchFamily="34" charset="0"/>
                <a:cs typeface="Calibri" panose="020F0502020204030204" pitchFamily="34" charset="0"/>
              </a:rPr>
              <a:t>Others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Focus on optimizing Ames assay and demonstrating potency correlations across in vitro and in vivo mutagenicity assays and carcinogenicity.</a:t>
            </a:r>
          </a:p>
          <a:p>
            <a:r>
              <a:rPr lang="en-US" sz="2400" dirty="0">
                <a:latin typeface="Calibri" panose="020F0502020204030204" pitchFamily="34" charset="0"/>
                <a:cs typeface="Calibri" panose="020F0502020204030204" pitchFamily="34" charset="0"/>
              </a:rPr>
              <a:t>Further informed by 2023 FDA/HESI Research Roadmap Planning workshop to identify and prioritize research gaps</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9258807"/>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16632-64A0-5FF1-D9A2-2F0DE0E31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7034F-6235-FAAD-109A-C789A303DE3F}"/>
              </a:ext>
            </a:extLst>
          </p:cNvPr>
          <p:cNvSpPr txBox="1">
            <a:spLocks/>
          </p:cNvSpPr>
          <p:nvPr/>
        </p:nvSpPr>
        <p:spPr>
          <a:xfrm>
            <a:off x="482600" y="334301"/>
            <a:ext cx="11226800" cy="106912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tx1"/>
                </a:solidFill>
                <a:latin typeface="Calibri" panose="020F0502020204030204" pitchFamily="34" charset="0"/>
                <a:cs typeface="Calibri" panose="020F0502020204030204" pitchFamily="34" charset="0"/>
              </a:rPr>
              <a:t>ICH M7 Sub-group: Risk Assessment and Control of Nitrosamine Impurities</a:t>
            </a:r>
            <a:endParaRPr lang="en-US" sz="36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53E1631-AEAE-50AC-0174-8F9330213E0D}"/>
              </a:ext>
            </a:extLst>
          </p:cNvPr>
          <p:cNvSpPr txBox="1">
            <a:spLocks/>
          </p:cNvSpPr>
          <p:nvPr/>
        </p:nvSpPr>
        <p:spPr>
          <a:xfrm>
            <a:off x="340909" y="1211855"/>
            <a:ext cx="11226800" cy="4351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Bef>
                <a:spcPts val="600"/>
              </a:spcBef>
              <a:spcAft>
                <a:spcPts val="600"/>
              </a:spcAft>
            </a:pPr>
            <a:endParaRPr lang="en-US" sz="2400" dirty="0">
              <a:latin typeface="Aptos" panose="020B0004020202020204" pitchFamily="34" charset="0"/>
            </a:endParaRPr>
          </a:p>
        </p:txBody>
      </p:sp>
      <p:sp>
        <p:nvSpPr>
          <p:cNvPr id="6" name="TextBox 5">
            <a:extLst>
              <a:ext uri="{FF2B5EF4-FFF2-40B4-BE49-F238E27FC236}">
                <a16:creationId xmlns:a16="http://schemas.microsoft.com/office/drawing/2014/main" id="{344F93C3-1F27-9282-837A-97B1B0B22E1F}"/>
              </a:ext>
            </a:extLst>
          </p:cNvPr>
          <p:cNvSpPr txBox="1"/>
          <p:nvPr/>
        </p:nvSpPr>
        <p:spPr>
          <a:xfrm>
            <a:off x="482600" y="2068965"/>
            <a:ext cx="4139642" cy="830997"/>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ICH M7 Sub-group Work Plan as of March 2025</a:t>
            </a:r>
          </a:p>
        </p:txBody>
      </p:sp>
      <p:pic>
        <p:nvPicPr>
          <p:cNvPr id="5" name="Picture 4">
            <a:extLst>
              <a:ext uri="{FF2B5EF4-FFF2-40B4-BE49-F238E27FC236}">
                <a16:creationId xmlns:a16="http://schemas.microsoft.com/office/drawing/2014/main" id="{D4CD41AC-6C1F-2B59-8DF2-BF9F7CCE21BB}"/>
              </a:ext>
            </a:extLst>
          </p:cNvPr>
          <p:cNvPicPr>
            <a:picLocks noChangeAspect="1"/>
          </p:cNvPicPr>
          <p:nvPr/>
        </p:nvPicPr>
        <p:blipFill>
          <a:blip r:embed="rId2"/>
          <a:stretch>
            <a:fillRect/>
          </a:stretch>
        </p:blipFill>
        <p:spPr>
          <a:xfrm>
            <a:off x="5355771" y="1403425"/>
            <a:ext cx="6018963" cy="4580365"/>
          </a:xfrm>
          <a:prstGeom prst="rect">
            <a:avLst/>
          </a:prstGeom>
        </p:spPr>
      </p:pic>
    </p:spTree>
    <p:extLst>
      <p:ext uri="{BB962C8B-B14F-4D97-AF65-F5344CB8AC3E}">
        <p14:creationId xmlns:p14="http://schemas.microsoft.com/office/powerpoint/2010/main" val="2845349777"/>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47A1D-A2A1-E5ED-C62D-6A59FAC8E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71D90-AB4E-B872-1A86-8483D0762060}"/>
              </a:ext>
            </a:extLst>
          </p:cNvPr>
          <p:cNvSpPr>
            <a:spLocks noGrp="1"/>
          </p:cNvSpPr>
          <p:nvPr>
            <p:ph type="title"/>
          </p:nvPr>
        </p:nvSpPr>
        <p:spPr>
          <a:xfrm>
            <a:off x="335665" y="89943"/>
            <a:ext cx="11157996" cy="956539"/>
          </a:xfrm>
        </p:spPr>
        <p:txBody>
          <a:bodyPr>
            <a:noAutofit/>
          </a:bodyPr>
          <a:lstStyle/>
          <a:p>
            <a:r>
              <a:rPr lang="en-US" altLang="en-US" sz="3600" b="1" dirty="0">
                <a:solidFill>
                  <a:schemeClr val="tx2"/>
                </a:solidFill>
                <a:latin typeface="Calibri" panose="020F0502020204030204" pitchFamily="34" charset="0"/>
                <a:cs typeface="Calibri" panose="020F0502020204030204" pitchFamily="34" charset="0"/>
              </a:rPr>
              <a:t>Nitrosamines - </a:t>
            </a:r>
            <a:r>
              <a:rPr lang="en-US" sz="3600" b="1" dirty="0">
                <a:latin typeface="Calibri" panose="020F0502020204030204" pitchFamily="34" charset="0"/>
                <a:cs typeface="Calibri" panose="020F0502020204030204" pitchFamily="34" charset="0"/>
              </a:rPr>
              <a:t>Risk Assessment &amp; Timing</a:t>
            </a:r>
          </a:p>
        </p:txBody>
      </p:sp>
      <p:sp>
        <p:nvSpPr>
          <p:cNvPr id="3" name="Content Placeholder 2">
            <a:extLst>
              <a:ext uri="{FF2B5EF4-FFF2-40B4-BE49-F238E27FC236}">
                <a16:creationId xmlns:a16="http://schemas.microsoft.com/office/drawing/2014/main" id="{CD37C5E8-055C-3BB2-53FF-CEC636520370}"/>
              </a:ext>
            </a:extLst>
          </p:cNvPr>
          <p:cNvSpPr>
            <a:spLocks noGrp="1"/>
          </p:cNvSpPr>
          <p:nvPr>
            <p:ph idx="1"/>
          </p:nvPr>
        </p:nvSpPr>
        <p:spPr>
          <a:xfrm>
            <a:off x="335666" y="1331089"/>
            <a:ext cx="11030674" cy="4409956"/>
          </a:xfrm>
        </p:spPr>
        <p:txBody>
          <a:bodyPr>
            <a:noAutofit/>
          </a:bodyPr>
          <a:lstStyle/>
          <a:p>
            <a:r>
              <a:rPr lang="en-US" dirty="0">
                <a:latin typeface="Calibri" panose="020F0502020204030204" pitchFamily="34" charset="0"/>
                <a:cs typeface="Calibri" panose="020F0502020204030204" pitchFamily="34" charset="0"/>
              </a:rPr>
              <a:t>Focus has primarily been on previously approved products and new marketing applications &amp; supplements</a:t>
            </a:r>
          </a:p>
          <a:p>
            <a:pPr lvl="1"/>
            <a:r>
              <a:rPr lang="en-US" sz="2800" dirty="0">
                <a:latin typeface="Calibri" panose="020F0502020204030204" pitchFamily="34" charset="0"/>
                <a:cs typeface="Calibri" panose="020F0502020204030204" pitchFamily="34" charset="0"/>
              </a:rPr>
              <a:t>FDA/Health Canada set August 2025 timelines for submission of risk assessments</a:t>
            </a:r>
          </a:p>
          <a:p>
            <a:pPr lvl="1"/>
            <a:r>
              <a:rPr lang="en-US" sz="2800" dirty="0">
                <a:latin typeface="Calibri" panose="020F0502020204030204" pitchFamily="34" charset="0"/>
                <a:cs typeface="Calibri" panose="020F0502020204030204" pitchFamily="34" charset="0"/>
              </a:rPr>
              <a:t>Modified to allow for updates of plans to address issues with timeline</a:t>
            </a:r>
          </a:p>
          <a:p>
            <a:pPr lvl="1"/>
            <a:endParaRPr lang="en-US" sz="28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Attention during clinical development has been case by case</a:t>
            </a:r>
          </a:p>
          <a:p>
            <a:pPr lvl="1"/>
            <a:r>
              <a:rPr lang="en-US" sz="2800" dirty="0">
                <a:latin typeface="Calibri" panose="020F0502020204030204" pitchFamily="34" charset="0"/>
                <a:cs typeface="Calibri" panose="020F0502020204030204" pitchFamily="34" charset="0"/>
              </a:rPr>
              <a:t>Based primarily on known concerns/previously established AI limits</a:t>
            </a:r>
          </a:p>
        </p:txBody>
      </p:sp>
    </p:spTree>
    <p:extLst>
      <p:ext uri="{BB962C8B-B14F-4D97-AF65-F5344CB8AC3E}">
        <p14:creationId xmlns:p14="http://schemas.microsoft.com/office/powerpoint/2010/main" val="26432584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2A535-FE87-CB78-17DC-08382D1BA1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63FF4-B58E-CB68-4785-A67CEC023E3A}"/>
              </a:ext>
            </a:extLst>
          </p:cNvPr>
          <p:cNvSpPr>
            <a:spLocks noGrp="1"/>
          </p:cNvSpPr>
          <p:nvPr>
            <p:ph idx="1"/>
          </p:nvPr>
        </p:nvSpPr>
        <p:spPr>
          <a:xfrm>
            <a:off x="991609" y="1762158"/>
            <a:ext cx="10478732" cy="3657335"/>
          </a:xfrm>
        </p:spPr>
        <p:txBody>
          <a:bodyPr>
            <a:noAutofit/>
          </a:bodyPr>
          <a:lstStyle/>
          <a:p>
            <a:pPr>
              <a:buSzPct val="90000"/>
            </a:pPr>
            <a:r>
              <a:rPr lang="en-US" sz="3200" dirty="0">
                <a:latin typeface="Calibri" panose="020F0502020204030204" pitchFamily="34" charset="0"/>
                <a:cs typeface="Calibri" panose="020F0502020204030204" pitchFamily="34" charset="0"/>
              </a:rPr>
              <a:t>ICH Q3A</a:t>
            </a:r>
          </a:p>
          <a:p>
            <a:pPr>
              <a:buSzPct val="90000"/>
            </a:pPr>
            <a:r>
              <a:rPr lang="en-US" sz="3200" dirty="0">
                <a:latin typeface="Calibri" panose="020F0502020204030204" pitchFamily="34" charset="0"/>
                <a:cs typeface="Calibri" panose="020F0502020204030204" pitchFamily="34" charset="0"/>
              </a:rPr>
              <a:t>ICH Q3B</a:t>
            </a:r>
          </a:p>
          <a:p>
            <a:pPr>
              <a:buSzPct val="90000"/>
            </a:pPr>
            <a:r>
              <a:rPr lang="en-US" sz="3200" dirty="0">
                <a:latin typeface="Calibri" panose="020F0502020204030204" pitchFamily="34" charset="0"/>
                <a:cs typeface="Calibri" panose="020F0502020204030204" pitchFamily="34" charset="0"/>
              </a:rPr>
              <a:t>ICH M7(R2)</a:t>
            </a:r>
          </a:p>
          <a:p>
            <a:pPr lvl="1">
              <a:buSzPct val="90000"/>
            </a:pPr>
            <a:r>
              <a:rPr lang="en-US" sz="3200" dirty="0">
                <a:latin typeface="Calibri" panose="020F0502020204030204" pitchFamily="34" charset="0"/>
                <a:cs typeface="Calibri" panose="020F0502020204030204" pitchFamily="34" charset="0"/>
              </a:rPr>
              <a:t>Nitrosamines</a:t>
            </a:r>
          </a:p>
          <a:p>
            <a:pPr>
              <a:buSzPct val="90000"/>
            </a:pPr>
            <a:r>
              <a:rPr lang="en-US" sz="3200" dirty="0">
                <a:solidFill>
                  <a:srgbClr val="FF0000"/>
                </a:solidFill>
                <a:latin typeface="Calibri" panose="020F0502020204030204" pitchFamily="34" charset="0"/>
                <a:cs typeface="Calibri" panose="020F0502020204030204" pitchFamily="34" charset="0"/>
              </a:rPr>
              <a:t>ICH Q3C</a:t>
            </a:r>
          </a:p>
          <a:p>
            <a:pPr>
              <a:buSzPct val="90000"/>
            </a:pPr>
            <a:r>
              <a:rPr lang="en-US" sz="3200" dirty="0">
                <a:latin typeface="Calibri" panose="020F0502020204030204" pitchFamily="34" charset="0"/>
                <a:cs typeface="Calibri" panose="020F0502020204030204" pitchFamily="34" charset="0"/>
              </a:rPr>
              <a:t>ICH Q3D</a:t>
            </a:r>
          </a:p>
          <a:p>
            <a:pPr>
              <a:buSzPct val="90000"/>
            </a:pPr>
            <a:endParaRPr lang="en-US" sz="3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A2E31D4-FB63-DC1E-A17E-5179805D1298}"/>
              </a:ext>
            </a:extLst>
          </p:cNvPr>
          <p:cNvSpPr txBox="1"/>
          <p:nvPr/>
        </p:nvSpPr>
        <p:spPr>
          <a:xfrm>
            <a:off x="991609" y="792176"/>
            <a:ext cx="5230599" cy="646331"/>
          </a:xfrm>
          <a:prstGeom prst="rect">
            <a:avLst/>
          </a:prstGeom>
          <a:noFill/>
        </p:spPr>
        <p:txBody>
          <a:bodyPr wrap="none" rtlCol="0">
            <a:spAutoFit/>
          </a:bodyPr>
          <a:lstStyle/>
          <a:p>
            <a:r>
              <a:rPr lang="en-US" sz="3600" b="1" dirty="0">
                <a:latin typeface="Calibri" panose="020F0502020204030204" pitchFamily="34" charset="0"/>
                <a:cs typeface="Calibri" panose="020F0502020204030204" pitchFamily="34" charset="0"/>
              </a:rPr>
              <a:t>Impurity Evaluation Topics</a:t>
            </a:r>
          </a:p>
        </p:txBody>
      </p:sp>
      <p:pic>
        <p:nvPicPr>
          <p:cNvPr id="2" name="Picture 1">
            <a:extLst>
              <a:ext uri="{FF2B5EF4-FFF2-40B4-BE49-F238E27FC236}">
                <a16:creationId xmlns:a16="http://schemas.microsoft.com/office/drawing/2014/main" id="{9A2A9275-1356-5307-894E-74CA63E7F5E1}"/>
              </a:ext>
            </a:extLst>
          </p:cNvPr>
          <p:cNvPicPr>
            <a:picLocks noChangeAspect="1"/>
          </p:cNvPicPr>
          <p:nvPr/>
        </p:nvPicPr>
        <p:blipFill>
          <a:blip r:embed="rId2"/>
          <a:stretch>
            <a:fillRect/>
          </a:stretch>
        </p:blipFill>
        <p:spPr>
          <a:xfrm>
            <a:off x="6426200" y="2343050"/>
            <a:ext cx="3676650" cy="1247775"/>
          </a:xfrm>
          <a:prstGeom prst="rect">
            <a:avLst/>
          </a:prstGeom>
        </p:spPr>
      </p:pic>
    </p:spTree>
    <p:extLst>
      <p:ext uri="{BB962C8B-B14F-4D97-AF65-F5344CB8AC3E}">
        <p14:creationId xmlns:p14="http://schemas.microsoft.com/office/powerpoint/2010/main" val="15319926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4FCEF-EC99-47E7-8196-F038313B56B7}"/>
              </a:ext>
            </a:extLst>
          </p:cNvPr>
          <p:cNvSpPr>
            <a:spLocks noGrp="1"/>
          </p:cNvSpPr>
          <p:nvPr>
            <p:ph type="title"/>
          </p:nvPr>
        </p:nvSpPr>
        <p:spPr>
          <a:xfrm>
            <a:off x="729205" y="316669"/>
            <a:ext cx="10196461" cy="926020"/>
          </a:xfrm>
        </p:spPr>
        <p:txBody>
          <a:bodyPr>
            <a:normAutofit/>
          </a:bodyPr>
          <a:lstStyle/>
          <a:p>
            <a:r>
              <a:rPr lang="en-US" sz="3600" b="1" dirty="0">
                <a:latin typeface="Calibri" panose="020F0502020204030204" pitchFamily="34" charset="0"/>
                <a:cs typeface="Calibri" panose="020F0502020204030204" pitchFamily="34" charset="0"/>
              </a:rPr>
              <a:t>ICH Q3C (R10) – Impurities; Residual Solvents</a:t>
            </a:r>
          </a:p>
        </p:txBody>
      </p:sp>
      <p:sp>
        <p:nvSpPr>
          <p:cNvPr id="3" name="Content Placeholder 2">
            <a:extLst>
              <a:ext uri="{FF2B5EF4-FFF2-40B4-BE49-F238E27FC236}">
                <a16:creationId xmlns:a16="http://schemas.microsoft.com/office/drawing/2014/main" id="{519F8B16-6D5F-4F7A-8F30-75BEA2095500}"/>
              </a:ext>
            </a:extLst>
          </p:cNvPr>
          <p:cNvSpPr>
            <a:spLocks noGrp="1"/>
          </p:cNvSpPr>
          <p:nvPr>
            <p:ph idx="1"/>
          </p:nvPr>
        </p:nvSpPr>
        <p:spPr>
          <a:xfrm>
            <a:off x="516642" y="1611985"/>
            <a:ext cx="11345471" cy="4740396"/>
          </a:xfrm>
        </p:spPr>
        <p:txBody>
          <a:bodyPr>
            <a:normAutofit/>
          </a:bodyPr>
          <a:lstStyle/>
          <a:p>
            <a:pPr marL="0" indent="0">
              <a:buNone/>
            </a:pPr>
            <a:endParaRPr lang="en-US" dirty="0"/>
          </a:p>
          <a:p>
            <a:r>
              <a:rPr lang="en-US" dirty="0">
                <a:latin typeface="Calibri" panose="020F0502020204030204" pitchFamily="34" charset="0"/>
                <a:cs typeface="Calibri" panose="020F0502020204030204" pitchFamily="34" charset="0"/>
              </a:rPr>
              <a:t>Original guidance finalized July 1997</a:t>
            </a:r>
          </a:p>
          <a:p>
            <a:r>
              <a:rPr lang="en-US" dirty="0">
                <a:latin typeface="Calibri" panose="020F0502020204030204" pitchFamily="34" charset="0"/>
                <a:cs typeface="Calibri" panose="020F0502020204030204" pitchFamily="34" charset="0"/>
              </a:rPr>
              <a:t>Currently on 10</a:t>
            </a:r>
            <a:r>
              <a:rPr lang="en-US" baseline="30000" dirty="0">
                <a:latin typeface="Calibri" panose="020F0502020204030204" pitchFamily="34" charset="0"/>
                <a:cs typeface="Calibri" panose="020F0502020204030204" pitchFamily="34" charset="0"/>
              </a:rPr>
              <a:t>th</a:t>
            </a:r>
            <a:r>
              <a:rPr lang="en-US" dirty="0">
                <a:latin typeface="Calibri" panose="020F0502020204030204" pitchFamily="34" charset="0"/>
                <a:cs typeface="Calibri" panose="020F0502020204030204" pitchFamily="34" charset="0"/>
              </a:rPr>
              <a:t> revision (R10) in maintenance cycle</a:t>
            </a:r>
          </a:p>
          <a:p>
            <a:endParaRPr lang="en-CA" dirty="0">
              <a:solidFill>
                <a:srgbClr val="0C0C0C"/>
              </a:solidFill>
              <a:latin typeface="Calibri" panose="020F0502020204030204" pitchFamily="34" charset="0"/>
              <a:ea typeface="Tahoma" panose="020B0604030504040204" pitchFamily="34" charset="0"/>
              <a:cs typeface="Calibri" panose="020F0502020204030204" pitchFamily="34" charset="0"/>
            </a:endParaRPr>
          </a:p>
          <a:p>
            <a:r>
              <a:rPr lang="en-CA" dirty="0">
                <a:solidFill>
                  <a:srgbClr val="0C0C0C"/>
                </a:solidFill>
                <a:latin typeface="Calibri" panose="020F0502020204030204" pitchFamily="34" charset="0"/>
                <a:ea typeface="Tahoma" panose="020B0604030504040204" pitchFamily="34" charset="0"/>
                <a:cs typeface="Calibri" panose="020F0502020204030204" pitchFamily="34" charset="0"/>
              </a:rPr>
              <a:t>Goal of ICH Q3C: To recommend Permitted Daily Exposure (PDE) levels of residual solvents in pharmaceuticals to ensure patient safety</a:t>
            </a:r>
          </a:p>
          <a:p>
            <a:pPr lvl="1"/>
            <a:r>
              <a:rPr lang="en-US" dirty="0"/>
              <a:t>Recommends use of less toxic solvents and provides acceptable levels for some</a:t>
            </a:r>
          </a:p>
        </p:txBody>
      </p:sp>
    </p:spTree>
    <p:extLst>
      <p:ext uri="{BB962C8B-B14F-4D97-AF65-F5344CB8AC3E}">
        <p14:creationId xmlns:p14="http://schemas.microsoft.com/office/powerpoint/2010/main" val="1840429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309" y="200717"/>
            <a:ext cx="10932963" cy="915320"/>
          </a:xfrm>
        </p:spPr>
        <p:txBody>
          <a:bodyPr>
            <a:noAutofit/>
          </a:bodyPr>
          <a:lstStyle/>
          <a:p>
            <a:r>
              <a:rPr lang="en-US" sz="3600" b="1" dirty="0">
                <a:latin typeface="Calibri" panose="020F0502020204030204" pitchFamily="34" charset="0"/>
                <a:cs typeface="Calibri" panose="020F0502020204030204" pitchFamily="34" charset="0"/>
              </a:rPr>
              <a:t>ICH Q3C(R10) – Residual solvents</a:t>
            </a:r>
          </a:p>
        </p:txBody>
      </p:sp>
      <p:sp>
        <p:nvSpPr>
          <p:cNvPr id="3" name="Content Placeholder 2"/>
          <p:cNvSpPr>
            <a:spLocks noGrp="1"/>
          </p:cNvSpPr>
          <p:nvPr>
            <p:ph idx="1"/>
          </p:nvPr>
        </p:nvSpPr>
        <p:spPr>
          <a:xfrm>
            <a:off x="423264" y="1440101"/>
            <a:ext cx="11345471" cy="4590309"/>
          </a:xfrm>
        </p:spPr>
        <p:txBody>
          <a:bodyPr>
            <a:normAutofit/>
          </a:bodyPr>
          <a:lstStyle/>
          <a:p>
            <a:r>
              <a:rPr lang="en-US" sz="3200" b="1" dirty="0">
                <a:latin typeface="Calibri" panose="020F0502020204030204" pitchFamily="34" charset="0"/>
                <a:cs typeface="Calibri" panose="020F0502020204030204" pitchFamily="34" charset="0"/>
              </a:rPr>
              <a:t>Background</a:t>
            </a:r>
          </a:p>
          <a:p>
            <a:pPr lvl="1"/>
            <a:r>
              <a:rPr lang="en-US" sz="2933" dirty="0">
                <a:latin typeface="Calibri" panose="020F0502020204030204" pitchFamily="34" charset="0"/>
                <a:cs typeface="Calibri" panose="020F0502020204030204" pitchFamily="34" charset="0"/>
              </a:rPr>
              <a:t>Organic volatile chemicals used or produced in manufacture of drug substances or excipients or in preparation of drug products</a:t>
            </a:r>
          </a:p>
          <a:p>
            <a:pPr lvl="1"/>
            <a:endParaRPr lang="en-US" sz="2933" dirty="0">
              <a:latin typeface="Calibri" panose="020F0502020204030204" pitchFamily="34" charset="0"/>
              <a:cs typeface="Calibri" panose="020F0502020204030204" pitchFamily="34" charset="0"/>
            </a:endParaRPr>
          </a:p>
          <a:p>
            <a:pPr lvl="1"/>
            <a:r>
              <a:rPr lang="en-US" sz="2933" dirty="0">
                <a:latin typeface="Calibri" panose="020F0502020204030204" pitchFamily="34" charset="0"/>
                <a:cs typeface="Calibri" panose="020F0502020204030204" pitchFamily="34" charset="0"/>
              </a:rPr>
              <a:t>Does not address solvents deliberately used as excipients</a:t>
            </a:r>
          </a:p>
          <a:p>
            <a:pPr lvl="1"/>
            <a:endParaRPr lang="en-US" sz="2933" dirty="0">
              <a:latin typeface="Calibri" panose="020F0502020204030204" pitchFamily="34" charset="0"/>
              <a:cs typeface="Calibri" panose="020F0502020204030204" pitchFamily="34" charset="0"/>
            </a:endParaRPr>
          </a:p>
          <a:p>
            <a:pPr lvl="1"/>
            <a:r>
              <a:rPr lang="en-US" sz="2933" dirty="0">
                <a:latin typeface="Calibri" panose="020F0502020204030204" pitchFamily="34" charset="0"/>
                <a:cs typeface="Calibri" panose="020F0502020204030204" pitchFamily="34" charset="0"/>
              </a:rPr>
              <a:t>No therapeutic benefit – should be removed to extent possible to meet specifications, GMP or other quality-based requirements.</a:t>
            </a:r>
          </a:p>
          <a:p>
            <a:pPr lvl="2"/>
            <a:r>
              <a:rPr lang="en-US" sz="2400" dirty="0">
                <a:latin typeface="Calibri" panose="020F0502020204030204" pitchFamily="34" charset="0"/>
                <a:cs typeface="Calibri" panose="020F0502020204030204" pitchFamily="34" charset="0"/>
              </a:rPr>
              <a:t>Drug products should contain no higher levels than can be supported by safety data</a:t>
            </a:r>
            <a:endParaRPr lang="en-US" sz="2667"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635445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1" y="200717"/>
            <a:ext cx="11345471" cy="915320"/>
          </a:xfrm>
        </p:spPr>
        <p:txBody>
          <a:bodyPr>
            <a:noAutofit/>
          </a:bodyPr>
          <a:lstStyle/>
          <a:p>
            <a:r>
              <a:rPr lang="en-US" sz="3600" b="1" dirty="0">
                <a:latin typeface="Calibri" panose="020F0502020204030204" pitchFamily="34" charset="0"/>
                <a:cs typeface="Calibri" panose="020F0502020204030204" pitchFamily="34" charset="0"/>
              </a:rPr>
              <a:t>ICH Q3C(R10) – Residual solvents</a:t>
            </a:r>
          </a:p>
        </p:txBody>
      </p:sp>
      <p:sp>
        <p:nvSpPr>
          <p:cNvPr id="3" name="Content Placeholder 2"/>
          <p:cNvSpPr>
            <a:spLocks noGrp="1"/>
          </p:cNvSpPr>
          <p:nvPr>
            <p:ph idx="1"/>
          </p:nvPr>
        </p:nvSpPr>
        <p:spPr>
          <a:xfrm>
            <a:off x="431802" y="1181688"/>
            <a:ext cx="11345471" cy="5060200"/>
          </a:xfrm>
        </p:spPr>
        <p:txBody>
          <a:bodyPr>
            <a:normAutofit lnSpcReduction="10000"/>
          </a:bodyPr>
          <a:lstStyle/>
          <a:p>
            <a:r>
              <a:rPr lang="en-US" sz="3200" dirty="0">
                <a:latin typeface="Calibri" panose="020F0502020204030204" pitchFamily="34" charset="0"/>
                <a:cs typeface="Calibri" panose="020F0502020204030204" pitchFamily="34" charset="0"/>
              </a:rPr>
              <a:t>General principles</a:t>
            </a:r>
          </a:p>
          <a:p>
            <a:pPr lvl="1"/>
            <a:r>
              <a:rPr lang="en-US" sz="2800" dirty="0">
                <a:latin typeface="Calibri" panose="020F0502020204030204" pitchFamily="34" charset="0"/>
                <a:cs typeface="Calibri" panose="020F0502020204030204" pitchFamily="34" charset="0"/>
              </a:rPr>
              <a:t>Permissible daily exposure (PDE): pharmaceutically acceptable intake of residual solvents (to avoid confusion of differing values for ADIs of the same substance).</a:t>
            </a:r>
          </a:p>
          <a:p>
            <a:endParaRPr lang="en-US"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Consider:</a:t>
            </a:r>
          </a:p>
          <a:p>
            <a:pPr lvl="1"/>
            <a:r>
              <a:rPr lang="en-US" sz="2800" dirty="0">
                <a:latin typeface="Calibri" panose="020F0502020204030204" pitchFamily="34" charset="0"/>
                <a:cs typeface="Calibri" panose="020F0502020204030204" pitchFamily="34" charset="0"/>
              </a:rPr>
              <a:t>Patients using medications to treat disease</a:t>
            </a:r>
          </a:p>
          <a:p>
            <a:pPr lvl="1"/>
            <a:r>
              <a:rPr lang="en-US" sz="2800" dirty="0">
                <a:latin typeface="Calibri" panose="020F0502020204030204" pitchFamily="34" charset="0"/>
                <a:cs typeface="Calibri" panose="020F0502020204030204" pitchFamily="34" charset="0"/>
              </a:rPr>
              <a:t>Life-time exposure not necessary for most products but may be appropriate as working hypothesis</a:t>
            </a:r>
          </a:p>
          <a:p>
            <a:pPr lvl="1"/>
            <a:r>
              <a:rPr lang="en-US" sz="2800" dirty="0">
                <a:latin typeface="Calibri" panose="020F0502020204030204" pitchFamily="34" charset="0"/>
                <a:cs typeface="Calibri" panose="020F0502020204030204" pitchFamily="34" charset="0"/>
              </a:rPr>
              <a:t>Solvents are unavoidable components in drug production</a:t>
            </a:r>
          </a:p>
          <a:p>
            <a:pPr lvl="1"/>
            <a:r>
              <a:rPr lang="en-US" sz="2800" dirty="0">
                <a:latin typeface="Calibri" panose="020F0502020204030204" pitchFamily="34" charset="0"/>
                <a:cs typeface="Calibri" panose="020F0502020204030204" pitchFamily="34" charset="0"/>
              </a:rPr>
              <a:t>Solvents should not exceed recommended levels (with exceptions)</a:t>
            </a:r>
          </a:p>
          <a:p>
            <a:pPr lvl="1"/>
            <a:r>
              <a:rPr lang="en-US" sz="2800" dirty="0">
                <a:latin typeface="Calibri" panose="020F0502020204030204" pitchFamily="34" charset="0"/>
                <a:cs typeface="Calibri" panose="020F0502020204030204" pitchFamily="34" charset="0"/>
              </a:rPr>
              <a:t>Supporting tox studies should use appropriate protocols</a:t>
            </a:r>
          </a:p>
          <a:p>
            <a:endParaRPr lang="en-US" sz="2667" dirty="0"/>
          </a:p>
          <a:p>
            <a:endParaRPr lang="en-US" sz="2933" dirty="0"/>
          </a:p>
        </p:txBody>
      </p:sp>
    </p:spTree>
    <p:extLst>
      <p:ext uri="{BB962C8B-B14F-4D97-AF65-F5344CB8AC3E}">
        <p14:creationId xmlns:p14="http://schemas.microsoft.com/office/powerpoint/2010/main" val="33717662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1" y="200718"/>
            <a:ext cx="11345471" cy="1163133"/>
          </a:xfrm>
        </p:spPr>
        <p:txBody>
          <a:bodyPr>
            <a:noAutofit/>
          </a:bodyPr>
          <a:lstStyle/>
          <a:p>
            <a:r>
              <a:rPr lang="en-US" sz="3600" b="1" dirty="0">
                <a:latin typeface="Calibri" panose="020F0502020204030204" pitchFamily="34" charset="0"/>
                <a:cs typeface="Calibri" panose="020F0502020204030204" pitchFamily="34" charset="0"/>
              </a:rPr>
              <a:t>ICH Q3C(R10) – Residual solvents</a:t>
            </a:r>
          </a:p>
        </p:txBody>
      </p:sp>
      <p:sp>
        <p:nvSpPr>
          <p:cNvPr id="3" name="Content Placeholder 2"/>
          <p:cNvSpPr>
            <a:spLocks noGrp="1"/>
          </p:cNvSpPr>
          <p:nvPr>
            <p:ph idx="1"/>
          </p:nvPr>
        </p:nvSpPr>
        <p:spPr>
          <a:xfrm>
            <a:off x="423265" y="1549830"/>
            <a:ext cx="11345471" cy="4453180"/>
          </a:xfrm>
        </p:spPr>
        <p:txBody>
          <a:bodyPr>
            <a:normAutofit/>
          </a:bodyPr>
          <a:lstStyle/>
          <a:p>
            <a:r>
              <a:rPr lang="en-US" sz="3200" dirty="0">
                <a:latin typeface="Calibri" panose="020F0502020204030204" pitchFamily="34" charset="0"/>
                <a:cs typeface="Calibri" panose="020F0502020204030204" pitchFamily="34" charset="0"/>
              </a:rPr>
              <a:t>Scope</a:t>
            </a:r>
          </a:p>
          <a:p>
            <a:pPr lvl="1"/>
            <a:r>
              <a:rPr lang="en-US" sz="2800" dirty="0">
                <a:latin typeface="Calibri" panose="020F0502020204030204" pitchFamily="34" charset="0"/>
                <a:cs typeface="Calibri" panose="020F0502020204030204" pitchFamily="34" charset="0"/>
              </a:rPr>
              <a:t>Solvents in drug substance, products and excipients</a:t>
            </a:r>
          </a:p>
          <a:p>
            <a:pPr lvl="1"/>
            <a:r>
              <a:rPr lang="en-US" sz="2800" dirty="0">
                <a:latin typeface="Calibri" panose="020F0502020204030204" pitchFamily="34" charset="0"/>
                <a:cs typeface="Calibri" panose="020F0502020204030204" pitchFamily="34" charset="0"/>
              </a:rPr>
              <a:t>Does not apply to potential new drug substances, excipients or drug products used during clinical research stages, nor to existing marketed drug products</a:t>
            </a:r>
          </a:p>
          <a:p>
            <a:pPr lvl="1"/>
            <a:r>
              <a:rPr lang="en-US" sz="2800" dirty="0">
                <a:latin typeface="Calibri" panose="020F0502020204030204" pitchFamily="34" charset="0"/>
                <a:cs typeface="Calibri" panose="020F0502020204030204" pitchFamily="34" charset="0"/>
              </a:rPr>
              <a:t>Applies to all dosage forms and routes of administration</a:t>
            </a:r>
          </a:p>
          <a:p>
            <a:pPr lvl="1"/>
            <a:r>
              <a:rPr lang="en-US" sz="2800" dirty="0">
                <a:latin typeface="Calibri" panose="020F0502020204030204" pitchFamily="34" charset="0"/>
                <a:cs typeface="Calibri" panose="020F0502020204030204" pitchFamily="34" charset="0"/>
              </a:rPr>
              <a:t>Higher levels may be acceptable in certain cases (short term administration - 30 d, or topical administration) with justification</a:t>
            </a:r>
          </a:p>
        </p:txBody>
      </p:sp>
    </p:spTree>
    <p:extLst>
      <p:ext uri="{BB962C8B-B14F-4D97-AF65-F5344CB8AC3E}">
        <p14:creationId xmlns:p14="http://schemas.microsoft.com/office/powerpoint/2010/main" val="28047693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727" y="200718"/>
            <a:ext cx="11108545" cy="1163133"/>
          </a:xfrm>
        </p:spPr>
        <p:txBody>
          <a:bodyPr>
            <a:noAutofit/>
          </a:bodyPr>
          <a:lstStyle/>
          <a:p>
            <a:r>
              <a:rPr lang="en-US" sz="3600" b="1" dirty="0">
                <a:latin typeface="Calibri" panose="020F0502020204030204" pitchFamily="34" charset="0"/>
                <a:cs typeface="Calibri" panose="020F0502020204030204" pitchFamily="34" charset="0"/>
              </a:rPr>
              <a:t>ICH Q3C(R10) – Residual solvents</a:t>
            </a:r>
          </a:p>
        </p:txBody>
      </p:sp>
      <p:sp>
        <p:nvSpPr>
          <p:cNvPr id="3" name="Content Placeholder 2"/>
          <p:cNvSpPr>
            <a:spLocks noGrp="1"/>
          </p:cNvSpPr>
          <p:nvPr>
            <p:ph idx="1"/>
          </p:nvPr>
        </p:nvSpPr>
        <p:spPr>
          <a:xfrm>
            <a:off x="431802" y="1190230"/>
            <a:ext cx="11345471" cy="5198995"/>
          </a:xfrm>
        </p:spPr>
        <p:txBody>
          <a:bodyPr>
            <a:noAutofit/>
          </a:bodyPr>
          <a:lstStyle/>
          <a:p>
            <a:r>
              <a:rPr lang="en-US" sz="2400" dirty="0">
                <a:latin typeface="Calibri" panose="020F0502020204030204" pitchFamily="34" charset="0"/>
                <a:cs typeface="Calibri" panose="020F0502020204030204" pitchFamily="34" charset="0"/>
              </a:rPr>
              <a:t>PDEs for ~ 60 commonly used solvents</a:t>
            </a:r>
          </a:p>
          <a:p>
            <a:pPr lvl="1"/>
            <a:r>
              <a:rPr lang="en-US" dirty="0">
                <a:latin typeface="Calibri" panose="020F0502020204030204" pitchFamily="34" charset="0"/>
                <a:cs typeface="Calibri" panose="020F0502020204030204" pitchFamily="34" charset="0"/>
              </a:rPr>
              <a:t>Includes supporting monographs in Appendices 4 and 5</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Grouped in 3 categories</a:t>
            </a:r>
          </a:p>
          <a:p>
            <a:pPr lvl="1"/>
            <a:r>
              <a:rPr lang="en-US" dirty="0">
                <a:latin typeface="Calibri" panose="020F0502020204030204" pitchFamily="34" charset="0"/>
                <a:cs typeface="Calibri" panose="020F0502020204030204" pitchFamily="34" charset="0"/>
              </a:rPr>
              <a:t>Class 1: Solvents to be avoided (unacceptable toxicity; deleterious to environment)</a:t>
            </a:r>
          </a:p>
          <a:p>
            <a:pPr lvl="1"/>
            <a:r>
              <a:rPr lang="en-US" dirty="0">
                <a:latin typeface="Calibri" panose="020F0502020204030204" pitchFamily="34" charset="0"/>
                <a:cs typeface="Calibri" panose="020F0502020204030204" pitchFamily="34" charset="0"/>
              </a:rPr>
              <a:t>Class 2: Solvents to be limited (inherent, though less severe, toxicity)</a:t>
            </a:r>
          </a:p>
          <a:p>
            <a:pPr lvl="1"/>
            <a:r>
              <a:rPr lang="en-US" dirty="0">
                <a:latin typeface="Calibri" panose="020F0502020204030204" pitchFamily="34" charset="0"/>
                <a:cs typeface="Calibri" panose="020F0502020204030204" pitchFamily="34" charset="0"/>
              </a:rPr>
              <a:t>Class 3: Solvents with low toxic potential (PDEs of 50 mg/day or more), should be used where practical</a:t>
            </a:r>
          </a:p>
          <a:p>
            <a:pPr lvl="1"/>
            <a:r>
              <a:rPr lang="en-US" i="1" dirty="0">
                <a:solidFill>
                  <a:srgbClr val="FF0000"/>
                </a:solidFill>
                <a:latin typeface="Calibri" panose="020F0502020204030204" pitchFamily="34" charset="0"/>
                <a:cs typeface="Calibri" panose="020F0502020204030204" pitchFamily="34" charset="0"/>
              </a:rPr>
              <a:t>(Class 4): </a:t>
            </a:r>
            <a:r>
              <a:rPr lang="en-US" dirty="0">
                <a:solidFill>
                  <a:srgbClr val="FF0000"/>
                </a:solidFill>
                <a:latin typeface="Calibri" panose="020F0502020204030204" pitchFamily="34" charset="0"/>
                <a:cs typeface="Calibri" panose="020F0502020204030204" pitchFamily="34" charset="0"/>
              </a:rPr>
              <a:t>Solvents for which no adequate toxicological data are available; justification required</a:t>
            </a:r>
          </a:p>
          <a:p>
            <a:pPr marL="0" indent="0">
              <a:buNone/>
            </a:pP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Periodic maintenance to include new solvents or revise previously identified PDEs based on new information – current R10 EWG</a:t>
            </a:r>
          </a:p>
        </p:txBody>
      </p:sp>
    </p:spTree>
    <p:extLst>
      <p:ext uri="{BB962C8B-B14F-4D97-AF65-F5344CB8AC3E}">
        <p14:creationId xmlns:p14="http://schemas.microsoft.com/office/powerpoint/2010/main" val="35047478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435" y="200718"/>
            <a:ext cx="10990837" cy="1163133"/>
          </a:xfrm>
        </p:spPr>
        <p:txBody>
          <a:bodyPr>
            <a:noAutofit/>
          </a:bodyPr>
          <a:lstStyle/>
          <a:p>
            <a:r>
              <a:rPr lang="en-US" sz="3600" b="1" dirty="0">
                <a:latin typeface="Calibri" panose="020F0502020204030204" pitchFamily="34" charset="0"/>
                <a:cs typeface="Calibri" panose="020F0502020204030204" pitchFamily="34" charset="0"/>
              </a:rPr>
              <a:t>ICH Q3C(R10) – Class 1 Solvents</a:t>
            </a:r>
          </a:p>
        </p:txBody>
      </p:sp>
      <p:sp>
        <p:nvSpPr>
          <p:cNvPr id="3" name="Content Placeholder 2"/>
          <p:cNvSpPr>
            <a:spLocks noGrp="1"/>
          </p:cNvSpPr>
          <p:nvPr>
            <p:ph idx="1"/>
          </p:nvPr>
        </p:nvSpPr>
        <p:spPr>
          <a:xfrm>
            <a:off x="414728" y="1363851"/>
            <a:ext cx="11345471" cy="4604787"/>
          </a:xfrm>
        </p:spPr>
        <p:txBody>
          <a:bodyPr>
            <a:normAutofit/>
          </a:bodyPr>
          <a:lstStyle/>
          <a:p>
            <a:r>
              <a:rPr lang="en-US" sz="3200" dirty="0">
                <a:latin typeface="Calibri" panose="020F0502020204030204" pitchFamily="34" charset="0"/>
                <a:cs typeface="Calibri" panose="020F0502020204030204" pitchFamily="34" charset="0"/>
              </a:rPr>
              <a:t>Class 1</a:t>
            </a:r>
          </a:p>
          <a:p>
            <a:pPr lvl="1"/>
            <a:r>
              <a:rPr lang="en-US" sz="2800" dirty="0">
                <a:latin typeface="Calibri" panose="020F0502020204030204" pitchFamily="34" charset="0"/>
                <a:cs typeface="Calibri" panose="020F0502020204030204" pitchFamily="34" charset="0"/>
              </a:rPr>
              <a:t>Known human carcinogens, strongly suspected human carcinogens, and environmental contaminants</a:t>
            </a:r>
          </a:p>
          <a:p>
            <a:pPr lvl="1"/>
            <a:r>
              <a:rPr lang="en-US" sz="2800" dirty="0">
                <a:latin typeface="Calibri" panose="020F0502020204030204" pitchFamily="34" charset="0"/>
                <a:cs typeface="Calibri" panose="020F0502020204030204" pitchFamily="34" charset="0"/>
              </a:rPr>
              <a:t>If unavoidable; use should be restricted (Table 1)</a:t>
            </a:r>
          </a:p>
        </p:txBody>
      </p:sp>
      <p:pic>
        <p:nvPicPr>
          <p:cNvPr id="5" name="Content Placeholder 5">
            <a:extLst>
              <a:ext uri="{FF2B5EF4-FFF2-40B4-BE49-F238E27FC236}">
                <a16:creationId xmlns:a16="http://schemas.microsoft.com/office/drawing/2014/main" id="{804D2D8F-18D7-85CA-D620-876574E33038}"/>
              </a:ext>
            </a:extLst>
          </p:cNvPr>
          <p:cNvPicPr>
            <a:picLocks noChangeAspect="1"/>
          </p:cNvPicPr>
          <p:nvPr/>
        </p:nvPicPr>
        <p:blipFill>
          <a:blip r:embed="rId2"/>
          <a:stretch>
            <a:fillRect/>
          </a:stretch>
        </p:blipFill>
        <p:spPr>
          <a:xfrm>
            <a:off x="2052256" y="3334815"/>
            <a:ext cx="7635754" cy="2633823"/>
          </a:xfrm>
          <a:prstGeom prst="rect">
            <a:avLst/>
          </a:prstGeom>
        </p:spPr>
      </p:pic>
    </p:spTree>
    <p:extLst>
      <p:ext uri="{BB962C8B-B14F-4D97-AF65-F5344CB8AC3E}">
        <p14:creationId xmlns:p14="http://schemas.microsoft.com/office/powerpoint/2010/main" val="1742718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1" y="200719"/>
            <a:ext cx="11345471" cy="991474"/>
          </a:xfrm>
        </p:spPr>
        <p:txBody>
          <a:bodyPr>
            <a:noAutofit/>
          </a:bodyPr>
          <a:lstStyle/>
          <a:p>
            <a:r>
              <a:rPr lang="en-US" sz="3600" b="1" dirty="0">
                <a:latin typeface="Calibri" panose="020F0502020204030204" pitchFamily="34" charset="0"/>
                <a:cs typeface="Calibri" panose="020F0502020204030204" pitchFamily="34" charset="0"/>
              </a:rPr>
              <a:t>ICH Q3C(R10) – Class 2 Solvents</a:t>
            </a:r>
          </a:p>
        </p:txBody>
      </p:sp>
      <p:sp>
        <p:nvSpPr>
          <p:cNvPr id="3" name="Content Placeholder 2"/>
          <p:cNvSpPr>
            <a:spLocks noGrp="1"/>
          </p:cNvSpPr>
          <p:nvPr>
            <p:ph idx="1"/>
          </p:nvPr>
        </p:nvSpPr>
        <p:spPr>
          <a:xfrm>
            <a:off x="431802" y="1363851"/>
            <a:ext cx="11345471" cy="5010743"/>
          </a:xfrm>
        </p:spPr>
        <p:txBody>
          <a:bodyPr>
            <a:normAutofit/>
          </a:bodyPr>
          <a:lstStyle/>
          <a:p>
            <a:r>
              <a:rPr lang="en-US" dirty="0">
                <a:latin typeface="Calibri" panose="020F0502020204030204" pitchFamily="34" charset="0"/>
                <a:cs typeface="Calibri" panose="020F0502020204030204" pitchFamily="34" charset="0"/>
              </a:rPr>
              <a:t>Class 2</a:t>
            </a:r>
          </a:p>
          <a:p>
            <a:pPr lvl="1"/>
            <a:r>
              <a:rPr lang="en-US" dirty="0">
                <a:latin typeface="Calibri" panose="020F0502020204030204" pitchFamily="34" charset="0"/>
                <a:cs typeface="Calibri" panose="020F0502020204030204" pitchFamily="34" charset="0"/>
              </a:rPr>
              <a:t>Non-genotoxic animal carcinogens or possible causative agents of other irreversible toxicity such as neurotoxicity or teratogenicity</a:t>
            </a:r>
          </a:p>
          <a:p>
            <a:pPr lvl="1"/>
            <a:r>
              <a:rPr lang="en-US" dirty="0">
                <a:latin typeface="Calibri" panose="020F0502020204030204" pitchFamily="34" charset="0"/>
                <a:cs typeface="Calibri" panose="020F0502020204030204" pitchFamily="34" charset="0"/>
              </a:rPr>
              <a:t>Solvents suspected of other significant but reversible toxicities</a:t>
            </a:r>
          </a:p>
          <a:p>
            <a:pPr lvl="1"/>
            <a:r>
              <a:rPr lang="en-US" dirty="0">
                <a:latin typeface="Calibri" panose="020F0502020204030204" pitchFamily="34" charset="0"/>
                <a:cs typeface="Calibri" panose="020F0502020204030204" pitchFamily="34" charset="0"/>
              </a:rPr>
              <a:t>Table 2 lists PDEs and associated concentration limits (ppm)</a:t>
            </a:r>
          </a:p>
        </p:txBody>
      </p:sp>
      <p:pic>
        <p:nvPicPr>
          <p:cNvPr id="5" name="Content Placeholder 6">
            <a:extLst>
              <a:ext uri="{FF2B5EF4-FFF2-40B4-BE49-F238E27FC236}">
                <a16:creationId xmlns:a16="http://schemas.microsoft.com/office/drawing/2014/main" id="{0308079D-1C55-0C6D-B8F7-EF100AD37CEB}"/>
              </a:ext>
            </a:extLst>
          </p:cNvPr>
          <p:cNvPicPr>
            <a:picLocks noChangeAspect="1"/>
          </p:cNvPicPr>
          <p:nvPr/>
        </p:nvPicPr>
        <p:blipFill>
          <a:blip r:embed="rId2"/>
          <a:stretch>
            <a:fillRect/>
          </a:stretch>
        </p:blipFill>
        <p:spPr>
          <a:xfrm>
            <a:off x="2008551" y="3429001"/>
            <a:ext cx="6736980" cy="2798180"/>
          </a:xfrm>
          <a:prstGeom prst="rect">
            <a:avLst/>
          </a:prstGeom>
        </p:spPr>
      </p:pic>
    </p:spTree>
    <p:extLst>
      <p:ext uri="{BB962C8B-B14F-4D97-AF65-F5344CB8AC3E}">
        <p14:creationId xmlns:p14="http://schemas.microsoft.com/office/powerpoint/2010/main" val="12546403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159" y="200718"/>
            <a:ext cx="10956113" cy="1163133"/>
          </a:xfrm>
        </p:spPr>
        <p:txBody>
          <a:bodyPr>
            <a:noAutofit/>
          </a:bodyPr>
          <a:lstStyle/>
          <a:p>
            <a:r>
              <a:rPr lang="en-US" sz="3600" b="1" dirty="0">
                <a:latin typeface="Calibri" panose="020F0502020204030204" pitchFamily="34" charset="0"/>
                <a:cs typeface="Calibri" panose="020F0502020204030204" pitchFamily="34" charset="0"/>
              </a:rPr>
              <a:t>Class 2 - Setting concentration limits</a:t>
            </a:r>
          </a:p>
        </p:txBody>
      </p:sp>
      <p:sp>
        <p:nvSpPr>
          <p:cNvPr id="3" name="Content Placeholder 2"/>
          <p:cNvSpPr>
            <a:spLocks noGrp="1"/>
          </p:cNvSpPr>
          <p:nvPr>
            <p:ph idx="1"/>
          </p:nvPr>
        </p:nvSpPr>
        <p:spPr>
          <a:xfrm>
            <a:off x="431802" y="1363851"/>
            <a:ext cx="11345471" cy="5010743"/>
          </a:xfrm>
        </p:spPr>
        <p:txBody>
          <a:bodyPr>
            <a:normAutofit/>
          </a:bodyPr>
          <a:lstStyle/>
          <a:p>
            <a:r>
              <a:rPr lang="en-US" sz="3200" u="sng" dirty="0">
                <a:latin typeface="Calibri" panose="020F0502020204030204" pitchFamily="34" charset="0"/>
                <a:cs typeface="Calibri" panose="020F0502020204030204" pitchFamily="34" charset="0"/>
              </a:rPr>
              <a:t>Option 1</a:t>
            </a:r>
            <a:r>
              <a:rPr lang="en-US" sz="3200" dirty="0">
                <a:latin typeface="Calibri" panose="020F0502020204030204" pitchFamily="34" charset="0"/>
                <a:cs typeface="Calibri" panose="020F0502020204030204" pitchFamily="34" charset="0"/>
              </a:rPr>
              <a:t>: 	Concentration limits in Table 2 can be used</a:t>
            </a:r>
          </a:p>
          <a:p>
            <a:pPr lvl="1"/>
            <a:r>
              <a:rPr lang="en-US" sz="2800" dirty="0">
                <a:latin typeface="Calibri" panose="020F0502020204030204" pitchFamily="34" charset="0"/>
                <a:cs typeface="Calibri" panose="020F0502020204030204" pitchFamily="34" charset="0"/>
              </a:rPr>
              <a:t>Calculated using equation and assumes product mass of 10 g daily</a:t>
            </a:r>
          </a:p>
          <a:p>
            <a:pPr lvl="1"/>
            <a:endParaRPr lang="en-US" sz="2800" dirty="0">
              <a:latin typeface="Calibri" panose="020F0502020204030204" pitchFamily="34" charset="0"/>
              <a:cs typeface="Calibri" panose="020F0502020204030204" pitchFamily="34" charset="0"/>
            </a:endParaRPr>
          </a:p>
          <a:p>
            <a:pPr marL="609585" lvl="1" indent="0">
              <a:buNone/>
            </a:pPr>
            <a:r>
              <a:rPr lang="en-US" sz="2800" dirty="0">
                <a:latin typeface="Calibri" panose="020F0502020204030204" pitchFamily="34" charset="0"/>
                <a:cs typeface="Calibri" panose="020F0502020204030204" pitchFamily="34" charset="0"/>
              </a:rPr>
              <a:t>		</a:t>
            </a:r>
            <a:r>
              <a:rPr lang="en-US" sz="2800" b="1" dirty="0">
                <a:latin typeface="Calibri" panose="020F0502020204030204" pitchFamily="34" charset="0"/>
                <a:cs typeface="Calibri" panose="020F0502020204030204" pitchFamily="34" charset="0"/>
              </a:rPr>
              <a:t>Concentration (ppm) = (1000 x PDE)/dose</a:t>
            </a:r>
          </a:p>
          <a:p>
            <a:pPr marL="609585" lvl="1" indent="0">
              <a:buNone/>
            </a:pPr>
            <a:endParaRPr lang="en-US" sz="2800" dirty="0">
              <a:latin typeface="Calibri" panose="020F0502020204030204" pitchFamily="34" charset="0"/>
              <a:cs typeface="Calibri" panose="020F0502020204030204" pitchFamily="34" charset="0"/>
            </a:endParaRPr>
          </a:p>
          <a:p>
            <a:pPr lvl="1"/>
            <a:r>
              <a:rPr lang="en-US" sz="2800" dirty="0">
                <a:latin typeface="Calibri" panose="020F0502020204030204" pitchFamily="34" charset="0"/>
                <a:cs typeface="Calibri" panose="020F0502020204030204" pitchFamily="34" charset="0"/>
              </a:rPr>
              <a:t>May be applied if daily dose is not known or fixed</a:t>
            </a:r>
          </a:p>
          <a:p>
            <a:pPr lvl="1"/>
            <a:r>
              <a:rPr lang="en-US" sz="2800" dirty="0">
                <a:latin typeface="Calibri" panose="020F0502020204030204" pitchFamily="34" charset="0"/>
                <a:cs typeface="Calibri" panose="020F0502020204030204" pitchFamily="34" charset="0"/>
              </a:rPr>
              <a:t>If all excipients, and drug substance meet limits in Option 1, components may be used in any proportion</a:t>
            </a:r>
          </a:p>
          <a:p>
            <a:pPr lvl="1"/>
            <a:r>
              <a:rPr lang="en-US" sz="2800" dirty="0">
                <a:latin typeface="Calibri" panose="020F0502020204030204" pitchFamily="34" charset="0"/>
                <a:cs typeface="Calibri" panose="020F0502020204030204" pitchFamily="34" charset="0"/>
              </a:rPr>
              <a:t>No further calculation necessary if daily dose does not exceed 10 g</a:t>
            </a:r>
          </a:p>
          <a:p>
            <a:pPr lvl="1"/>
            <a:r>
              <a:rPr lang="en-US" sz="2800" dirty="0">
                <a:latin typeface="Calibri" panose="020F0502020204030204" pitchFamily="34" charset="0"/>
                <a:cs typeface="Calibri" panose="020F0502020204030204" pitchFamily="34" charset="0"/>
              </a:rPr>
              <a:t>If &gt; 10 g/day; consider under Option 2</a:t>
            </a:r>
          </a:p>
          <a:p>
            <a:pPr lvl="1"/>
            <a:endParaRPr lang="en-US" sz="2667" dirty="0"/>
          </a:p>
          <a:p>
            <a:endParaRPr lang="en-US" sz="2667" dirty="0"/>
          </a:p>
          <a:p>
            <a:endParaRPr lang="en-US" sz="2933" dirty="0"/>
          </a:p>
        </p:txBody>
      </p:sp>
    </p:spTree>
    <p:extLst>
      <p:ext uri="{BB962C8B-B14F-4D97-AF65-F5344CB8AC3E}">
        <p14:creationId xmlns:p14="http://schemas.microsoft.com/office/powerpoint/2010/main" val="30152260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585" y="200719"/>
            <a:ext cx="10967687" cy="843496"/>
          </a:xfrm>
        </p:spPr>
        <p:txBody>
          <a:bodyPr>
            <a:noAutofit/>
          </a:bodyPr>
          <a:lstStyle/>
          <a:p>
            <a:r>
              <a:rPr lang="en-US" sz="3600" b="1" dirty="0">
                <a:latin typeface="Calibri" panose="020F0502020204030204" pitchFamily="34" charset="0"/>
                <a:cs typeface="Calibri" panose="020F0502020204030204" pitchFamily="34" charset="0"/>
              </a:rPr>
              <a:t>Class 2 - Setting concentration limits</a:t>
            </a:r>
          </a:p>
        </p:txBody>
      </p:sp>
      <p:sp>
        <p:nvSpPr>
          <p:cNvPr id="3" name="Content Placeholder 2"/>
          <p:cNvSpPr>
            <a:spLocks noGrp="1"/>
          </p:cNvSpPr>
          <p:nvPr>
            <p:ph idx="1"/>
          </p:nvPr>
        </p:nvSpPr>
        <p:spPr>
          <a:xfrm>
            <a:off x="308081" y="1044216"/>
            <a:ext cx="11345471" cy="5101942"/>
          </a:xfrm>
        </p:spPr>
        <p:txBody>
          <a:bodyPr>
            <a:normAutofit/>
          </a:bodyPr>
          <a:lstStyle/>
          <a:p>
            <a:r>
              <a:rPr lang="en-US" sz="3200" u="sng" dirty="0">
                <a:latin typeface="Calibri" panose="020F0502020204030204" pitchFamily="34" charset="0"/>
                <a:cs typeface="Calibri" panose="020F0502020204030204" pitchFamily="34" charset="0"/>
              </a:rPr>
              <a:t>Option 2</a:t>
            </a:r>
            <a:r>
              <a:rPr lang="en-US" sz="3200" dirty="0">
                <a:latin typeface="Calibri" panose="020F0502020204030204" pitchFamily="34" charset="0"/>
                <a:cs typeface="Calibri" panose="020F0502020204030204" pitchFamily="34" charset="0"/>
              </a:rPr>
              <a:t>:	Add amounts of residual solvent from each component of drug product</a:t>
            </a:r>
          </a:p>
          <a:p>
            <a:pPr marL="0" indent="0">
              <a:buNone/>
            </a:pPr>
            <a:endParaRPr lang="en-US" sz="2000"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The sum of amounts of solvent should be less than that given by the PDE</a:t>
            </a:r>
          </a:p>
          <a:p>
            <a:pPr lvl="1"/>
            <a:endParaRPr lang="en-US" dirty="0">
              <a:latin typeface="Calibri" panose="020F0502020204030204" pitchFamily="34" charset="0"/>
              <a:cs typeface="Calibri" panose="020F0502020204030204" pitchFamily="34" charset="0"/>
            </a:endParaRPr>
          </a:p>
          <a:p>
            <a:pPr lvl="1"/>
            <a:r>
              <a:rPr lang="en-US" dirty="0">
                <a:solidFill>
                  <a:schemeClr val="accent1"/>
                </a:solidFill>
                <a:latin typeface="Calibri" panose="020F0502020204030204" pitchFamily="34" charset="0"/>
                <a:cs typeface="Calibri" panose="020F0502020204030204" pitchFamily="34" charset="0"/>
              </a:rPr>
              <a:t>Example: Acetonitrile (PDE 4.1 mg/day; 410 ppm per Option 1)</a:t>
            </a:r>
            <a:endParaRPr lang="en-US" dirty="0"/>
          </a:p>
          <a:p>
            <a:endParaRPr lang="en-US" sz="2667" dirty="0"/>
          </a:p>
          <a:p>
            <a:endParaRPr lang="en-US" sz="2933" dirty="0"/>
          </a:p>
        </p:txBody>
      </p:sp>
      <p:pic>
        <p:nvPicPr>
          <p:cNvPr id="5" name="Picture 4">
            <a:extLst>
              <a:ext uri="{FF2B5EF4-FFF2-40B4-BE49-F238E27FC236}">
                <a16:creationId xmlns:a16="http://schemas.microsoft.com/office/drawing/2014/main" id="{A04543E6-60BE-42D3-96D1-178530DE0EAB}"/>
              </a:ext>
            </a:extLst>
          </p:cNvPr>
          <p:cNvPicPr>
            <a:picLocks noChangeAspect="1"/>
          </p:cNvPicPr>
          <p:nvPr/>
        </p:nvPicPr>
        <p:blipFill>
          <a:blip r:embed="rId2"/>
          <a:stretch>
            <a:fillRect/>
          </a:stretch>
        </p:blipFill>
        <p:spPr>
          <a:xfrm>
            <a:off x="1612014" y="3790424"/>
            <a:ext cx="8737601" cy="2264533"/>
          </a:xfrm>
          <a:prstGeom prst="rect">
            <a:avLst/>
          </a:prstGeom>
        </p:spPr>
      </p:pic>
    </p:spTree>
    <p:extLst>
      <p:ext uri="{BB962C8B-B14F-4D97-AF65-F5344CB8AC3E}">
        <p14:creationId xmlns:p14="http://schemas.microsoft.com/office/powerpoint/2010/main" val="4902019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1" y="200718"/>
            <a:ext cx="11345471" cy="1163133"/>
          </a:xfrm>
        </p:spPr>
        <p:txBody>
          <a:bodyPr>
            <a:noAutofit/>
          </a:bodyPr>
          <a:lstStyle/>
          <a:p>
            <a:r>
              <a:rPr lang="en-US" sz="3600" b="1" dirty="0">
                <a:latin typeface="Calibri" panose="020F0502020204030204" pitchFamily="34" charset="0"/>
                <a:cs typeface="Calibri" panose="020F0502020204030204" pitchFamily="34" charset="0"/>
              </a:rPr>
              <a:t>ICH Q3C(R10) – Class 3 Solvents</a:t>
            </a:r>
          </a:p>
        </p:txBody>
      </p:sp>
      <p:sp>
        <p:nvSpPr>
          <p:cNvPr id="3" name="Content Placeholder 2"/>
          <p:cNvSpPr>
            <a:spLocks noGrp="1"/>
          </p:cNvSpPr>
          <p:nvPr>
            <p:ph idx="1"/>
          </p:nvPr>
        </p:nvSpPr>
        <p:spPr>
          <a:xfrm>
            <a:off x="431802" y="1363851"/>
            <a:ext cx="11345471" cy="5010743"/>
          </a:xfrm>
        </p:spPr>
        <p:txBody>
          <a:bodyPr>
            <a:normAutofit/>
          </a:bodyPr>
          <a:lstStyle/>
          <a:p>
            <a:r>
              <a:rPr lang="en-US" sz="3200" dirty="0">
                <a:latin typeface="Calibri" panose="020F0502020204030204" pitchFamily="34" charset="0"/>
                <a:cs typeface="Calibri" panose="020F0502020204030204" pitchFamily="34" charset="0"/>
              </a:rPr>
              <a:t>Class 3 (26 solvents listed)</a:t>
            </a:r>
          </a:p>
          <a:p>
            <a:pPr lvl="1"/>
            <a:r>
              <a:rPr lang="en-US" sz="2667" dirty="0">
                <a:latin typeface="Calibri" panose="020F0502020204030204" pitchFamily="34" charset="0"/>
                <a:cs typeface="Calibri" panose="020F0502020204030204" pitchFamily="34" charset="0"/>
              </a:rPr>
              <a:t>Solvents with low toxic potential to humans; no health-based exposure limit is needed</a:t>
            </a:r>
          </a:p>
          <a:p>
            <a:pPr lvl="1"/>
            <a:r>
              <a:rPr lang="en-US" sz="2667" dirty="0">
                <a:latin typeface="Calibri" panose="020F0502020204030204" pitchFamily="34" charset="0"/>
                <a:cs typeface="Calibri" panose="020F0502020204030204" pitchFamily="34" charset="0"/>
              </a:rPr>
              <a:t>No known human health hazard at levels normally accepted in pharmaceuticals</a:t>
            </a:r>
          </a:p>
          <a:p>
            <a:pPr lvl="1"/>
            <a:r>
              <a:rPr lang="en-US" sz="2667" dirty="0">
                <a:latin typeface="Calibri" panose="020F0502020204030204" pitchFamily="34" charset="0"/>
                <a:cs typeface="Calibri" panose="020F0502020204030204" pitchFamily="34" charset="0"/>
              </a:rPr>
              <a:t>No long-term toxicity or carcinogenicity studies for many; negative for </a:t>
            </a:r>
            <a:r>
              <a:rPr lang="en-US" sz="2667" dirty="0" err="1">
                <a:latin typeface="Calibri" panose="020F0502020204030204" pitchFamily="34" charset="0"/>
                <a:cs typeface="Calibri" panose="020F0502020204030204" pitchFamily="34" charset="0"/>
              </a:rPr>
              <a:t>genetox</a:t>
            </a:r>
            <a:endParaRPr lang="en-US" sz="2667" dirty="0">
              <a:latin typeface="Calibri" panose="020F0502020204030204" pitchFamily="34" charset="0"/>
              <a:cs typeface="Calibri" panose="020F0502020204030204" pitchFamily="34" charset="0"/>
            </a:endParaRPr>
          </a:p>
          <a:p>
            <a:pPr lvl="1"/>
            <a:r>
              <a:rPr lang="en-US" sz="2667" dirty="0">
                <a:latin typeface="Calibri" panose="020F0502020204030204" pitchFamily="34" charset="0"/>
                <a:cs typeface="Calibri" panose="020F0502020204030204" pitchFamily="34" charset="0"/>
              </a:rPr>
              <a:t>PDEs of 50 mg/day or more</a:t>
            </a:r>
          </a:p>
          <a:p>
            <a:pPr lvl="1"/>
            <a:r>
              <a:rPr lang="en-US" sz="2667" dirty="0">
                <a:latin typeface="Calibri" panose="020F0502020204030204" pitchFamily="34" charset="0"/>
                <a:cs typeface="Calibri" panose="020F0502020204030204" pitchFamily="34" charset="0"/>
              </a:rPr>
              <a:t>50 mg/day acceptable without justification; higher levels may be acceptable provided they are realistic in relation to manufacturing capability and GMP</a:t>
            </a:r>
          </a:p>
        </p:txBody>
      </p:sp>
    </p:spTree>
    <p:extLst>
      <p:ext uri="{BB962C8B-B14F-4D97-AF65-F5344CB8AC3E}">
        <p14:creationId xmlns:p14="http://schemas.microsoft.com/office/powerpoint/2010/main" val="11883266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2" y="200718"/>
            <a:ext cx="11091470" cy="1163133"/>
          </a:xfrm>
        </p:spPr>
        <p:txBody>
          <a:bodyPr>
            <a:noAutofit/>
          </a:bodyPr>
          <a:lstStyle/>
          <a:p>
            <a:r>
              <a:rPr lang="en-US" sz="3600" b="1" dirty="0">
                <a:latin typeface="Calibri" panose="020F0502020204030204" pitchFamily="34" charset="0"/>
                <a:cs typeface="Calibri" panose="020F0502020204030204" pitchFamily="34" charset="0"/>
              </a:rPr>
              <a:t>ICH Q3C(R10) – Solvents with no tox data</a:t>
            </a:r>
          </a:p>
        </p:txBody>
      </p:sp>
      <p:sp>
        <p:nvSpPr>
          <p:cNvPr id="3" name="Content Placeholder 2"/>
          <p:cNvSpPr>
            <a:spLocks noGrp="1"/>
          </p:cNvSpPr>
          <p:nvPr>
            <p:ph idx="1"/>
          </p:nvPr>
        </p:nvSpPr>
        <p:spPr>
          <a:xfrm>
            <a:off x="431802" y="1363851"/>
            <a:ext cx="10795641" cy="5010743"/>
          </a:xfrm>
        </p:spPr>
        <p:txBody>
          <a:bodyPr>
            <a:normAutofit/>
          </a:bodyPr>
          <a:lstStyle/>
          <a:p>
            <a:r>
              <a:rPr lang="en-US" sz="3200" dirty="0">
                <a:latin typeface="Calibri" panose="020F0502020204030204" pitchFamily="34" charset="0"/>
                <a:cs typeface="Calibri" panose="020F0502020204030204" pitchFamily="34" charset="0"/>
              </a:rPr>
              <a:t>Solvents for which no adequate toxicological data</a:t>
            </a:r>
          </a:p>
          <a:p>
            <a:pPr lvl="1"/>
            <a:r>
              <a:rPr lang="en-US" sz="2800" dirty="0">
                <a:latin typeface="Calibri" panose="020F0502020204030204" pitchFamily="34" charset="0"/>
                <a:cs typeface="Calibri" panose="020F0502020204030204" pitchFamily="34" charset="0"/>
              </a:rPr>
              <a:t>May be of interest to manufacturers</a:t>
            </a:r>
          </a:p>
          <a:p>
            <a:pPr lvl="1"/>
            <a:r>
              <a:rPr lang="en-US" sz="2800" dirty="0">
                <a:latin typeface="Calibri" panose="020F0502020204030204" pitchFamily="34" charset="0"/>
                <a:cs typeface="Calibri" panose="020F0502020204030204" pitchFamily="34" charset="0"/>
              </a:rPr>
              <a:t>No adequate tox data on which to base a PDE</a:t>
            </a:r>
          </a:p>
          <a:p>
            <a:pPr lvl="1"/>
            <a:r>
              <a:rPr lang="en-US" sz="2800" dirty="0">
                <a:latin typeface="Calibri" panose="020F0502020204030204" pitchFamily="34" charset="0"/>
                <a:cs typeface="Calibri" panose="020F0502020204030204" pitchFamily="34" charset="0"/>
              </a:rPr>
              <a:t>Manufacturers to supply justification for residual levels</a:t>
            </a:r>
          </a:p>
          <a:p>
            <a:pPr lvl="1"/>
            <a:r>
              <a:rPr lang="en-US" sz="2800" dirty="0">
                <a:latin typeface="Calibri" panose="020F0502020204030204" pitchFamily="34" charset="0"/>
                <a:cs typeface="Calibri" panose="020F0502020204030204" pitchFamily="34" charset="0"/>
              </a:rPr>
              <a:t>Examples:</a:t>
            </a:r>
          </a:p>
          <a:p>
            <a:pPr lvl="2"/>
            <a:r>
              <a:rPr lang="en-US" sz="2400" dirty="0">
                <a:latin typeface="Calibri" panose="020F0502020204030204" pitchFamily="34" charset="0"/>
                <a:cs typeface="Calibri" panose="020F0502020204030204" pitchFamily="34" charset="0"/>
              </a:rPr>
              <a:t>Isopropyl ether</a:t>
            </a:r>
          </a:p>
          <a:p>
            <a:pPr lvl="2"/>
            <a:r>
              <a:rPr lang="en-US" sz="2400" dirty="0" err="1">
                <a:latin typeface="Calibri" panose="020F0502020204030204" pitchFamily="34" charset="0"/>
                <a:cs typeface="Calibri" panose="020F0502020204030204" pitchFamily="34" charset="0"/>
              </a:rPr>
              <a:t>Methyltetrahydrofuran</a:t>
            </a:r>
            <a:endParaRPr lang="en-US" sz="2400" dirty="0">
              <a:latin typeface="Calibri" panose="020F0502020204030204" pitchFamily="34" charset="0"/>
              <a:cs typeface="Calibri" panose="020F0502020204030204" pitchFamily="34" charset="0"/>
            </a:endParaRPr>
          </a:p>
          <a:p>
            <a:pPr lvl="2"/>
            <a:r>
              <a:rPr lang="en-US" sz="2400" dirty="0" err="1">
                <a:latin typeface="Calibri" panose="020F0502020204030204" pitchFamily="34" charset="0"/>
                <a:cs typeface="Calibri" panose="020F0502020204030204" pitchFamily="34" charset="0"/>
              </a:rPr>
              <a:t>Methylisopropyl</a:t>
            </a:r>
            <a:r>
              <a:rPr lang="en-US" sz="2400" dirty="0">
                <a:latin typeface="Calibri" panose="020F0502020204030204" pitchFamily="34" charset="0"/>
                <a:cs typeface="Calibri" panose="020F0502020204030204" pitchFamily="34" charset="0"/>
              </a:rPr>
              <a:t> ketone</a:t>
            </a:r>
          </a:p>
          <a:p>
            <a:pPr lvl="2"/>
            <a:r>
              <a:rPr lang="en-US" sz="2400" dirty="0">
                <a:latin typeface="Calibri" panose="020F0502020204030204" pitchFamily="34" charset="0"/>
                <a:cs typeface="Calibri" panose="020F0502020204030204" pitchFamily="34" charset="0"/>
              </a:rPr>
              <a:t>1,1-dimethypropoane</a:t>
            </a:r>
          </a:p>
        </p:txBody>
      </p:sp>
    </p:spTree>
    <p:extLst>
      <p:ext uri="{BB962C8B-B14F-4D97-AF65-F5344CB8AC3E}">
        <p14:creationId xmlns:p14="http://schemas.microsoft.com/office/powerpoint/2010/main" val="17153763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734" y="200718"/>
            <a:ext cx="10944538" cy="1163133"/>
          </a:xfrm>
        </p:spPr>
        <p:txBody>
          <a:bodyPr>
            <a:noAutofit/>
          </a:bodyPr>
          <a:lstStyle/>
          <a:p>
            <a:r>
              <a:rPr lang="en-US" sz="3600" b="1" dirty="0">
                <a:latin typeface="Calibri" panose="020F0502020204030204" pitchFamily="34" charset="0"/>
                <a:cs typeface="Calibri" panose="020F0502020204030204" pitchFamily="34" charset="0"/>
              </a:rPr>
              <a:t>ICH Q3C(R10) – PDE calculation</a:t>
            </a:r>
          </a:p>
        </p:txBody>
      </p:sp>
      <p:sp>
        <p:nvSpPr>
          <p:cNvPr id="3" name="Content Placeholder 2"/>
          <p:cNvSpPr>
            <a:spLocks noGrp="1"/>
          </p:cNvSpPr>
          <p:nvPr>
            <p:ph idx="1"/>
          </p:nvPr>
        </p:nvSpPr>
        <p:spPr>
          <a:xfrm>
            <a:off x="431802" y="1363851"/>
            <a:ext cx="11345471" cy="4147949"/>
          </a:xfrm>
        </p:spPr>
        <p:txBody>
          <a:bodyPr>
            <a:normAutofit/>
          </a:bodyPr>
          <a:lstStyle/>
          <a:p>
            <a:r>
              <a:rPr lang="en-US" sz="3200" dirty="0">
                <a:latin typeface="Calibri" panose="020F0502020204030204" pitchFamily="34" charset="0"/>
                <a:cs typeface="Calibri" panose="020F0502020204030204" pitchFamily="34" charset="0"/>
              </a:rPr>
              <a:t>Methods for PDE calculation</a:t>
            </a:r>
          </a:p>
          <a:p>
            <a:pPr lvl="1"/>
            <a:endParaRPr lang="en-US" sz="2133" dirty="0"/>
          </a:p>
          <a:p>
            <a:pPr lvl="1"/>
            <a:endParaRPr lang="en-US" sz="2133" dirty="0"/>
          </a:p>
          <a:p>
            <a:pPr lvl="1"/>
            <a:endParaRPr lang="en-US" sz="2133" dirty="0"/>
          </a:p>
          <a:p>
            <a:pPr lvl="1"/>
            <a:endParaRPr lang="en-US" sz="2133" dirty="0"/>
          </a:p>
          <a:p>
            <a:pPr lvl="1"/>
            <a:endParaRPr lang="en-US" sz="2133" dirty="0"/>
          </a:p>
          <a:p>
            <a:pPr lvl="1"/>
            <a:r>
              <a:rPr lang="en-US" sz="3200" dirty="0">
                <a:latin typeface="Calibri" panose="020F0502020204030204" pitchFamily="34" charset="0"/>
                <a:cs typeface="Calibri" panose="020F0502020204030204" pitchFamily="34" charset="0"/>
              </a:rPr>
              <a:t>Assumes:</a:t>
            </a:r>
          </a:p>
          <a:p>
            <a:pPr lvl="2"/>
            <a:r>
              <a:rPr lang="en-US" sz="2800" dirty="0">
                <a:latin typeface="Calibri" panose="020F0502020204030204" pitchFamily="34" charset="0"/>
                <a:cs typeface="Calibri" panose="020F0502020204030204" pitchFamily="34" charset="0"/>
              </a:rPr>
              <a:t>100% systemic exposure regardless of route of administration</a:t>
            </a:r>
          </a:p>
          <a:p>
            <a:pPr lvl="2"/>
            <a:r>
              <a:rPr lang="en-US" sz="2800" dirty="0">
                <a:latin typeface="Calibri" panose="020F0502020204030204" pitchFamily="34" charset="0"/>
                <a:cs typeface="Calibri" panose="020F0502020204030204" pitchFamily="34" charset="0"/>
              </a:rPr>
              <a:t>50 kg human BW</a:t>
            </a:r>
            <a:endParaRPr lang="en-US" sz="2667" dirty="0"/>
          </a:p>
        </p:txBody>
      </p:sp>
      <p:pic>
        <p:nvPicPr>
          <p:cNvPr id="5" name="Picture 4">
            <a:extLst>
              <a:ext uri="{FF2B5EF4-FFF2-40B4-BE49-F238E27FC236}">
                <a16:creationId xmlns:a16="http://schemas.microsoft.com/office/drawing/2014/main" id="{DD0B41D3-E433-44CF-AC9B-00545F71EB3A}"/>
              </a:ext>
            </a:extLst>
          </p:cNvPr>
          <p:cNvPicPr>
            <a:picLocks noChangeAspect="1"/>
          </p:cNvPicPr>
          <p:nvPr/>
        </p:nvPicPr>
        <p:blipFill>
          <a:blip r:embed="rId2"/>
          <a:stretch>
            <a:fillRect/>
          </a:stretch>
        </p:blipFill>
        <p:spPr>
          <a:xfrm>
            <a:off x="2717901" y="2456411"/>
            <a:ext cx="5252395" cy="1007560"/>
          </a:xfrm>
          <a:prstGeom prst="rect">
            <a:avLst/>
          </a:prstGeom>
        </p:spPr>
      </p:pic>
    </p:spTree>
    <p:extLst>
      <p:ext uri="{BB962C8B-B14F-4D97-AF65-F5344CB8AC3E}">
        <p14:creationId xmlns:p14="http://schemas.microsoft.com/office/powerpoint/2010/main" val="10877615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861" y="200718"/>
            <a:ext cx="11002411" cy="1163133"/>
          </a:xfrm>
        </p:spPr>
        <p:txBody>
          <a:bodyPr>
            <a:noAutofit/>
          </a:bodyPr>
          <a:lstStyle/>
          <a:p>
            <a:r>
              <a:rPr lang="en-US" sz="3600" b="1" dirty="0">
                <a:latin typeface="Calibri" panose="020F0502020204030204" pitchFamily="34" charset="0"/>
                <a:cs typeface="Calibri" panose="020F0502020204030204" pitchFamily="34" charset="0"/>
              </a:rPr>
              <a:t>ICH Q3C(R7) – PDE calculation</a:t>
            </a:r>
          </a:p>
        </p:txBody>
      </p:sp>
      <p:sp>
        <p:nvSpPr>
          <p:cNvPr id="3" name="Content Placeholder 2"/>
          <p:cNvSpPr>
            <a:spLocks noGrp="1"/>
          </p:cNvSpPr>
          <p:nvPr>
            <p:ph idx="1"/>
          </p:nvPr>
        </p:nvSpPr>
        <p:spPr>
          <a:xfrm>
            <a:off x="431803" y="1363853"/>
            <a:ext cx="11181595" cy="3208148"/>
          </a:xfrm>
        </p:spPr>
        <p:txBody>
          <a:bodyPr>
            <a:normAutofit/>
          </a:bodyPr>
          <a:lstStyle/>
          <a:p>
            <a:r>
              <a:rPr lang="en-US" sz="3600" dirty="0">
                <a:latin typeface="Calibri" panose="020F0502020204030204" pitchFamily="34" charset="0"/>
                <a:cs typeface="Calibri" panose="020F0502020204030204" pitchFamily="34" charset="0"/>
              </a:rPr>
              <a:t>Uncertainty Factors</a:t>
            </a:r>
          </a:p>
          <a:p>
            <a:pPr lvl="1"/>
            <a:r>
              <a:rPr lang="en-US" dirty="0">
                <a:latin typeface="Calibri" panose="020F0502020204030204" pitchFamily="34" charset="0"/>
                <a:cs typeface="Calibri" panose="020F0502020204030204" pitchFamily="34" charset="0"/>
              </a:rPr>
              <a:t>F1: 	Extrapolation between species (2-12)</a:t>
            </a:r>
          </a:p>
          <a:p>
            <a:pPr lvl="1"/>
            <a:r>
              <a:rPr lang="en-US" dirty="0">
                <a:latin typeface="Calibri" panose="020F0502020204030204" pitchFamily="34" charset="0"/>
                <a:cs typeface="Calibri" panose="020F0502020204030204" pitchFamily="34" charset="0"/>
              </a:rPr>
              <a:t>F2: 	Variability between individuals (10)</a:t>
            </a:r>
          </a:p>
          <a:p>
            <a:pPr lvl="1"/>
            <a:r>
              <a:rPr lang="en-US" dirty="0">
                <a:latin typeface="Calibri" panose="020F0502020204030204" pitchFamily="34" charset="0"/>
                <a:cs typeface="Calibri" panose="020F0502020204030204" pitchFamily="34" charset="0"/>
              </a:rPr>
              <a:t>F3: 	Duration of tox studies (1-10)</a:t>
            </a:r>
          </a:p>
          <a:p>
            <a:pPr lvl="1"/>
            <a:r>
              <a:rPr lang="en-US" dirty="0">
                <a:latin typeface="Calibri" panose="020F0502020204030204" pitchFamily="34" charset="0"/>
                <a:cs typeface="Calibri" panose="020F0502020204030204" pitchFamily="34" charset="0"/>
              </a:rPr>
              <a:t>F4: 	Applied in cases of severe toxicity (non-genotoxic </a:t>
            </a:r>
            <a:r>
              <a:rPr lang="en-US" dirty="0" err="1">
                <a:latin typeface="Calibri" panose="020F0502020204030204" pitchFamily="34" charset="0"/>
                <a:cs typeface="Calibri" panose="020F0502020204030204" pitchFamily="34" charset="0"/>
              </a:rPr>
              <a:t>carc</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neurotox</a:t>
            </a:r>
            <a:r>
              <a:rPr lang="en-US" dirty="0">
                <a:latin typeface="Calibri" panose="020F0502020204030204" pitchFamily="34" charset="0"/>
                <a:cs typeface="Calibri" panose="020F0502020204030204" pitchFamily="34" charset="0"/>
              </a:rPr>
              <a:t>, 				teratogenicity) (1-10)</a:t>
            </a:r>
          </a:p>
          <a:p>
            <a:pPr lvl="1"/>
            <a:r>
              <a:rPr lang="en-US" dirty="0">
                <a:latin typeface="Calibri" panose="020F0502020204030204" pitchFamily="34" charset="0"/>
                <a:cs typeface="Calibri" panose="020F0502020204030204" pitchFamily="34" charset="0"/>
              </a:rPr>
              <a:t>F5: 	Applied if NOEL not established (10 when only LOEL is identified)</a:t>
            </a:r>
          </a:p>
        </p:txBody>
      </p:sp>
      <p:sp>
        <p:nvSpPr>
          <p:cNvPr id="5" name="TextBox 4">
            <a:extLst>
              <a:ext uri="{FF2B5EF4-FFF2-40B4-BE49-F238E27FC236}">
                <a16:creationId xmlns:a16="http://schemas.microsoft.com/office/drawing/2014/main" id="{B4C2D129-8684-9ADE-2E98-512786DB35FE}"/>
              </a:ext>
            </a:extLst>
          </p:cNvPr>
          <p:cNvSpPr txBox="1"/>
          <p:nvPr/>
        </p:nvSpPr>
        <p:spPr>
          <a:xfrm>
            <a:off x="1051528" y="4893982"/>
            <a:ext cx="9491240" cy="1200329"/>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Note: </a:t>
            </a:r>
            <a:r>
              <a:rPr lang="en-US" sz="2400" dirty="0">
                <a:latin typeface="Calibri" panose="020F0502020204030204" pitchFamily="34" charset="0"/>
                <a:cs typeface="Calibri" panose="020F0502020204030204" pitchFamily="34" charset="0"/>
              </a:rPr>
              <a:t>	Reconsideration of UFs included in draft ICH Q3E discussions.</a:t>
            </a:r>
          </a:p>
          <a:p>
            <a:r>
              <a:rPr lang="en-US" sz="2400" dirty="0">
                <a:latin typeface="Calibri" panose="020F0502020204030204" pitchFamily="34" charset="0"/>
                <a:cs typeface="Calibri" panose="020F0502020204030204" pitchFamily="34" charset="0"/>
              </a:rPr>
              <a:t>	New UFs: F6 (route of exposure); F7 (use of read across approach)</a:t>
            </a:r>
          </a:p>
          <a:p>
            <a:r>
              <a:rPr lang="en-US" sz="2400" dirty="0">
                <a:latin typeface="Calibri" panose="020F0502020204030204" pitchFamily="34" charset="0"/>
                <a:cs typeface="Calibri" panose="020F0502020204030204" pitchFamily="34" charset="0"/>
              </a:rPr>
              <a:t>	Ideally, any changes will be consistent across Q3C, D, and E </a:t>
            </a:r>
          </a:p>
        </p:txBody>
      </p:sp>
    </p:spTree>
    <p:extLst>
      <p:ext uri="{BB962C8B-B14F-4D97-AF65-F5344CB8AC3E}">
        <p14:creationId xmlns:p14="http://schemas.microsoft.com/office/powerpoint/2010/main" val="37922132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24BCE2-C637-6F3B-3C6E-959462EF691D}"/>
              </a:ext>
            </a:extLst>
          </p:cNvPr>
          <p:cNvSpPr>
            <a:spLocks noGrp="1"/>
          </p:cNvSpPr>
          <p:nvPr>
            <p:ph idx="1"/>
          </p:nvPr>
        </p:nvSpPr>
        <p:spPr>
          <a:xfrm>
            <a:off x="991609" y="1762158"/>
            <a:ext cx="10478732" cy="3657335"/>
          </a:xfrm>
        </p:spPr>
        <p:txBody>
          <a:bodyPr>
            <a:noAutofit/>
          </a:bodyPr>
          <a:lstStyle/>
          <a:p>
            <a:pPr>
              <a:buSzPct val="90000"/>
            </a:pPr>
            <a:r>
              <a:rPr lang="en-US" sz="3200" dirty="0">
                <a:latin typeface="Calibri" panose="020F0502020204030204" pitchFamily="34" charset="0"/>
                <a:cs typeface="Calibri" panose="020F0502020204030204" pitchFamily="34" charset="0"/>
              </a:rPr>
              <a:t>ICH Q3A</a:t>
            </a:r>
          </a:p>
          <a:p>
            <a:pPr>
              <a:buSzPct val="90000"/>
            </a:pPr>
            <a:r>
              <a:rPr lang="en-US" sz="3200" dirty="0">
                <a:latin typeface="Calibri" panose="020F0502020204030204" pitchFamily="34" charset="0"/>
                <a:cs typeface="Calibri" panose="020F0502020204030204" pitchFamily="34" charset="0"/>
              </a:rPr>
              <a:t>ICH Q3B</a:t>
            </a:r>
          </a:p>
          <a:p>
            <a:pPr>
              <a:buSzPct val="90000"/>
            </a:pPr>
            <a:r>
              <a:rPr lang="en-US" sz="3200" dirty="0">
                <a:latin typeface="Calibri" panose="020F0502020204030204" pitchFamily="34" charset="0"/>
                <a:cs typeface="Calibri" panose="020F0502020204030204" pitchFamily="34" charset="0"/>
              </a:rPr>
              <a:t>ICH M7(R2)</a:t>
            </a:r>
          </a:p>
          <a:p>
            <a:pPr lvl="1">
              <a:buSzPct val="90000"/>
            </a:pPr>
            <a:r>
              <a:rPr lang="en-US" sz="3200" dirty="0">
                <a:latin typeface="Calibri" panose="020F0502020204030204" pitchFamily="34" charset="0"/>
                <a:cs typeface="Calibri" panose="020F0502020204030204" pitchFamily="34" charset="0"/>
              </a:rPr>
              <a:t>Nitrosamines</a:t>
            </a:r>
          </a:p>
          <a:p>
            <a:pPr>
              <a:buSzPct val="90000"/>
            </a:pPr>
            <a:r>
              <a:rPr lang="en-US" sz="3200" dirty="0">
                <a:latin typeface="Calibri" panose="020F0502020204030204" pitchFamily="34" charset="0"/>
                <a:cs typeface="Calibri" panose="020F0502020204030204" pitchFamily="34" charset="0"/>
              </a:rPr>
              <a:t>ICH Q3C</a:t>
            </a:r>
          </a:p>
          <a:p>
            <a:pPr>
              <a:buSzPct val="90000"/>
            </a:pPr>
            <a:r>
              <a:rPr lang="en-US" sz="3200" dirty="0">
                <a:solidFill>
                  <a:srgbClr val="FF0000"/>
                </a:solidFill>
                <a:latin typeface="Calibri" panose="020F0502020204030204" pitchFamily="34" charset="0"/>
                <a:cs typeface="Calibri" panose="020F0502020204030204" pitchFamily="34" charset="0"/>
              </a:rPr>
              <a:t>ICH Q3D</a:t>
            </a:r>
          </a:p>
          <a:p>
            <a:pPr>
              <a:buSzPct val="90000"/>
            </a:pPr>
            <a:endParaRPr lang="en-US" sz="3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9836A41-33B1-3C04-6392-4EB967D09992}"/>
              </a:ext>
            </a:extLst>
          </p:cNvPr>
          <p:cNvSpPr txBox="1"/>
          <p:nvPr/>
        </p:nvSpPr>
        <p:spPr>
          <a:xfrm>
            <a:off x="991609" y="792176"/>
            <a:ext cx="5230599" cy="646331"/>
          </a:xfrm>
          <a:prstGeom prst="rect">
            <a:avLst/>
          </a:prstGeom>
          <a:noFill/>
        </p:spPr>
        <p:txBody>
          <a:bodyPr wrap="none" rtlCol="0">
            <a:spAutoFit/>
          </a:bodyPr>
          <a:lstStyle/>
          <a:p>
            <a:r>
              <a:rPr lang="en-US" sz="3600" b="1" dirty="0">
                <a:latin typeface="Calibri" panose="020F0502020204030204" pitchFamily="34" charset="0"/>
                <a:cs typeface="Calibri" panose="020F0502020204030204" pitchFamily="34" charset="0"/>
              </a:rPr>
              <a:t>Impurity Evaluation Topics</a:t>
            </a:r>
          </a:p>
        </p:txBody>
      </p:sp>
      <p:pic>
        <p:nvPicPr>
          <p:cNvPr id="2" name="Picture 1">
            <a:extLst>
              <a:ext uri="{FF2B5EF4-FFF2-40B4-BE49-F238E27FC236}">
                <a16:creationId xmlns:a16="http://schemas.microsoft.com/office/drawing/2014/main" id="{98E874CD-596F-7BF6-4875-92D790B6FD6D}"/>
              </a:ext>
            </a:extLst>
          </p:cNvPr>
          <p:cNvPicPr>
            <a:picLocks noChangeAspect="1"/>
          </p:cNvPicPr>
          <p:nvPr/>
        </p:nvPicPr>
        <p:blipFill>
          <a:blip r:embed="rId2"/>
          <a:stretch>
            <a:fillRect/>
          </a:stretch>
        </p:blipFill>
        <p:spPr>
          <a:xfrm>
            <a:off x="6096000" y="2523458"/>
            <a:ext cx="3676650" cy="1247775"/>
          </a:xfrm>
          <a:prstGeom prst="rect">
            <a:avLst/>
          </a:prstGeom>
        </p:spPr>
      </p:pic>
    </p:spTree>
    <p:extLst>
      <p:ext uri="{BB962C8B-B14F-4D97-AF65-F5344CB8AC3E}">
        <p14:creationId xmlns:p14="http://schemas.microsoft.com/office/powerpoint/2010/main" val="30211890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6FF9D-77B3-4FD0-B104-43C6B2F261E4}"/>
              </a:ext>
            </a:extLst>
          </p:cNvPr>
          <p:cNvSpPr>
            <a:spLocks noGrp="1"/>
          </p:cNvSpPr>
          <p:nvPr>
            <p:ph type="title"/>
          </p:nvPr>
        </p:nvSpPr>
        <p:spPr>
          <a:xfrm>
            <a:off x="423264" y="260107"/>
            <a:ext cx="11345471" cy="926020"/>
          </a:xfrm>
        </p:spPr>
        <p:txBody>
          <a:bodyPr>
            <a:normAutofit/>
          </a:bodyPr>
          <a:lstStyle/>
          <a:p>
            <a:r>
              <a:rPr lang="en-US" sz="3600" b="1" dirty="0">
                <a:latin typeface="Calibri" panose="020F0502020204030204" pitchFamily="34" charset="0"/>
                <a:cs typeface="Calibri" panose="020F0502020204030204" pitchFamily="34" charset="0"/>
              </a:rPr>
              <a:t>ICH Q3D(R2) - Elemental Impurities</a:t>
            </a:r>
          </a:p>
        </p:txBody>
      </p:sp>
      <p:sp>
        <p:nvSpPr>
          <p:cNvPr id="3" name="Content Placeholder 2">
            <a:extLst>
              <a:ext uri="{FF2B5EF4-FFF2-40B4-BE49-F238E27FC236}">
                <a16:creationId xmlns:a16="http://schemas.microsoft.com/office/drawing/2014/main" id="{51474AB2-9BD8-485D-8699-95757B60861D}"/>
              </a:ext>
            </a:extLst>
          </p:cNvPr>
          <p:cNvSpPr>
            <a:spLocks noGrp="1"/>
          </p:cNvSpPr>
          <p:nvPr>
            <p:ph idx="1"/>
          </p:nvPr>
        </p:nvSpPr>
        <p:spPr>
          <a:xfrm>
            <a:off x="431801" y="1429966"/>
            <a:ext cx="11345471" cy="4865854"/>
          </a:xfrm>
        </p:spPr>
        <p:txBody>
          <a:bodyPr>
            <a:normAutofit lnSpcReduction="10000"/>
          </a:bodyPr>
          <a:lstStyle/>
          <a:p>
            <a:r>
              <a:rPr lang="en-US" dirty="0">
                <a:latin typeface="Calibri" panose="020F0502020204030204" pitchFamily="34" charset="0"/>
                <a:cs typeface="Calibri" panose="020F0502020204030204" pitchFamily="34" charset="0"/>
              </a:rPr>
              <a:t>Goal of Q3D was to focus on developing harmonized safety-based limits (PDE) for elements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Original guidance (2014) – PDEs for parenteral, oral and inhalation routes of 24 EIs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(R2; 2022) included: </a:t>
            </a:r>
          </a:p>
          <a:p>
            <a:pPr lvl="1"/>
            <a:r>
              <a:rPr lang="en-US" dirty="0">
                <a:latin typeface="Calibri" panose="020F0502020204030204" pitchFamily="34" charset="0"/>
                <a:cs typeface="Calibri" panose="020F0502020204030204" pitchFamily="34" charset="0"/>
              </a:rPr>
              <a:t>Addendum 5 for inclusion of PDEs for cutaneous and transcutaneous routes</a:t>
            </a:r>
          </a:p>
          <a:p>
            <a:pPr lvl="1"/>
            <a:r>
              <a:rPr lang="en-US" dirty="0">
                <a:latin typeface="Calibri" panose="020F0502020204030204" pitchFamily="34" charset="0"/>
                <a:cs typeface="Calibri" panose="020F0502020204030204" pitchFamily="34" charset="0"/>
              </a:rPr>
              <a:t>Correction to Gold monograph due to error in PDE calculation</a:t>
            </a:r>
          </a:p>
          <a:p>
            <a:pPr lvl="1"/>
            <a:r>
              <a:rPr lang="en-US" dirty="0">
                <a:latin typeface="Calibri" panose="020F0502020204030204" pitchFamily="34" charset="0"/>
                <a:cs typeface="Calibri" panose="020F0502020204030204" pitchFamily="34" charset="0"/>
              </a:rPr>
              <a:t>Correction to Silver monograph parenteral PDE</a:t>
            </a:r>
          </a:p>
          <a:p>
            <a:pPr lvl="2"/>
            <a:r>
              <a:rPr lang="en-US" dirty="0">
                <a:latin typeface="Calibri" panose="020F0502020204030204" pitchFamily="34" charset="0"/>
                <a:cs typeface="Calibri" panose="020F0502020204030204" pitchFamily="34" charset="0"/>
              </a:rPr>
              <a:t>Originally based on human data; now based on adjustment of oral PDE</a:t>
            </a:r>
          </a:p>
          <a:p>
            <a:pPr lvl="1"/>
            <a:r>
              <a:rPr lang="en-US" dirty="0">
                <a:latin typeface="Calibri" panose="020F0502020204030204" pitchFamily="34" charset="0"/>
                <a:cs typeface="Calibri" panose="020F0502020204030204" pitchFamily="34" charset="0"/>
              </a:rPr>
              <a:t>Correction to Nickel monograph inhalation PDE due to transcription error</a:t>
            </a:r>
          </a:p>
        </p:txBody>
      </p:sp>
    </p:spTree>
    <p:extLst>
      <p:ext uri="{BB962C8B-B14F-4D97-AF65-F5344CB8AC3E}">
        <p14:creationId xmlns:p14="http://schemas.microsoft.com/office/powerpoint/2010/main" val="26550874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995" y="200719"/>
            <a:ext cx="11002277" cy="756212"/>
          </a:xfrm>
        </p:spPr>
        <p:txBody>
          <a:bodyPr>
            <a:noAutofit/>
          </a:bodyPr>
          <a:lstStyle/>
          <a:p>
            <a:r>
              <a:rPr lang="en-US" sz="3600" b="1" dirty="0">
                <a:latin typeface="Calibri" panose="020F0502020204030204" pitchFamily="34" charset="0"/>
                <a:cs typeface="Calibri" panose="020F0502020204030204" pitchFamily="34" charset="0"/>
              </a:rPr>
              <a:t>ICH Q3D – Elemental impurities</a:t>
            </a:r>
          </a:p>
        </p:txBody>
      </p:sp>
      <p:sp>
        <p:nvSpPr>
          <p:cNvPr id="3" name="Content Placeholder 2"/>
          <p:cNvSpPr>
            <a:spLocks noGrp="1"/>
          </p:cNvSpPr>
          <p:nvPr>
            <p:ph idx="1"/>
          </p:nvPr>
        </p:nvSpPr>
        <p:spPr>
          <a:xfrm>
            <a:off x="418778" y="1210910"/>
            <a:ext cx="11345471" cy="4812808"/>
          </a:xfrm>
        </p:spPr>
        <p:txBody>
          <a:bodyPr>
            <a:normAutofit/>
          </a:bodyPr>
          <a:lstStyle/>
          <a:p>
            <a:r>
              <a:rPr lang="en-US" sz="3200" dirty="0">
                <a:latin typeface="Calibri" panose="020F0502020204030204" pitchFamily="34" charset="0"/>
                <a:cs typeface="Calibri" panose="020F0502020204030204" pitchFamily="34" charset="0"/>
              </a:rPr>
              <a:t>EIs grouped in 3 categories</a:t>
            </a:r>
          </a:p>
          <a:p>
            <a:pPr lvl="1"/>
            <a:r>
              <a:rPr lang="en-US" sz="2800" u="sng" dirty="0">
                <a:latin typeface="Calibri" panose="020F0502020204030204" pitchFamily="34" charset="0"/>
                <a:cs typeface="Calibri" panose="020F0502020204030204" pitchFamily="34" charset="0"/>
              </a:rPr>
              <a:t>Class 1</a:t>
            </a:r>
            <a:r>
              <a:rPr lang="en-US" sz="2800" dirty="0">
                <a:latin typeface="Calibri" panose="020F0502020204030204" pitchFamily="34" charset="0"/>
                <a:cs typeface="Calibri" panose="020F0502020204030204" pitchFamily="34" charset="0"/>
              </a:rPr>
              <a:t>: human toxicants with little or no pharmaceutical use (Cd, Pb, As, Hg)</a:t>
            </a:r>
          </a:p>
          <a:p>
            <a:pPr lvl="1"/>
            <a:endParaRPr lang="en-US" sz="2800" dirty="0">
              <a:latin typeface="Calibri" panose="020F0502020204030204" pitchFamily="34" charset="0"/>
              <a:cs typeface="Calibri" panose="020F0502020204030204" pitchFamily="34" charset="0"/>
            </a:endParaRPr>
          </a:p>
          <a:p>
            <a:pPr lvl="1"/>
            <a:r>
              <a:rPr lang="en-US" sz="2800" u="sng" dirty="0">
                <a:latin typeface="Calibri" panose="020F0502020204030204" pitchFamily="34" charset="0"/>
                <a:cs typeface="Calibri" panose="020F0502020204030204" pitchFamily="34" charset="0"/>
              </a:rPr>
              <a:t>Class 2</a:t>
            </a:r>
            <a:r>
              <a:rPr lang="en-US" sz="2800" dirty="0">
                <a:latin typeface="Calibri" panose="020F0502020204030204" pitchFamily="34" charset="0"/>
                <a:cs typeface="Calibri" panose="020F0502020204030204" pitchFamily="34" charset="0"/>
              </a:rPr>
              <a:t>: route-dependent human toxicants</a:t>
            </a:r>
          </a:p>
          <a:p>
            <a:pPr lvl="2"/>
            <a:r>
              <a:rPr lang="en-US" sz="2400" dirty="0">
                <a:latin typeface="Calibri" panose="020F0502020204030204" pitchFamily="34" charset="0"/>
                <a:cs typeface="Calibri" panose="020F0502020204030204" pitchFamily="34" charset="0"/>
              </a:rPr>
              <a:t>2A: high probability of occurrence</a:t>
            </a:r>
          </a:p>
          <a:p>
            <a:pPr lvl="2"/>
            <a:r>
              <a:rPr lang="en-US" sz="2400" dirty="0">
                <a:latin typeface="Calibri" panose="020F0502020204030204" pitchFamily="34" charset="0"/>
                <a:cs typeface="Calibri" panose="020F0502020204030204" pitchFamily="34" charset="0"/>
              </a:rPr>
              <a:t>2B: reduced probability of occurrence</a:t>
            </a:r>
          </a:p>
          <a:p>
            <a:pPr lvl="1"/>
            <a:endParaRPr lang="en-US" sz="2800" dirty="0">
              <a:latin typeface="Calibri" panose="020F0502020204030204" pitchFamily="34" charset="0"/>
              <a:cs typeface="Calibri" panose="020F0502020204030204" pitchFamily="34" charset="0"/>
            </a:endParaRPr>
          </a:p>
          <a:p>
            <a:pPr lvl="1"/>
            <a:r>
              <a:rPr lang="en-US" sz="2800" u="sng" dirty="0">
                <a:latin typeface="Calibri" panose="020F0502020204030204" pitchFamily="34" charset="0"/>
                <a:cs typeface="Calibri" panose="020F0502020204030204" pitchFamily="34" charset="0"/>
              </a:rPr>
              <a:t>Class 3</a:t>
            </a:r>
            <a:r>
              <a:rPr lang="en-US" sz="2800" dirty="0">
                <a:latin typeface="Calibri" panose="020F0502020204030204" pitchFamily="34" charset="0"/>
                <a:cs typeface="Calibri" panose="020F0502020204030204" pitchFamily="34" charset="0"/>
              </a:rPr>
              <a:t>: Relatively low toxicities by oral route (PDEs &gt; 500 ug/day); may require consideration for inhalation and parenteral routes</a:t>
            </a:r>
          </a:p>
        </p:txBody>
      </p:sp>
    </p:spTree>
    <p:extLst>
      <p:ext uri="{BB962C8B-B14F-4D97-AF65-F5344CB8AC3E}">
        <p14:creationId xmlns:p14="http://schemas.microsoft.com/office/powerpoint/2010/main" val="40953895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2" y="200718"/>
            <a:ext cx="11091470" cy="1163133"/>
          </a:xfrm>
        </p:spPr>
        <p:txBody>
          <a:bodyPr>
            <a:noAutofit/>
          </a:bodyPr>
          <a:lstStyle/>
          <a:p>
            <a:r>
              <a:rPr lang="en-US" sz="3600" b="1" dirty="0">
                <a:latin typeface="Calibri" panose="020F0502020204030204" pitchFamily="34" charset="0"/>
                <a:cs typeface="Calibri" panose="020F0502020204030204" pitchFamily="34" charset="0"/>
              </a:rPr>
              <a:t>ICH Q3D – Elemental impurities</a:t>
            </a:r>
          </a:p>
        </p:txBody>
      </p:sp>
      <p:sp>
        <p:nvSpPr>
          <p:cNvPr id="3" name="Content Placeholder 2"/>
          <p:cNvSpPr>
            <a:spLocks noGrp="1"/>
          </p:cNvSpPr>
          <p:nvPr>
            <p:ph idx="1"/>
          </p:nvPr>
        </p:nvSpPr>
        <p:spPr>
          <a:xfrm>
            <a:off x="431802" y="1572195"/>
            <a:ext cx="11345471" cy="4403303"/>
          </a:xfrm>
        </p:spPr>
        <p:txBody>
          <a:bodyPr>
            <a:noAutofit/>
          </a:bodyPr>
          <a:lstStyle/>
          <a:p>
            <a:r>
              <a:rPr lang="en-US" sz="3200" dirty="0">
                <a:latin typeface="Calibri" panose="020F0502020204030204" pitchFamily="34" charset="0"/>
                <a:cs typeface="Calibri" panose="020F0502020204030204" pitchFamily="34" charset="0"/>
              </a:rPr>
              <a:t>Includes supporting monographs in Appendix 2 and 3</a:t>
            </a:r>
          </a:p>
          <a:p>
            <a:r>
              <a:rPr lang="en-US" sz="3200" dirty="0">
                <a:latin typeface="Calibri" panose="020F0502020204030204" pitchFamily="34" charset="0"/>
                <a:cs typeface="Calibri" panose="020F0502020204030204" pitchFamily="34" charset="0"/>
              </a:rPr>
              <a:t>Higher PDEs may be acceptable with justification</a:t>
            </a:r>
          </a:p>
          <a:p>
            <a:r>
              <a:rPr lang="en-US" sz="3200" dirty="0">
                <a:latin typeface="Calibri" panose="020F0502020204030204" pitchFamily="34" charset="0"/>
                <a:cs typeface="Calibri" panose="020F0502020204030204" pitchFamily="34" charset="0"/>
              </a:rPr>
              <a:t>Develop PDEs by “alternate routes” by considering potential for local effects and comparing bioavailability versus oral route (if available)</a:t>
            </a:r>
          </a:p>
          <a:p>
            <a:pPr lvl="1"/>
            <a:r>
              <a:rPr lang="en-US" sz="2800" dirty="0">
                <a:latin typeface="Calibri" panose="020F0502020204030204" pitchFamily="34" charset="0"/>
                <a:cs typeface="Calibri" panose="020F0502020204030204" pitchFamily="34" charset="0"/>
              </a:rPr>
              <a:t>Allows for use of oral bioavailability data to derive PDEs for other routes: factors ranging from 1 to 100</a:t>
            </a:r>
          </a:p>
          <a:p>
            <a:r>
              <a:rPr lang="en-US" sz="3200" dirty="0">
                <a:latin typeface="Calibri" panose="020F0502020204030204" pitchFamily="34" charset="0"/>
                <a:cs typeface="Calibri" panose="020F0502020204030204" pitchFamily="34" charset="0"/>
              </a:rPr>
              <a:t>Recommendations on Risk Assessment for presence of EI in drug product</a:t>
            </a:r>
          </a:p>
        </p:txBody>
      </p:sp>
    </p:spTree>
    <p:extLst>
      <p:ext uri="{BB962C8B-B14F-4D97-AF65-F5344CB8AC3E}">
        <p14:creationId xmlns:p14="http://schemas.microsoft.com/office/powerpoint/2010/main" val="2198380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CAE5E-84C4-E452-EBFF-9403F7E19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C738AC-7D70-C5C6-6A3D-9E978EFBB121}"/>
              </a:ext>
            </a:extLst>
          </p:cNvPr>
          <p:cNvSpPr>
            <a:spLocks noGrp="1"/>
          </p:cNvSpPr>
          <p:nvPr>
            <p:ph type="title"/>
          </p:nvPr>
        </p:nvSpPr>
        <p:spPr>
          <a:xfrm>
            <a:off x="838200" y="190085"/>
            <a:ext cx="10685072" cy="750193"/>
          </a:xfrm>
        </p:spPr>
        <p:txBody>
          <a:bodyPr>
            <a:noAutofit/>
          </a:bodyPr>
          <a:lstStyle/>
          <a:p>
            <a:pPr algn="ctr"/>
            <a:r>
              <a:rPr lang="en-US" sz="3600" b="1" dirty="0">
                <a:latin typeface="Calibri" panose="020F0502020204030204" pitchFamily="34" charset="0"/>
                <a:cs typeface="Calibri" panose="020F0502020204030204" pitchFamily="34" charset="0"/>
              </a:rPr>
              <a:t>ICH Q3D – Elemental impurities (EIs)</a:t>
            </a:r>
          </a:p>
        </p:txBody>
      </p:sp>
      <p:sp>
        <p:nvSpPr>
          <p:cNvPr id="6" name="Content Placeholder 5">
            <a:extLst>
              <a:ext uri="{FF2B5EF4-FFF2-40B4-BE49-F238E27FC236}">
                <a16:creationId xmlns:a16="http://schemas.microsoft.com/office/drawing/2014/main" id="{45D58B90-EA6F-FBA1-BFDA-FAF3C3A836BC}"/>
              </a:ext>
            </a:extLst>
          </p:cNvPr>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1DDE518B-9E9F-A0D5-F00F-13259BCD455C}"/>
              </a:ext>
            </a:extLst>
          </p:cNvPr>
          <p:cNvPicPr>
            <a:picLocks noChangeAspect="1"/>
          </p:cNvPicPr>
          <p:nvPr/>
        </p:nvPicPr>
        <p:blipFill>
          <a:blip r:embed="rId2"/>
          <a:stretch>
            <a:fillRect/>
          </a:stretch>
        </p:blipFill>
        <p:spPr>
          <a:xfrm>
            <a:off x="3113589" y="817375"/>
            <a:ext cx="6528121" cy="5716517"/>
          </a:xfrm>
          <a:prstGeom prst="rect">
            <a:avLst/>
          </a:prstGeom>
        </p:spPr>
      </p:pic>
    </p:spTree>
    <p:extLst>
      <p:ext uri="{BB962C8B-B14F-4D97-AF65-F5344CB8AC3E}">
        <p14:creationId xmlns:p14="http://schemas.microsoft.com/office/powerpoint/2010/main" val="9092646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265" y="230984"/>
            <a:ext cx="11345471" cy="1529619"/>
          </a:xfrm>
        </p:spPr>
        <p:txBody>
          <a:bodyPr>
            <a:noAutofit/>
          </a:bodyPr>
          <a:lstStyle/>
          <a:p>
            <a:r>
              <a:rPr lang="en-US" sz="3600" b="1" dirty="0">
                <a:latin typeface="Calibri" panose="020F0502020204030204" pitchFamily="34" charset="0"/>
                <a:cs typeface="Calibri" panose="020F0502020204030204" pitchFamily="34" charset="0"/>
              </a:rPr>
              <a:t>FDA 2018 MAPP – for consideration</a:t>
            </a:r>
          </a:p>
        </p:txBody>
      </p:sp>
      <p:pic>
        <p:nvPicPr>
          <p:cNvPr id="6" name="Content Placeholder 5">
            <a:extLst>
              <a:ext uri="{FF2B5EF4-FFF2-40B4-BE49-F238E27FC236}">
                <a16:creationId xmlns:a16="http://schemas.microsoft.com/office/drawing/2014/main" id="{DB61A556-1BF2-4105-A875-C1CA3A9FA57A}"/>
              </a:ext>
            </a:extLst>
          </p:cNvPr>
          <p:cNvPicPr>
            <a:picLocks noGrp="1" noChangeAspect="1"/>
          </p:cNvPicPr>
          <p:nvPr>
            <p:ph idx="1"/>
          </p:nvPr>
        </p:nvPicPr>
        <p:blipFill>
          <a:blip r:embed="rId2"/>
          <a:stretch>
            <a:fillRect/>
          </a:stretch>
        </p:blipFill>
        <p:spPr>
          <a:xfrm>
            <a:off x="1416057" y="1901126"/>
            <a:ext cx="9003340" cy="3417913"/>
          </a:xfrm>
          <a:prstGeom prst="rect">
            <a:avLst/>
          </a:prstGeom>
        </p:spPr>
      </p:pic>
      <p:sp>
        <p:nvSpPr>
          <p:cNvPr id="3" name="TextBox 2">
            <a:extLst>
              <a:ext uri="{FF2B5EF4-FFF2-40B4-BE49-F238E27FC236}">
                <a16:creationId xmlns:a16="http://schemas.microsoft.com/office/drawing/2014/main" id="{11790DC5-1CB3-4C59-B0CF-06E64DE55189}"/>
              </a:ext>
            </a:extLst>
          </p:cNvPr>
          <p:cNvSpPr txBox="1"/>
          <p:nvPr/>
        </p:nvSpPr>
        <p:spPr>
          <a:xfrm>
            <a:off x="733587" y="5523151"/>
            <a:ext cx="9551564" cy="830997"/>
          </a:xfrm>
          <a:prstGeom prst="rect">
            <a:avLst/>
          </a:prstGeom>
          <a:noFill/>
        </p:spPr>
        <p:txBody>
          <a:bodyPr wrap="square" rtlCol="0">
            <a:spAutoFit/>
          </a:bodyPr>
          <a:lstStyle/>
          <a:p>
            <a:r>
              <a:rPr lang="en-US" sz="2400" i="1" dirty="0">
                <a:solidFill>
                  <a:srgbClr val="FF0000"/>
                </a:solidFill>
              </a:rPr>
              <a:t>The MAPP is intended to clarify implementation of ICH guidances; not meant to provide additional guidance/recommendations</a:t>
            </a:r>
          </a:p>
        </p:txBody>
      </p:sp>
    </p:spTree>
    <p:extLst>
      <p:ext uri="{BB962C8B-B14F-4D97-AF65-F5344CB8AC3E}">
        <p14:creationId xmlns:p14="http://schemas.microsoft.com/office/powerpoint/2010/main" val="39986370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1" y="301710"/>
            <a:ext cx="11345471" cy="800245"/>
          </a:xfrm>
        </p:spPr>
        <p:txBody>
          <a:bodyPr>
            <a:noAutofit/>
          </a:bodyPr>
          <a:lstStyle/>
          <a:p>
            <a:r>
              <a:rPr lang="en-US" sz="3600" b="1" dirty="0">
                <a:latin typeface="Calibri" panose="020F0502020204030204" pitchFamily="34" charset="0"/>
                <a:cs typeface="Calibri" panose="020F0502020204030204" pitchFamily="34" charset="0"/>
              </a:rPr>
              <a:t>FDA 2018 MAPP - Background</a:t>
            </a:r>
          </a:p>
        </p:txBody>
      </p:sp>
      <p:sp>
        <p:nvSpPr>
          <p:cNvPr id="3" name="Content Placeholder 2"/>
          <p:cNvSpPr>
            <a:spLocks noGrp="1"/>
          </p:cNvSpPr>
          <p:nvPr>
            <p:ph idx="1"/>
          </p:nvPr>
        </p:nvSpPr>
        <p:spPr>
          <a:xfrm>
            <a:off x="431802" y="1346201"/>
            <a:ext cx="11345471" cy="4949617"/>
          </a:xfrm>
        </p:spPr>
        <p:txBody>
          <a:bodyPr>
            <a:normAutofit/>
          </a:bodyPr>
          <a:lstStyle/>
          <a:p>
            <a:r>
              <a:rPr lang="en-US" sz="3200" dirty="0">
                <a:latin typeface="Calibri" panose="020F0502020204030204" pitchFamily="34" charset="0"/>
                <a:cs typeface="Calibri" panose="020F0502020204030204" pitchFamily="34" charset="0"/>
              </a:rPr>
              <a:t>MAPP provides guiding principles and approaches for establishing DS and DP impurity acceptance criteria for non-mutagenic impurities</a:t>
            </a:r>
            <a:r>
              <a:rPr lang="en-US" sz="3200" i="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based on the consideration of clinical relevance</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The principles guiding development of a specification can be impacted by the assessment of risk to safety and efficacy based on context of use, clinical experience.</a:t>
            </a:r>
          </a:p>
        </p:txBody>
      </p:sp>
    </p:spTree>
    <p:extLst>
      <p:ext uri="{BB962C8B-B14F-4D97-AF65-F5344CB8AC3E}">
        <p14:creationId xmlns:p14="http://schemas.microsoft.com/office/powerpoint/2010/main" val="30929646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1" y="301710"/>
            <a:ext cx="11345471" cy="800245"/>
          </a:xfrm>
        </p:spPr>
        <p:txBody>
          <a:bodyPr>
            <a:noAutofit/>
          </a:bodyPr>
          <a:lstStyle/>
          <a:p>
            <a:r>
              <a:rPr lang="en-US" sz="3600" b="1" dirty="0">
                <a:latin typeface="Calibri" panose="020F0502020204030204" pitchFamily="34" charset="0"/>
                <a:cs typeface="Calibri" panose="020F0502020204030204" pitchFamily="34" charset="0"/>
              </a:rPr>
              <a:t>FDA 2018 MAPP - Background</a:t>
            </a:r>
          </a:p>
        </p:txBody>
      </p:sp>
      <p:sp>
        <p:nvSpPr>
          <p:cNvPr id="3" name="Content Placeholder 2"/>
          <p:cNvSpPr>
            <a:spLocks noGrp="1"/>
          </p:cNvSpPr>
          <p:nvPr>
            <p:ph idx="1"/>
          </p:nvPr>
        </p:nvSpPr>
        <p:spPr>
          <a:xfrm>
            <a:off x="431802" y="1346201"/>
            <a:ext cx="11345471" cy="4949617"/>
          </a:xfrm>
        </p:spPr>
        <p:txBody>
          <a:bodyPr>
            <a:normAutofit/>
          </a:bodyPr>
          <a:lstStyle/>
          <a:p>
            <a:r>
              <a:rPr lang="en-US" sz="3200" dirty="0">
                <a:latin typeface="Calibri" panose="020F0502020204030204" pitchFamily="34" charset="0"/>
                <a:cs typeface="Calibri" panose="020F0502020204030204" pitchFamily="34" charset="0"/>
              </a:rPr>
              <a:t>Impurity acceptance criterion can be supported by </a:t>
            </a:r>
          </a:p>
          <a:p>
            <a:pPr lvl="1"/>
            <a:r>
              <a:rPr lang="en-US" sz="2667" dirty="0">
                <a:latin typeface="Calibri" panose="020F0502020204030204" pitchFamily="34" charset="0"/>
                <a:cs typeface="Calibri" panose="020F0502020204030204" pitchFamily="34" charset="0"/>
              </a:rPr>
              <a:t>clinical data, </a:t>
            </a:r>
          </a:p>
          <a:p>
            <a:pPr lvl="1"/>
            <a:r>
              <a:rPr lang="en-US" sz="2667" dirty="0">
                <a:latin typeface="Calibri" panose="020F0502020204030204" pitchFamily="34" charset="0"/>
                <a:cs typeface="Calibri" panose="020F0502020204030204" pitchFamily="34" charset="0"/>
              </a:rPr>
              <a:t>nonclinical data (in silico, in vitro, and animal data), </a:t>
            </a:r>
          </a:p>
          <a:p>
            <a:pPr lvl="1"/>
            <a:r>
              <a:rPr lang="en-US" sz="2667" dirty="0">
                <a:latin typeface="Calibri" panose="020F0502020204030204" pitchFamily="34" charset="0"/>
                <a:cs typeface="Calibri" panose="020F0502020204030204" pitchFamily="34" charset="0"/>
              </a:rPr>
              <a:t>comparative product analysis (proposed vs approved), </a:t>
            </a:r>
          </a:p>
          <a:p>
            <a:pPr lvl="1"/>
            <a:r>
              <a:rPr lang="en-US" sz="2667" dirty="0">
                <a:latin typeface="Calibri" panose="020F0502020204030204" pitchFamily="34" charset="0"/>
                <a:cs typeface="Calibri" panose="020F0502020204030204" pitchFamily="34" charset="0"/>
              </a:rPr>
              <a:t>analytical precision of method and manufacturing process capability.</a:t>
            </a:r>
          </a:p>
          <a:p>
            <a:r>
              <a:rPr lang="en-US" sz="3200" dirty="0">
                <a:latin typeface="Calibri" panose="020F0502020204030204" pitchFamily="34" charset="0"/>
                <a:cs typeface="Calibri" panose="020F0502020204030204" pitchFamily="34" charset="0"/>
              </a:rPr>
              <a:t>MAPP intends to clarify the types of data and information needed as well as limitations when establishing impurity acceptance criteria</a:t>
            </a:r>
          </a:p>
          <a:p>
            <a:r>
              <a:rPr lang="en-US" sz="3200" dirty="0">
                <a:latin typeface="Calibri" panose="020F0502020204030204" pitchFamily="34" charset="0"/>
                <a:cs typeface="Calibri" panose="020F0502020204030204" pitchFamily="34" charset="0"/>
              </a:rPr>
              <a:t>Guided by consideration of clinical impact as opposed to manufacturing process capability to ensure clinical relevancy</a:t>
            </a:r>
          </a:p>
        </p:txBody>
      </p:sp>
    </p:spTree>
    <p:extLst>
      <p:ext uri="{BB962C8B-B14F-4D97-AF65-F5344CB8AC3E}">
        <p14:creationId xmlns:p14="http://schemas.microsoft.com/office/powerpoint/2010/main" val="12112403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64837-13DF-85A7-5B73-55C319F69316}"/>
              </a:ext>
            </a:extLst>
          </p:cNvPr>
          <p:cNvSpPr>
            <a:spLocks noGrp="1"/>
          </p:cNvSpPr>
          <p:nvPr>
            <p:ph type="title"/>
          </p:nvPr>
        </p:nvSpPr>
        <p:spPr/>
        <p:txBody>
          <a:bodyPr>
            <a:normAutofit/>
          </a:bodyPr>
          <a:lstStyle/>
          <a:p>
            <a:r>
              <a:rPr lang="en-US" sz="3600" b="1" dirty="0">
                <a:latin typeface="Calibri" panose="020F0502020204030204" pitchFamily="34" charset="0"/>
                <a:cs typeface="Calibri" panose="020F0502020204030204" pitchFamily="34" charset="0"/>
              </a:rPr>
              <a:t>ICH Q3E (draft) – the new frontier</a:t>
            </a:r>
          </a:p>
        </p:txBody>
      </p:sp>
      <p:pic>
        <p:nvPicPr>
          <p:cNvPr id="4" name="Content Placeholder 3">
            <a:extLst>
              <a:ext uri="{FF2B5EF4-FFF2-40B4-BE49-F238E27FC236}">
                <a16:creationId xmlns:a16="http://schemas.microsoft.com/office/drawing/2014/main" id="{E70D447F-78E8-0EFA-9FBD-42C22A227FB7}"/>
              </a:ext>
            </a:extLst>
          </p:cNvPr>
          <p:cNvPicPr>
            <a:picLocks noGrp="1" noChangeAspect="1"/>
          </p:cNvPicPr>
          <p:nvPr>
            <p:ph idx="1"/>
          </p:nvPr>
        </p:nvPicPr>
        <p:blipFill>
          <a:blip r:embed="rId2"/>
          <a:stretch>
            <a:fillRect/>
          </a:stretch>
        </p:blipFill>
        <p:spPr>
          <a:xfrm>
            <a:off x="539018" y="1690688"/>
            <a:ext cx="4779416" cy="3865944"/>
          </a:xfrm>
          <a:prstGeom prst="rect">
            <a:avLst/>
          </a:prstGeom>
        </p:spPr>
      </p:pic>
      <p:pic>
        <p:nvPicPr>
          <p:cNvPr id="5" name="Picture 4">
            <a:extLst>
              <a:ext uri="{FF2B5EF4-FFF2-40B4-BE49-F238E27FC236}">
                <a16:creationId xmlns:a16="http://schemas.microsoft.com/office/drawing/2014/main" id="{3D17230A-8625-0AC9-4142-2EF5A3EA250F}"/>
              </a:ext>
            </a:extLst>
          </p:cNvPr>
          <p:cNvPicPr>
            <a:picLocks noChangeAspect="1"/>
          </p:cNvPicPr>
          <p:nvPr/>
        </p:nvPicPr>
        <p:blipFill>
          <a:blip r:embed="rId3"/>
          <a:stretch>
            <a:fillRect/>
          </a:stretch>
        </p:blipFill>
        <p:spPr>
          <a:xfrm>
            <a:off x="5656324" y="1990845"/>
            <a:ext cx="6053778" cy="3437681"/>
          </a:xfrm>
          <a:prstGeom prst="rect">
            <a:avLst/>
          </a:prstGeom>
        </p:spPr>
      </p:pic>
    </p:spTree>
    <p:extLst>
      <p:ext uri="{BB962C8B-B14F-4D97-AF65-F5344CB8AC3E}">
        <p14:creationId xmlns:p14="http://schemas.microsoft.com/office/powerpoint/2010/main" val="12052131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D5EA7-C447-D3F3-D872-FAEC242E7D4F}"/>
              </a:ext>
            </a:extLst>
          </p:cNvPr>
          <p:cNvSpPr>
            <a:spLocks noGrp="1"/>
          </p:cNvSpPr>
          <p:nvPr>
            <p:ph type="title"/>
          </p:nvPr>
        </p:nvSpPr>
        <p:spPr>
          <a:xfrm>
            <a:off x="664580" y="2379120"/>
            <a:ext cx="10515600" cy="1880364"/>
          </a:xfrm>
        </p:spPr>
        <p:txBody>
          <a:bodyPr>
            <a:normAutofit fontScale="90000"/>
          </a:bodyPr>
          <a:lstStyle/>
          <a:p>
            <a:pPr algn="ctr"/>
            <a:r>
              <a:rPr lang="en-US" dirty="0">
                <a:solidFill>
                  <a:schemeClr val="accent1"/>
                </a:solidFill>
              </a:rPr>
              <a:t>Thank you!</a:t>
            </a:r>
            <a:br>
              <a:rPr lang="en-US" dirty="0">
                <a:solidFill>
                  <a:schemeClr val="accent1"/>
                </a:solidFill>
              </a:rPr>
            </a:br>
            <a:br>
              <a:rPr lang="en-US" dirty="0">
                <a:solidFill>
                  <a:schemeClr val="accent1"/>
                </a:solidFill>
              </a:rPr>
            </a:br>
            <a:r>
              <a:rPr lang="en-US" dirty="0">
                <a:solidFill>
                  <a:schemeClr val="accent1"/>
                </a:solidFill>
              </a:rPr>
              <a:t>Questions?</a:t>
            </a:r>
          </a:p>
        </p:txBody>
      </p:sp>
    </p:spTree>
    <p:extLst>
      <p:ext uri="{BB962C8B-B14F-4D97-AF65-F5344CB8AC3E}">
        <p14:creationId xmlns:p14="http://schemas.microsoft.com/office/powerpoint/2010/main" val="16502147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DE02-88B4-0D4B-C172-D37048712F74}"/>
              </a:ext>
            </a:extLst>
          </p:cNvPr>
          <p:cNvSpPr>
            <a:spLocks noGrp="1"/>
          </p:cNvSpPr>
          <p:nvPr>
            <p:ph type="ctrTitle"/>
          </p:nvPr>
        </p:nvSpPr>
        <p:spPr>
          <a:xfrm>
            <a:off x="826313" y="446844"/>
            <a:ext cx="10266803" cy="3078721"/>
          </a:xfrm>
        </p:spPr>
        <p:txBody>
          <a:bodyPr>
            <a:normAutofit fontScale="90000"/>
          </a:bodyPr>
          <a:lstStyle/>
          <a:p>
            <a:pPr algn="l"/>
            <a:r>
              <a:rPr lang="en-US"/>
              <a:t>Topic 2:</a:t>
            </a:r>
            <a:br>
              <a:rPr lang="en-US"/>
            </a:br>
            <a:r>
              <a:rPr lang="en-US"/>
              <a:t>Weighing Juvenile Toxicity Studies in support of  Pediatric Development Programs</a:t>
            </a:r>
          </a:p>
        </p:txBody>
      </p:sp>
      <p:pic>
        <p:nvPicPr>
          <p:cNvPr id="4" name="Picture 3">
            <a:extLst>
              <a:ext uri="{FF2B5EF4-FFF2-40B4-BE49-F238E27FC236}">
                <a16:creationId xmlns:a16="http://schemas.microsoft.com/office/drawing/2014/main" id="{245E516A-FF67-2C75-3E51-1E221666A585}"/>
              </a:ext>
            </a:extLst>
          </p:cNvPr>
          <p:cNvPicPr>
            <a:picLocks noChangeAspect="1"/>
          </p:cNvPicPr>
          <p:nvPr/>
        </p:nvPicPr>
        <p:blipFill>
          <a:blip r:embed="rId3"/>
          <a:stretch>
            <a:fillRect/>
          </a:stretch>
        </p:blipFill>
        <p:spPr>
          <a:xfrm>
            <a:off x="1151019" y="3795381"/>
            <a:ext cx="3883145" cy="2371385"/>
          </a:xfrm>
          <a:prstGeom prst="rect">
            <a:avLst/>
          </a:prstGeom>
        </p:spPr>
      </p:pic>
      <p:pic>
        <p:nvPicPr>
          <p:cNvPr id="5" name="Picture 4">
            <a:extLst>
              <a:ext uri="{FF2B5EF4-FFF2-40B4-BE49-F238E27FC236}">
                <a16:creationId xmlns:a16="http://schemas.microsoft.com/office/drawing/2014/main" id="{9722D069-0054-590F-9E95-3497439BB724}"/>
              </a:ext>
            </a:extLst>
          </p:cNvPr>
          <p:cNvPicPr>
            <a:picLocks noChangeAspect="1"/>
          </p:cNvPicPr>
          <p:nvPr/>
        </p:nvPicPr>
        <p:blipFill>
          <a:blip r:embed="rId4"/>
          <a:stretch>
            <a:fillRect/>
          </a:stretch>
        </p:blipFill>
        <p:spPr>
          <a:xfrm>
            <a:off x="9119417" y="3996591"/>
            <a:ext cx="1416946" cy="630816"/>
          </a:xfrm>
          <a:prstGeom prst="rect">
            <a:avLst/>
          </a:prstGeom>
        </p:spPr>
      </p:pic>
      <p:pic>
        <p:nvPicPr>
          <p:cNvPr id="6" name="Picture 5">
            <a:extLst>
              <a:ext uri="{FF2B5EF4-FFF2-40B4-BE49-F238E27FC236}">
                <a16:creationId xmlns:a16="http://schemas.microsoft.com/office/drawing/2014/main" id="{D1535413-588E-DCB8-B17E-895E0944B79F}"/>
              </a:ext>
            </a:extLst>
          </p:cNvPr>
          <p:cNvPicPr>
            <a:picLocks noChangeAspect="1"/>
          </p:cNvPicPr>
          <p:nvPr/>
        </p:nvPicPr>
        <p:blipFill>
          <a:blip r:embed="rId5"/>
          <a:stretch>
            <a:fillRect/>
          </a:stretch>
        </p:blipFill>
        <p:spPr>
          <a:xfrm>
            <a:off x="5782169" y="3553804"/>
            <a:ext cx="2837896" cy="1427270"/>
          </a:xfrm>
          <a:prstGeom prst="rect">
            <a:avLst/>
          </a:prstGeom>
        </p:spPr>
      </p:pic>
      <p:pic>
        <p:nvPicPr>
          <p:cNvPr id="7" name="Picture 6">
            <a:extLst>
              <a:ext uri="{FF2B5EF4-FFF2-40B4-BE49-F238E27FC236}">
                <a16:creationId xmlns:a16="http://schemas.microsoft.com/office/drawing/2014/main" id="{EF743E9E-75FC-05E1-A99C-8DF0B1970B72}"/>
              </a:ext>
            </a:extLst>
          </p:cNvPr>
          <p:cNvPicPr>
            <a:picLocks noChangeAspect="1"/>
          </p:cNvPicPr>
          <p:nvPr/>
        </p:nvPicPr>
        <p:blipFill>
          <a:blip r:embed="rId6"/>
          <a:stretch>
            <a:fillRect/>
          </a:stretch>
        </p:blipFill>
        <p:spPr>
          <a:xfrm>
            <a:off x="7376704" y="5253789"/>
            <a:ext cx="3604722" cy="1114187"/>
          </a:xfrm>
          <a:prstGeom prst="rect">
            <a:avLst/>
          </a:prstGeom>
        </p:spPr>
      </p:pic>
    </p:spTree>
    <p:extLst>
      <p:ext uri="{BB962C8B-B14F-4D97-AF65-F5344CB8AC3E}">
        <p14:creationId xmlns:p14="http://schemas.microsoft.com/office/powerpoint/2010/main" val="21203947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24BCE2-C637-6F3B-3C6E-959462EF691D}"/>
              </a:ext>
            </a:extLst>
          </p:cNvPr>
          <p:cNvSpPr>
            <a:spLocks noGrp="1"/>
          </p:cNvSpPr>
          <p:nvPr>
            <p:ph idx="1"/>
          </p:nvPr>
        </p:nvSpPr>
        <p:spPr>
          <a:xfrm>
            <a:off x="991609" y="1762158"/>
            <a:ext cx="10478732" cy="3024995"/>
          </a:xfrm>
        </p:spPr>
        <p:txBody>
          <a:bodyPr>
            <a:noAutofit/>
          </a:bodyPr>
          <a:lstStyle/>
          <a:p>
            <a:pPr>
              <a:buSzPct val="90000"/>
            </a:pPr>
            <a:r>
              <a:rPr lang="en-US" sz="3600"/>
              <a:t>Regulatory framework for pediatric development </a:t>
            </a:r>
          </a:p>
          <a:p>
            <a:pPr lvl="2">
              <a:buSzPct val="90000"/>
            </a:pPr>
            <a:r>
              <a:rPr lang="en-US" sz="2800"/>
              <a:t>(BPCA, PREA, RACE Act)</a:t>
            </a:r>
          </a:p>
          <a:p>
            <a:pPr marL="523875" lvl="1" indent="-457200">
              <a:buSzPct val="90000"/>
            </a:pPr>
            <a:r>
              <a:rPr lang="en-US" sz="3600" err="1"/>
              <a:t>iPSP</a:t>
            </a:r>
            <a:r>
              <a:rPr lang="en-US" sz="3600"/>
              <a:t> milestones and FDA process</a:t>
            </a:r>
          </a:p>
          <a:p>
            <a:pPr marL="523875" lvl="1" indent="-457200">
              <a:buSzPct val="90000"/>
            </a:pPr>
            <a:r>
              <a:rPr lang="en-US" sz="3600"/>
              <a:t>Nonclinical contribution to prospect of benefit and safety evaluation </a:t>
            </a:r>
          </a:p>
          <a:p>
            <a:pPr marL="523875" lvl="1" indent="-457200">
              <a:buSzPct val="90000"/>
            </a:pPr>
            <a:r>
              <a:rPr lang="en-US" sz="3600"/>
              <a:t>Challenges presented by an uncertain </a:t>
            </a:r>
            <a:r>
              <a:rPr lang="en-US" sz="3600" err="1"/>
              <a:t>MoA</a:t>
            </a:r>
            <a:endParaRPr lang="en-US" sz="3600"/>
          </a:p>
        </p:txBody>
      </p:sp>
      <p:sp>
        <p:nvSpPr>
          <p:cNvPr id="6" name="TextBox 5">
            <a:extLst>
              <a:ext uri="{FF2B5EF4-FFF2-40B4-BE49-F238E27FC236}">
                <a16:creationId xmlns:a16="http://schemas.microsoft.com/office/drawing/2014/main" id="{39836A41-33B1-3C04-6392-4EB967D09992}"/>
              </a:ext>
            </a:extLst>
          </p:cNvPr>
          <p:cNvSpPr txBox="1"/>
          <p:nvPr/>
        </p:nvSpPr>
        <p:spPr>
          <a:xfrm>
            <a:off x="1273997" y="921338"/>
            <a:ext cx="1698094" cy="646331"/>
          </a:xfrm>
          <a:prstGeom prst="rect">
            <a:avLst/>
          </a:prstGeom>
          <a:noFill/>
        </p:spPr>
        <p:txBody>
          <a:bodyPr wrap="none" rtlCol="0">
            <a:spAutoFit/>
          </a:bodyPr>
          <a:lstStyle/>
          <a:p>
            <a:r>
              <a:rPr lang="en-US" sz="3600"/>
              <a:t>TOPICS</a:t>
            </a:r>
          </a:p>
        </p:txBody>
      </p:sp>
      <p:sp>
        <p:nvSpPr>
          <p:cNvPr id="2" name="Slide Number Placeholder 1">
            <a:extLst>
              <a:ext uri="{FF2B5EF4-FFF2-40B4-BE49-F238E27FC236}">
                <a16:creationId xmlns:a16="http://schemas.microsoft.com/office/drawing/2014/main" id="{2543BEDB-149D-1C59-4DCB-A9260EF471FF}"/>
              </a:ext>
            </a:extLst>
          </p:cNvPr>
          <p:cNvSpPr>
            <a:spLocks noGrp="1"/>
          </p:cNvSpPr>
          <p:nvPr>
            <p:ph type="sldNum" sz="quarter" idx="12"/>
          </p:nvPr>
        </p:nvSpPr>
        <p:spPr/>
        <p:txBody>
          <a:bodyPr/>
          <a:lstStyle/>
          <a:p>
            <a:fld id="{8C9BEE26-CBC9-D24B-B62C-3600B65D4342}" type="slidenum">
              <a:rPr lang="en-US" smtClean="0"/>
              <a:t>78</a:t>
            </a:fld>
            <a:endParaRPr lang="en-US"/>
          </a:p>
        </p:txBody>
      </p:sp>
    </p:spTree>
    <p:extLst>
      <p:ext uri="{BB962C8B-B14F-4D97-AF65-F5344CB8AC3E}">
        <p14:creationId xmlns:p14="http://schemas.microsoft.com/office/powerpoint/2010/main" val="36086929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F86B6BA-C899-2117-810E-BB483E39C948}"/>
              </a:ext>
            </a:extLst>
          </p:cNvPr>
          <p:cNvSpPr txBox="1"/>
          <p:nvPr/>
        </p:nvSpPr>
        <p:spPr>
          <a:xfrm>
            <a:off x="838199" y="417150"/>
            <a:ext cx="10060459" cy="630942"/>
          </a:xfrm>
          <a:prstGeom prst="rect">
            <a:avLst/>
          </a:prstGeom>
          <a:noFill/>
        </p:spPr>
        <p:txBody>
          <a:bodyPr wrap="square">
            <a:spAutoFit/>
          </a:bodyPr>
          <a:lstStyle/>
          <a:p>
            <a:pPr>
              <a:buSzPct val="90000"/>
            </a:pPr>
            <a:r>
              <a:rPr lang="en-US" sz="3500"/>
              <a:t>Regulatory framework for Pediatric Development </a:t>
            </a:r>
          </a:p>
        </p:txBody>
      </p:sp>
      <p:sp>
        <p:nvSpPr>
          <p:cNvPr id="8" name="TextBox 7">
            <a:extLst>
              <a:ext uri="{FF2B5EF4-FFF2-40B4-BE49-F238E27FC236}">
                <a16:creationId xmlns:a16="http://schemas.microsoft.com/office/drawing/2014/main" id="{745C9E01-329C-ECE5-E1A8-53059849FFD5}"/>
              </a:ext>
            </a:extLst>
          </p:cNvPr>
          <p:cNvSpPr txBox="1"/>
          <p:nvPr/>
        </p:nvSpPr>
        <p:spPr>
          <a:xfrm>
            <a:off x="448408" y="1224878"/>
            <a:ext cx="7044814" cy="461665"/>
          </a:xfrm>
          <a:prstGeom prst="rect">
            <a:avLst/>
          </a:prstGeom>
          <a:noFill/>
        </p:spPr>
        <p:txBody>
          <a:bodyPr wrap="none" rtlCol="0">
            <a:spAutoFit/>
          </a:bodyPr>
          <a:lstStyle/>
          <a:p>
            <a:r>
              <a:rPr lang="en-US" sz="2400"/>
              <a:t>2002: Best Pharmaceuticals for Children Act (BPCA)</a:t>
            </a:r>
          </a:p>
        </p:txBody>
      </p:sp>
      <p:sp>
        <p:nvSpPr>
          <p:cNvPr id="9" name="TextBox 8">
            <a:extLst>
              <a:ext uri="{FF2B5EF4-FFF2-40B4-BE49-F238E27FC236}">
                <a16:creationId xmlns:a16="http://schemas.microsoft.com/office/drawing/2014/main" id="{0D0E8896-4E21-ECA2-6BCA-4402CE862CEB}"/>
              </a:ext>
            </a:extLst>
          </p:cNvPr>
          <p:cNvSpPr txBox="1"/>
          <p:nvPr/>
        </p:nvSpPr>
        <p:spPr>
          <a:xfrm>
            <a:off x="448408" y="2767346"/>
            <a:ext cx="5839227" cy="461665"/>
          </a:xfrm>
          <a:prstGeom prst="rect">
            <a:avLst/>
          </a:prstGeom>
          <a:noFill/>
        </p:spPr>
        <p:txBody>
          <a:bodyPr wrap="none" rtlCol="0">
            <a:spAutoFit/>
          </a:bodyPr>
          <a:lstStyle/>
          <a:p>
            <a:r>
              <a:rPr lang="en-US" sz="2400"/>
              <a:t>2003: Pediatric Research Equity Act (PREA)</a:t>
            </a:r>
          </a:p>
        </p:txBody>
      </p:sp>
      <p:sp>
        <p:nvSpPr>
          <p:cNvPr id="10" name="TextBox 9">
            <a:extLst>
              <a:ext uri="{FF2B5EF4-FFF2-40B4-BE49-F238E27FC236}">
                <a16:creationId xmlns:a16="http://schemas.microsoft.com/office/drawing/2014/main" id="{CA1130A2-266B-B65B-437E-17856D9397FC}"/>
              </a:ext>
            </a:extLst>
          </p:cNvPr>
          <p:cNvSpPr txBox="1"/>
          <p:nvPr/>
        </p:nvSpPr>
        <p:spPr>
          <a:xfrm>
            <a:off x="553915" y="4718142"/>
            <a:ext cx="9586792" cy="461665"/>
          </a:xfrm>
          <a:prstGeom prst="rect">
            <a:avLst/>
          </a:prstGeom>
          <a:noFill/>
        </p:spPr>
        <p:txBody>
          <a:bodyPr wrap="none" rtlCol="0">
            <a:spAutoFit/>
          </a:bodyPr>
          <a:lstStyle/>
          <a:p>
            <a:r>
              <a:rPr lang="en-US" sz="2400"/>
              <a:t>2020: RACE for Children ACT (Research to Accelerate Cures and Equity)</a:t>
            </a:r>
          </a:p>
        </p:txBody>
      </p:sp>
      <p:sp>
        <p:nvSpPr>
          <p:cNvPr id="12" name="TextBox 11">
            <a:extLst>
              <a:ext uri="{FF2B5EF4-FFF2-40B4-BE49-F238E27FC236}">
                <a16:creationId xmlns:a16="http://schemas.microsoft.com/office/drawing/2014/main" id="{AE32622F-AA81-F003-9968-99A42EEF8FA3}"/>
              </a:ext>
            </a:extLst>
          </p:cNvPr>
          <p:cNvSpPr txBox="1"/>
          <p:nvPr/>
        </p:nvSpPr>
        <p:spPr>
          <a:xfrm>
            <a:off x="1314404" y="1686543"/>
            <a:ext cx="8469190" cy="1015663"/>
          </a:xfrm>
          <a:prstGeom prst="rect">
            <a:avLst/>
          </a:prstGeom>
          <a:noFill/>
        </p:spPr>
        <p:txBody>
          <a:bodyPr wrap="square">
            <a:spAutoFit/>
          </a:bodyPr>
          <a:lstStyle/>
          <a:p>
            <a:pPr marL="285750" indent="-285750">
              <a:buFont typeface="Arial" panose="020B0604020202020204" pitchFamily="34" charset="0"/>
              <a:buChar char="•"/>
            </a:pPr>
            <a:r>
              <a:rPr lang="en-US" sz="2000" b="1">
                <a:effectLst/>
                <a:latin typeface="Arial" panose="020B0604020202020204" pitchFamily="34" charset="0"/>
              </a:rPr>
              <a:t>Voluntary </a:t>
            </a:r>
            <a:r>
              <a:rPr lang="en-US" sz="2000">
                <a:effectLst/>
                <a:latin typeface="Arial" panose="020B0604020202020204" pitchFamily="34" charset="0"/>
              </a:rPr>
              <a:t>pediatric assessments via PPSRs </a:t>
            </a:r>
            <a:r>
              <a:rPr lang="en-US" sz="2000">
                <a:latin typeface="Arial" panose="020B0604020202020204" pitchFamily="34" charset="0"/>
              </a:rPr>
              <a:t>&amp; </a:t>
            </a:r>
            <a:r>
              <a:rPr lang="en-US" sz="2000">
                <a:effectLst/>
                <a:latin typeface="Arial" panose="020B0604020202020204" pitchFamily="34" charset="0"/>
              </a:rPr>
              <a:t>Written Requests for approved and unapproved indications linked to financial incentive (exclusivity extension)</a:t>
            </a:r>
          </a:p>
        </p:txBody>
      </p:sp>
      <p:sp>
        <p:nvSpPr>
          <p:cNvPr id="13" name="TextBox 12">
            <a:extLst>
              <a:ext uri="{FF2B5EF4-FFF2-40B4-BE49-F238E27FC236}">
                <a16:creationId xmlns:a16="http://schemas.microsoft.com/office/drawing/2014/main" id="{B3640C72-5CB0-6C99-755A-E172437B34FB}"/>
              </a:ext>
            </a:extLst>
          </p:cNvPr>
          <p:cNvSpPr txBox="1"/>
          <p:nvPr/>
        </p:nvSpPr>
        <p:spPr>
          <a:xfrm>
            <a:off x="1314404" y="3266827"/>
            <a:ext cx="10475584" cy="1323439"/>
          </a:xfrm>
          <a:prstGeom prst="rect">
            <a:avLst/>
          </a:prstGeom>
          <a:noFill/>
        </p:spPr>
        <p:txBody>
          <a:bodyPr wrap="square" rtlCol="0">
            <a:spAutoFit/>
          </a:bodyPr>
          <a:lstStyle/>
          <a:p>
            <a:pPr marL="285750" indent="-285750">
              <a:buFont typeface="Arial" panose="020B0604020202020204" pitchFamily="34" charset="0"/>
              <a:buChar char="•"/>
            </a:pPr>
            <a:r>
              <a:rPr lang="en-US" sz="2000" b="1"/>
              <a:t>Required </a:t>
            </a:r>
            <a:r>
              <a:rPr lang="en-US" sz="2000"/>
              <a:t>pediatric assessment for same indication being developed or approved in adults</a:t>
            </a:r>
          </a:p>
          <a:p>
            <a:pPr marL="285750" indent="-285750">
              <a:buFont typeface="Arial" panose="020B0604020202020204" pitchFamily="34" charset="0"/>
              <a:buChar char="•"/>
            </a:pPr>
            <a:r>
              <a:rPr lang="en-US" sz="2000"/>
              <a:t>‘Triggers’ include </a:t>
            </a:r>
            <a:r>
              <a:rPr lang="en-US" sz="2000" i="1"/>
              <a:t>new</a:t>
            </a:r>
            <a:r>
              <a:rPr lang="en-US" sz="2000"/>
              <a:t> </a:t>
            </a:r>
            <a:r>
              <a:rPr lang="en-US" sz="2000" i="1"/>
              <a:t>API, indication, dosage form, regimen, and </a:t>
            </a:r>
            <a:r>
              <a:rPr lang="en-US" sz="2000" i="1" err="1"/>
              <a:t>RoA</a:t>
            </a:r>
            <a:r>
              <a:rPr lang="en-US" sz="2000" i="1"/>
              <a:t>  </a:t>
            </a:r>
          </a:p>
          <a:p>
            <a:pPr marL="285750" indent="-285750">
              <a:buFont typeface="Arial" panose="020B0604020202020204" pitchFamily="34" charset="0"/>
              <a:buChar char="•"/>
            </a:pPr>
            <a:r>
              <a:rPr lang="en-US" sz="2000"/>
              <a:t>Orphan indications excluded</a:t>
            </a:r>
          </a:p>
          <a:p>
            <a:pPr marL="285750" indent="-285750">
              <a:buFont typeface="Arial" panose="020B0604020202020204" pitchFamily="34" charset="0"/>
              <a:buChar char="•"/>
            </a:pPr>
            <a:r>
              <a:rPr lang="en-US" sz="2000" err="1"/>
              <a:t>iPSPs</a:t>
            </a:r>
            <a:r>
              <a:rPr lang="en-US" sz="2000"/>
              <a:t>, Deferrals, or Partial/Full Waivers</a:t>
            </a:r>
          </a:p>
        </p:txBody>
      </p:sp>
      <p:sp>
        <p:nvSpPr>
          <p:cNvPr id="14" name="TextBox 13">
            <a:extLst>
              <a:ext uri="{FF2B5EF4-FFF2-40B4-BE49-F238E27FC236}">
                <a16:creationId xmlns:a16="http://schemas.microsoft.com/office/drawing/2014/main" id="{BEAB03BD-FDF3-0540-E649-692CA113405A}"/>
              </a:ext>
            </a:extLst>
          </p:cNvPr>
          <p:cNvSpPr txBox="1"/>
          <p:nvPr/>
        </p:nvSpPr>
        <p:spPr>
          <a:xfrm>
            <a:off x="1314404" y="5217623"/>
            <a:ext cx="10139142" cy="707886"/>
          </a:xfrm>
          <a:prstGeom prst="rect">
            <a:avLst/>
          </a:prstGeom>
          <a:noFill/>
        </p:spPr>
        <p:txBody>
          <a:bodyPr wrap="square" rtlCol="0">
            <a:spAutoFit/>
          </a:bodyPr>
          <a:lstStyle/>
          <a:p>
            <a:pPr marL="285750" indent="-285750">
              <a:buFont typeface="Arial" panose="020B0604020202020204" pitchFamily="34" charset="0"/>
              <a:buChar char="•"/>
            </a:pPr>
            <a:r>
              <a:rPr lang="en-US" sz="2000" b="1"/>
              <a:t>Required</a:t>
            </a:r>
            <a:r>
              <a:rPr lang="en-US" sz="2000"/>
              <a:t> pediatric assessment for adult oncology drugs when molecular mechanism is ‘substantially relevant’ to pediatric cancer</a:t>
            </a:r>
          </a:p>
        </p:txBody>
      </p:sp>
      <p:sp>
        <p:nvSpPr>
          <p:cNvPr id="2" name="Slide Number Placeholder 1">
            <a:extLst>
              <a:ext uri="{FF2B5EF4-FFF2-40B4-BE49-F238E27FC236}">
                <a16:creationId xmlns:a16="http://schemas.microsoft.com/office/drawing/2014/main" id="{285E602D-C1A4-B7DA-BAFC-0E9380B0808D}"/>
              </a:ext>
            </a:extLst>
          </p:cNvPr>
          <p:cNvSpPr>
            <a:spLocks noGrp="1"/>
          </p:cNvSpPr>
          <p:nvPr>
            <p:ph type="sldNum" sz="quarter" idx="12"/>
          </p:nvPr>
        </p:nvSpPr>
        <p:spPr/>
        <p:txBody>
          <a:bodyPr/>
          <a:lstStyle/>
          <a:p>
            <a:fld id="{8C9BEE26-CBC9-D24B-B62C-3600B65D4342}" type="slidenum">
              <a:rPr lang="en-US" smtClean="0"/>
              <a:t>79</a:t>
            </a:fld>
            <a:endParaRPr lang="en-US"/>
          </a:p>
        </p:txBody>
      </p:sp>
    </p:spTree>
    <p:extLst>
      <p:ext uri="{BB962C8B-B14F-4D97-AF65-F5344CB8AC3E}">
        <p14:creationId xmlns:p14="http://schemas.microsoft.com/office/powerpoint/2010/main" val="15221721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21D2BA8-7535-9082-5177-925FF5213677}"/>
              </a:ext>
            </a:extLst>
          </p:cNvPr>
          <p:cNvSpPr txBox="1"/>
          <p:nvPr/>
        </p:nvSpPr>
        <p:spPr>
          <a:xfrm>
            <a:off x="957861" y="212303"/>
            <a:ext cx="10420658" cy="630942"/>
          </a:xfrm>
          <a:prstGeom prst="rect">
            <a:avLst/>
          </a:prstGeom>
          <a:noFill/>
        </p:spPr>
        <p:txBody>
          <a:bodyPr wrap="square">
            <a:spAutoFit/>
          </a:bodyPr>
          <a:lstStyle/>
          <a:p>
            <a:pPr>
              <a:buSzPct val="90000"/>
            </a:pPr>
            <a:r>
              <a:rPr lang="en-US" sz="3500"/>
              <a:t>PREA Regulatory milestones center around the </a:t>
            </a:r>
            <a:r>
              <a:rPr lang="en-US" sz="3500" err="1"/>
              <a:t>iPSP</a:t>
            </a:r>
            <a:endParaRPr lang="en-US" sz="3500"/>
          </a:p>
        </p:txBody>
      </p:sp>
      <p:sp>
        <p:nvSpPr>
          <p:cNvPr id="9" name="TextBox 8">
            <a:extLst>
              <a:ext uri="{FF2B5EF4-FFF2-40B4-BE49-F238E27FC236}">
                <a16:creationId xmlns:a16="http://schemas.microsoft.com/office/drawing/2014/main" id="{A36E3672-8387-AD9E-BD1C-EAC53D5602B6}"/>
              </a:ext>
            </a:extLst>
          </p:cNvPr>
          <p:cNvSpPr txBox="1"/>
          <p:nvPr/>
        </p:nvSpPr>
        <p:spPr>
          <a:xfrm>
            <a:off x="2771696" y="1185665"/>
            <a:ext cx="6445226" cy="1015663"/>
          </a:xfrm>
          <a:prstGeom prst="rect">
            <a:avLst/>
          </a:prstGeom>
          <a:noFill/>
        </p:spPr>
        <p:txBody>
          <a:bodyPr wrap="none" rtlCol="0">
            <a:spAutoFit/>
          </a:bodyPr>
          <a:lstStyle/>
          <a:p>
            <a:r>
              <a:rPr lang="en-US" sz="2400" b="1" err="1"/>
              <a:t>iPSP</a:t>
            </a:r>
            <a:r>
              <a:rPr lang="en-US" sz="2400" b="1"/>
              <a:t> (initial Pediatric Study Plan) Submission</a:t>
            </a:r>
          </a:p>
          <a:p>
            <a:pPr marL="742950" lvl="1" indent="-285750">
              <a:buFont typeface="Arial" panose="020B0604020202020204" pitchFamily="34" charset="0"/>
              <a:buChar char="•"/>
            </a:pPr>
            <a:r>
              <a:rPr lang="en-US"/>
              <a:t>≤60 days following EoP2, or </a:t>
            </a:r>
          </a:p>
          <a:p>
            <a:pPr marL="742950" lvl="1" indent="-285750">
              <a:buFont typeface="Arial" panose="020B0604020202020204" pitchFamily="34" charset="0"/>
              <a:buChar char="•"/>
            </a:pPr>
            <a:r>
              <a:rPr lang="en-US"/>
              <a:t>‘as early as practicable’ before ph3 or ph2/3 combined</a:t>
            </a:r>
          </a:p>
        </p:txBody>
      </p:sp>
      <p:sp>
        <p:nvSpPr>
          <p:cNvPr id="10" name="TextBox 9">
            <a:extLst>
              <a:ext uri="{FF2B5EF4-FFF2-40B4-BE49-F238E27FC236}">
                <a16:creationId xmlns:a16="http://schemas.microsoft.com/office/drawing/2014/main" id="{1FA2BC8C-9F67-B169-A04B-563267F86AB3}"/>
              </a:ext>
            </a:extLst>
          </p:cNvPr>
          <p:cNvSpPr txBox="1"/>
          <p:nvPr/>
        </p:nvSpPr>
        <p:spPr>
          <a:xfrm>
            <a:off x="3119458" y="2513663"/>
            <a:ext cx="7394976" cy="1015663"/>
          </a:xfrm>
          <a:prstGeom prst="rect">
            <a:avLst/>
          </a:prstGeom>
          <a:noFill/>
        </p:spPr>
        <p:txBody>
          <a:bodyPr wrap="square" rtlCol="0">
            <a:spAutoFit/>
          </a:bodyPr>
          <a:lstStyle/>
          <a:p>
            <a:r>
              <a:rPr lang="en-US" sz="2400" b="1"/>
              <a:t>FDA Review: 90d from receipt </a:t>
            </a:r>
          </a:p>
          <a:p>
            <a:pPr marL="742950" lvl="1" indent="-285750">
              <a:buFont typeface="Arial" panose="020B0604020202020204" pitchFamily="34" charset="0"/>
              <a:buChar char="•"/>
            </a:pPr>
            <a:r>
              <a:rPr lang="en-US"/>
              <a:t>Review Division consults with </a:t>
            </a:r>
            <a:r>
              <a:rPr lang="en-US" b="1" err="1"/>
              <a:t>PeRC</a:t>
            </a:r>
            <a:r>
              <a:rPr lang="en-US"/>
              <a:t>: A multidisciplinary committee, includes Pharm/Tox representation</a:t>
            </a:r>
          </a:p>
        </p:txBody>
      </p:sp>
      <p:sp>
        <p:nvSpPr>
          <p:cNvPr id="11" name="TextBox 10">
            <a:extLst>
              <a:ext uri="{FF2B5EF4-FFF2-40B4-BE49-F238E27FC236}">
                <a16:creationId xmlns:a16="http://schemas.microsoft.com/office/drawing/2014/main" id="{E39D4420-CC35-D94E-861F-C5434D8EAB8E}"/>
              </a:ext>
            </a:extLst>
          </p:cNvPr>
          <p:cNvSpPr txBox="1"/>
          <p:nvPr/>
        </p:nvSpPr>
        <p:spPr>
          <a:xfrm>
            <a:off x="1613775" y="2065349"/>
            <a:ext cx="1505682" cy="646331"/>
          </a:xfrm>
          <a:prstGeom prst="rect">
            <a:avLst/>
          </a:prstGeom>
          <a:noFill/>
        </p:spPr>
        <p:txBody>
          <a:bodyPr wrap="square" rtlCol="0">
            <a:spAutoFit/>
          </a:bodyPr>
          <a:lstStyle/>
          <a:p>
            <a:r>
              <a:rPr lang="en-US"/>
              <a:t>‘Materially Incomplete’</a:t>
            </a:r>
          </a:p>
        </p:txBody>
      </p:sp>
      <p:sp>
        <p:nvSpPr>
          <p:cNvPr id="12" name="TextBox 11">
            <a:extLst>
              <a:ext uri="{FF2B5EF4-FFF2-40B4-BE49-F238E27FC236}">
                <a16:creationId xmlns:a16="http://schemas.microsoft.com/office/drawing/2014/main" id="{ABFB9FA8-F301-B48C-2A9D-52CF9E9782E5}"/>
              </a:ext>
            </a:extLst>
          </p:cNvPr>
          <p:cNvSpPr txBox="1"/>
          <p:nvPr/>
        </p:nvSpPr>
        <p:spPr>
          <a:xfrm>
            <a:off x="3569878" y="3853579"/>
            <a:ext cx="5478038" cy="1138773"/>
          </a:xfrm>
          <a:prstGeom prst="rect">
            <a:avLst/>
          </a:prstGeom>
          <a:noFill/>
        </p:spPr>
        <p:txBody>
          <a:bodyPr wrap="none" rtlCol="0">
            <a:spAutoFit/>
          </a:bodyPr>
          <a:lstStyle/>
          <a:p>
            <a:r>
              <a:rPr lang="en-US" sz="2400" b="1"/>
              <a:t>WR to sponsor, 90d negotiation period</a:t>
            </a:r>
          </a:p>
          <a:p>
            <a:pPr marL="742950" lvl="1" indent="-285750">
              <a:buFont typeface="Arial" panose="020B0604020202020204" pitchFamily="34" charset="0"/>
              <a:buChar char="•"/>
            </a:pPr>
            <a:r>
              <a:rPr lang="en-US"/>
              <a:t>Sponsor submits proposed ‘Agreed’ </a:t>
            </a:r>
            <a:r>
              <a:rPr lang="en-US" err="1"/>
              <a:t>iPSP</a:t>
            </a:r>
            <a:endParaRPr lang="en-US"/>
          </a:p>
          <a:p>
            <a:endParaRPr lang="en-US" sz="2400" b="1"/>
          </a:p>
        </p:txBody>
      </p:sp>
      <p:sp>
        <p:nvSpPr>
          <p:cNvPr id="14" name="TextBox 13">
            <a:extLst>
              <a:ext uri="{FF2B5EF4-FFF2-40B4-BE49-F238E27FC236}">
                <a16:creationId xmlns:a16="http://schemas.microsoft.com/office/drawing/2014/main" id="{975CB3B7-11B3-2F6F-3C2A-F3AEE9067268}"/>
              </a:ext>
            </a:extLst>
          </p:cNvPr>
          <p:cNvSpPr txBox="1"/>
          <p:nvPr/>
        </p:nvSpPr>
        <p:spPr>
          <a:xfrm>
            <a:off x="4007887" y="4856412"/>
            <a:ext cx="4320606" cy="461665"/>
          </a:xfrm>
          <a:prstGeom prst="rect">
            <a:avLst/>
          </a:prstGeom>
          <a:noFill/>
        </p:spPr>
        <p:txBody>
          <a:bodyPr wrap="none" rtlCol="0">
            <a:spAutoFit/>
          </a:bodyPr>
          <a:lstStyle/>
          <a:p>
            <a:r>
              <a:rPr lang="en-US" sz="2400" b="1"/>
              <a:t>FDA reviews submission ≤30d</a:t>
            </a:r>
          </a:p>
        </p:txBody>
      </p:sp>
      <p:sp>
        <p:nvSpPr>
          <p:cNvPr id="15" name="TextBox 14">
            <a:extLst>
              <a:ext uri="{FF2B5EF4-FFF2-40B4-BE49-F238E27FC236}">
                <a16:creationId xmlns:a16="http://schemas.microsoft.com/office/drawing/2014/main" id="{3C73BAC4-9BEA-6E80-A13A-FA8A27BA109D}"/>
              </a:ext>
            </a:extLst>
          </p:cNvPr>
          <p:cNvSpPr txBox="1"/>
          <p:nvPr/>
        </p:nvSpPr>
        <p:spPr>
          <a:xfrm>
            <a:off x="4032202" y="5756068"/>
            <a:ext cx="1790939" cy="707886"/>
          </a:xfrm>
          <a:prstGeom prst="rect">
            <a:avLst/>
          </a:prstGeom>
          <a:noFill/>
          <a:ln>
            <a:solidFill>
              <a:schemeClr val="accent1">
                <a:shade val="15000"/>
              </a:schemeClr>
            </a:solidFill>
          </a:ln>
        </p:spPr>
        <p:txBody>
          <a:bodyPr wrap="none" rtlCol="0">
            <a:spAutoFit/>
          </a:bodyPr>
          <a:lstStyle/>
          <a:p>
            <a:r>
              <a:rPr lang="en-US" sz="2400" b="1" dirty="0">
                <a:solidFill>
                  <a:schemeClr val="accent2"/>
                </a:solidFill>
              </a:rPr>
              <a:t>Agreed PSP</a:t>
            </a:r>
          </a:p>
          <a:p>
            <a:pPr marL="287338" lvl="1" indent="-114300">
              <a:buFont typeface="Arial" panose="020B0604020202020204" pitchFamily="34" charset="0"/>
              <a:buChar char="•"/>
            </a:pPr>
            <a:r>
              <a:rPr lang="en-US" sz="1600" b="1" dirty="0">
                <a:solidFill>
                  <a:schemeClr val="accent2"/>
                </a:solidFill>
              </a:rPr>
              <a:t>Amendments</a:t>
            </a:r>
          </a:p>
        </p:txBody>
      </p:sp>
      <p:sp>
        <p:nvSpPr>
          <p:cNvPr id="16" name="TextBox 15">
            <a:extLst>
              <a:ext uri="{FF2B5EF4-FFF2-40B4-BE49-F238E27FC236}">
                <a16:creationId xmlns:a16="http://schemas.microsoft.com/office/drawing/2014/main" id="{FED39B9F-84BD-287D-EF24-5F2D09D6CE94}"/>
              </a:ext>
            </a:extLst>
          </p:cNvPr>
          <p:cNvSpPr txBox="1"/>
          <p:nvPr/>
        </p:nvSpPr>
        <p:spPr>
          <a:xfrm>
            <a:off x="6168190" y="5767071"/>
            <a:ext cx="2449773" cy="461665"/>
          </a:xfrm>
          <a:prstGeom prst="rect">
            <a:avLst/>
          </a:prstGeom>
          <a:noFill/>
        </p:spPr>
        <p:txBody>
          <a:bodyPr wrap="none" rtlCol="0">
            <a:spAutoFit/>
          </a:bodyPr>
          <a:lstStyle/>
          <a:p>
            <a:r>
              <a:rPr lang="en-US" sz="2400" b="1" dirty="0" err="1">
                <a:solidFill>
                  <a:schemeClr val="accent2"/>
                </a:solidFill>
              </a:rPr>
              <a:t>NonAgreed</a:t>
            </a:r>
            <a:r>
              <a:rPr lang="en-US" sz="2400" b="1" dirty="0">
                <a:solidFill>
                  <a:schemeClr val="accent2"/>
                </a:solidFill>
              </a:rPr>
              <a:t> PSP</a:t>
            </a:r>
          </a:p>
        </p:txBody>
      </p:sp>
      <p:sp>
        <p:nvSpPr>
          <p:cNvPr id="5" name="Down Arrow 4">
            <a:extLst>
              <a:ext uri="{FF2B5EF4-FFF2-40B4-BE49-F238E27FC236}">
                <a16:creationId xmlns:a16="http://schemas.microsoft.com/office/drawing/2014/main" id="{4AFF620F-9489-B208-9165-5B0552FB33CA}"/>
              </a:ext>
            </a:extLst>
          </p:cNvPr>
          <p:cNvSpPr/>
          <p:nvPr/>
        </p:nvSpPr>
        <p:spPr>
          <a:xfrm>
            <a:off x="5695130" y="2191660"/>
            <a:ext cx="209764" cy="335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CC5DB1E-0D80-35B3-EB44-D363B58FB4F7}"/>
              </a:ext>
            </a:extLst>
          </p:cNvPr>
          <p:cNvSpPr/>
          <p:nvPr/>
        </p:nvSpPr>
        <p:spPr>
          <a:xfrm>
            <a:off x="5695130" y="3590139"/>
            <a:ext cx="209764" cy="335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a:extLst>
              <a:ext uri="{FF2B5EF4-FFF2-40B4-BE49-F238E27FC236}">
                <a16:creationId xmlns:a16="http://schemas.microsoft.com/office/drawing/2014/main" id="{7E198B4B-9A89-17C5-AE8B-D4419A87C111}"/>
              </a:ext>
            </a:extLst>
          </p:cNvPr>
          <p:cNvSpPr/>
          <p:nvPr/>
        </p:nvSpPr>
        <p:spPr>
          <a:xfrm>
            <a:off x="5695130" y="4583945"/>
            <a:ext cx="209764" cy="335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a:extLst>
              <a:ext uri="{FF2B5EF4-FFF2-40B4-BE49-F238E27FC236}">
                <a16:creationId xmlns:a16="http://schemas.microsoft.com/office/drawing/2014/main" id="{3CAF0D4D-5B7B-5453-F1FB-598944164348}"/>
              </a:ext>
            </a:extLst>
          </p:cNvPr>
          <p:cNvSpPr/>
          <p:nvPr/>
        </p:nvSpPr>
        <p:spPr>
          <a:xfrm>
            <a:off x="5030522" y="5336263"/>
            <a:ext cx="209764" cy="335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a:extLst>
              <a:ext uri="{FF2B5EF4-FFF2-40B4-BE49-F238E27FC236}">
                <a16:creationId xmlns:a16="http://schemas.microsoft.com/office/drawing/2014/main" id="{B639F8A5-3F4F-9A24-D74F-B3CBF98B72A0}"/>
              </a:ext>
            </a:extLst>
          </p:cNvPr>
          <p:cNvSpPr/>
          <p:nvPr/>
        </p:nvSpPr>
        <p:spPr>
          <a:xfrm>
            <a:off x="6816946" y="5304314"/>
            <a:ext cx="209764" cy="335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U-Turn Arrow 19">
            <a:extLst>
              <a:ext uri="{FF2B5EF4-FFF2-40B4-BE49-F238E27FC236}">
                <a16:creationId xmlns:a16="http://schemas.microsoft.com/office/drawing/2014/main" id="{7C033B29-4D67-3AF6-11D7-544DFDE18526}"/>
              </a:ext>
            </a:extLst>
          </p:cNvPr>
          <p:cNvSpPr/>
          <p:nvPr/>
        </p:nvSpPr>
        <p:spPr>
          <a:xfrm rot="16200000">
            <a:off x="1215897" y="1312509"/>
            <a:ext cx="1605917" cy="1505681"/>
          </a:xfrm>
          <a:prstGeom prst="uturnArrow">
            <a:avLst>
              <a:gd name="adj1" fmla="val 5556"/>
              <a:gd name="adj2" fmla="val 6929"/>
              <a:gd name="adj3" fmla="val 11856"/>
              <a:gd name="adj4" fmla="val 43750"/>
              <a:gd name="adj5" fmla="val 9165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Slide Number Placeholder 21">
            <a:extLst>
              <a:ext uri="{FF2B5EF4-FFF2-40B4-BE49-F238E27FC236}">
                <a16:creationId xmlns:a16="http://schemas.microsoft.com/office/drawing/2014/main" id="{DB0D33F6-0C98-8FE2-BEC5-EF9AAF8D33FD}"/>
              </a:ext>
            </a:extLst>
          </p:cNvPr>
          <p:cNvSpPr>
            <a:spLocks noGrp="1"/>
          </p:cNvSpPr>
          <p:nvPr>
            <p:ph type="sldNum" sz="quarter" idx="12"/>
          </p:nvPr>
        </p:nvSpPr>
        <p:spPr/>
        <p:txBody>
          <a:bodyPr/>
          <a:lstStyle/>
          <a:p>
            <a:fld id="{8C9BEE26-CBC9-D24B-B62C-3600B65D4342}" type="slidenum">
              <a:rPr lang="en-US" smtClean="0"/>
              <a:t>80</a:t>
            </a:fld>
            <a:endParaRPr lang="en-US"/>
          </a:p>
        </p:txBody>
      </p:sp>
    </p:spTree>
    <p:extLst>
      <p:ext uri="{BB962C8B-B14F-4D97-AF65-F5344CB8AC3E}">
        <p14:creationId xmlns:p14="http://schemas.microsoft.com/office/powerpoint/2010/main" val="7403091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272C1D-A5B7-945B-2E33-35F2D4F1862E}"/>
              </a:ext>
            </a:extLst>
          </p:cNvPr>
          <p:cNvSpPr txBox="1"/>
          <p:nvPr/>
        </p:nvSpPr>
        <p:spPr>
          <a:xfrm>
            <a:off x="1303019" y="353080"/>
            <a:ext cx="9744596" cy="523220"/>
          </a:xfrm>
          <a:prstGeom prst="rect">
            <a:avLst/>
          </a:prstGeom>
          <a:noFill/>
        </p:spPr>
        <p:txBody>
          <a:bodyPr wrap="square" rtlCol="0">
            <a:spAutoFit/>
          </a:bodyPr>
          <a:lstStyle/>
          <a:p>
            <a:r>
              <a:rPr lang="en-US" sz="2800" b="1" err="1"/>
              <a:t>iPSP</a:t>
            </a:r>
            <a:r>
              <a:rPr lang="en-US" sz="2800" b="1"/>
              <a:t> is similar to EMA’s PIP, but are separate documents</a:t>
            </a:r>
          </a:p>
        </p:txBody>
      </p:sp>
      <p:pic>
        <p:nvPicPr>
          <p:cNvPr id="7" name="Picture 6">
            <a:extLst>
              <a:ext uri="{FF2B5EF4-FFF2-40B4-BE49-F238E27FC236}">
                <a16:creationId xmlns:a16="http://schemas.microsoft.com/office/drawing/2014/main" id="{9C3F6F8A-2CFD-D2B5-EB63-820A62310E14}"/>
              </a:ext>
            </a:extLst>
          </p:cNvPr>
          <p:cNvPicPr>
            <a:picLocks noChangeAspect="1"/>
          </p:cNvPicPr>
          <p:nvPr/>
        </p:nvPicPr>
        <p:blipFill>
          <a:blip r:embed="rId3"/>
          <a:stretch>
            <a:fillRect/>
          </a:stretch>
        </p:blipFill>
        <p:spPr>
          <a:xfrm>
            <a:off x="1876425" y="956056"/>
            <a:ext cx="7316799" cy="4140825"/>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C288054-DF84-D805-FB07-B4F930305E43}"/>
                  </a:ext>
                </a:extLst>
              </p14:cNvPr>
              <p14:cNvContentPartPr/>
              <p14:nvPr/>
            </p14:nvContentPartPr>
            <p14:xfrm>
              <a:off x="1876425" y="3228794"/>
              <a:ext cx="1348920" cy="46800"/>
            </p14:xfrm>
          </p:contentPart>
        </mc:Choice>
        <mc:Fallback xmlns="">
          <p:pic>
            <p:nvPicPr>
              <p:cNvPr id="2" name="Ink 1">
                <a:extLst>
                  <a:ext uri="{FF2B5EF4-FFF2-40B4-BE49-F238E27FC236}">
                    <a16:creationId xmlns:a16="http://schemas.microsoft.com/office/drawing/2014/main" id="{0C288054-DF84-D805-FB07-B4F930305E43}"/>
                  </a:ext>
                </a:extLst>
              </p:cNvPr>
              <p:cNvPicPr/>
              <p:nvPr/>
            </p:nvPicPr>
            <p:blipFill>
              <a:blip r:embed="rId5"/>
              <a:stretch>
                <a:fillRect/>
              </a:stretch>
            </p:blipFill>
            <p:spPr>
              <a:xfrm>
                <a:off x="1822425" y="3119957"/>
                <a:ext cx="1456560" cy="26411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B9E402AD-8622-637C-29BB-7416E6E92C77}"/>
                  </a:ext>
                </a:extLst>
              </p14:cNvPr>
              <p14:cNvContentPartPr/>
              <p14:nvPr/>
            </p14:nvContentPartPr>
            <p14:xfrm>
              <a:off x="5655432" y="3447246"/>
              <a:ext cx="1171080" cy="19080"/>
            </p14:xfrm>
          </p:contentPart>
        </mc:Choice>
        <mc:Fallback xmlns="">
          <p:pic>
            <p:nvPicPr>
              <p:cNvPr id="3" name="Ink 2">
                <a:extLst>
                  <a:ext uri="{FF2B5EF4-FFF2-40B4-BE49-F238E27FC236}">
                    <a16:creationId xmlns:a16="http://schemas.microsoft.com/office/drawing/2014/main" id="{B9E402AD-8622-637C-29BB-7416E6E92C77}"/>
                  </a:ext>
                </a:extLst>
              </p:cNvPr>
              <p:cNvPicPr/>
              <p:nvPr/>
            </p:nvPicPr>
            <p:blipFill>
              <a:blip r:embed="rId7"/>
              <a:stretch>
                <a:fillRect/>
              </a:stretch>
            </p:blipFill>
            <p:spPr>
              <a:xfrm>
                <a:off x="5601432" y="3339246"/>
                <a:ext cx="1278720" cy="234720"/>
              </a:xfrm>
              <a:prstGeom prst="rect">
                <a:avLst/>
              </a:prstGeom>
            </p:spPr>
          </p:pic>
        </mc:Fallback>
      </mc:AlternateContent>
      <p:sp>
        <p:nvSpPr>
          <p:cNvPr id="5" name="Right Arrow 4">
            <a:extLst>
              <a:ext uri="{FF2B5EF4-FFF2-40B4-BE49-F238E27FC236}">
                <a16:creationId xmlns:a16="http://schemas.microsoft.com/office/drawing/2014/main" id="{CF30D480-8CE4-6C5B-875D-059718D68B81}"/>
              </a:ext>
            </a:extLst>
          </p:cNvPr>
          <p:cNvSpPr/>
          <p:nvPr/>
        </p:nvSpPr>
        <p:spPr>
          <a:xfrm>
            <a:off x="1143000" y="3144164"/>
            <a:ext cx="584453" cy="2160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1E9061EB-C8F2-3E25-D1D1-C09EA60E0369}"/>
              </a:ext>
            </a:extLst>
          </p:cNvPr>
          <p:cNvSpPr/>
          <p:nvPr/>
        </p:nvSpPr>
        <p:spPr>
          <a:xfrm rot="10800000">
            <a:off x="6975484" y="3406695"/>
            <a:ext cx="584453" cy="2160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E797986-A204-9943-0776-EE40C121C16C}"/>
              </a:ext>
            </a:extLst>
          </p:cNvPr>
          <p:cNvSpPr txBox="1"/>
          <p:nvPr/>
        </p:nvSpPr>
        <p:spPr>
          <a:xfrm>
            <a:off x="1143000" y="5404327"/>
            <a:ext cx="10239375" cy="1015663"/>
          </a:xfrm>
          <a:prstGeom prst="rect">
            <a:avLst/>
          </a:prstGeom>
          <a:noFill/>
        </p:spPr>
        <p:txBody>
          <a:bodyPr wrap="square" rtlCol="0">
            <a:spAutoFit/>
          </a:bodyPr>
          <a:lstStyle/>
          <a:p>
            <a:pPr marL="285750" indent="-285750">
              <a:buFont typeface="Wingdings" pitchFamily="2" charset="2"/>
              <a:buChar char="§"/>
            </a:pPr>
            <a:r>
              <a:rPr lang="en-US" sz="2000"/>
              <a:t>FDA and EMA have </a:t>
            </a:r>
            <a:r>
              <a:rPr lang="en-US" sz="2000" b="1" i="1"/>
              <a:t>Pediatric Cluster </a:t>
            </a:r>
            <a:r>
              <a:rPr lang="en-US" sz="2000"/>
              <a:t>standing meetings to discuss PIPs and </a:t>
            </a:r>
            <a:r>
              <a:rPr lang="en-US" sz="2000" err="1"/>
              <a:t>iPSPs</a:t>
            </a:r>
            <a:endParaRPr lang="en-US" sz="2000"/>
          </a:p>
          <a:p>
            <a:pPr marL="285750" indent="-285750">
              <a:buFont typeface="Wingdings" pitchFamily="2" charset="2"/>
              <a:buChar char="§"/>
            </a:pPr>
            <a:r>
              <a:rPr lang="en-US" sz="2000"/>
              <a:t>There is also a </a:t>
            </a:r>
            <a:r>
              <a:rPr lang="en-US" sz="2000" b="1" i="1"/>
              <a:t>Nonclinical Pediatric Cluster </a:t>
            </a:r>
            <a:r>
              <a:rPr lang="en-US" sz="2000"/>
              <a:t>that meets separately and less often to discuss nonclinical studies proposed or conducted for pediatric programs</a:t>
            </a:r>
          </a:p>
        </p:txBody>
      </p:sp>
      <p:sp>
        <p:nvSpPr>
          <p:cNvPr id="11" name="TextBox 10">
            <a:extLst>
              <a:ext uri="{FF2B5EF4-FFF2-40B4-BE49-F238E27FC236}">
                <a16:creationId xmlns:a16="http://schemas.microsoft.com/office/drawing/2014/main" id="{88522A07-E0B3-BC0D-A087-2888BD635531}"/>
              </a:ext>
            </a:extLst>
          </p:cNvPr>
          <p:cNvSpPr txBox="1"/>
          <p:nvPr/>
        </p:nvSpPr>
        <p:spPr>
          <a:xfrm>
            <a:off x="1876425" y="5044371"/>
            <a:ext cx="3657600" cy="307777"/>
          </a:xfrm>
          <a:prstGeom prst="rect">
            <a:avLst/>
          </a:prstGeom>
          <a:noFill/>
        </p:spPr>
        <p:txBody>
          <a:bodyPr wrap="square">
            <a:spAutoFit/>
          </a:bodyPr>
          <a:lstStyle/>
          <a:p>
            <a:r>
              <a:rPr lang="en-US" sz="1400"/>
              <a:t>https://</a:t>
            </a:r>
            <a:r>
              <a:rPr lang="en-US" sz="1400" err="1"/>
              <a:t>www.fda.gov</a:t>
            </a:r>
            <a:r>
              <a:rPr lang="en-US" sz="1400"/>
              <a:t>/media/84944/download</a:t>
            </a:r>
          </a:p>
        </p:txBody>
      </p:sp>
      <p:sp>
        <p:nvSpPr>
          <p:cNvPr id="12" name="Slide Number Placeholder 11">
            <a:extLst>
              <a:ext uri="{FF2B5EF4-FFF2-40B4-BE49-F238E27FC236}">
                <a16:creationId xmlns:a16="http://schemas.microsoft.com/office/drawing/2014/main" id="{54B0533B-6AC0-D89A-E221-FA5DCD5FC38D}"/>
              </a:ext>
            </a:extLst>
          </p:cNvPr>
          <p:cNvSpPr>
            <a:spLocks noGrp="1"/>
          </p:cNvSpPr>
          <p:nvPr>
            <p:ph type="sldNum" sz="quarter" idx="12"/>
          </p:nvPr>
        </p:nvSpPr>
        <p:spPr/>
        <p:txBody>
          <a:bodyPr/>
          <a:lstStyle/>
          <a:p>
            <a:fld id="{8C9BEE26-CBC9-D24B-B62C-3600B65D4342}" type="slidenum">
              <a:rPr lang="en-US" smtClean="0"/>
              <a:t>81</a:t>
            </a:fld>
            <a:endParaRPr lang="en-US"/>
          </a:p>
        </p:txBody>
      </p:sp>
    </p:spTree>
    <p:extLst>
      <p:ext uri="{BB962C8B-B14F-4D97-AF65-F5344CB8AC3E}">
        <p14:creationId xmlns:p14="http://schemas.microsoft.com/office/powerpoint/2010/main" val="10071391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D60ED-C68D-9CEE-F615-CFD080A9EE5C}"/>
              </a:ext>
            </a:extLst>
          </p:cNvPr>
          <p:cNvSpPr>
            <a:spLocks noGrp="1"/>
          </p:cNvSpPr>
          <p:nvPr>
            <p:ph type="title"/>
          </p:nvPr>
        </p:nvSpPr>
        <p:spPr>
          <a:xfrm>
            <a:off x="763929" y="381965"/>
            <a:ext cx="10589871" cy="838604"/>
          </a:xfrm>
        </p:spPr>
        <p:txBody>
          <a:bodyPr>
            <a:normAutofit/>
          </a:bodyPr>
          <a:lstStyle/>
          <a:p>
            <a:r>
              <a:rPr lang="en-US" err="1"/>
              <a:t>NonClinical</a:t>
            </a:r>
            <a:r>
              <a:rPr lang="en-US"/>
              <a:t> Section of </a:t>
            </a:r>
            <a:r>
              <a:rPr lang="en-US" err="1"/>
              <a:t>iPSP</a:t>
            </a:r>
            <a:r>
              <a:rPr lang="en-US"/>
              <a:t> template</a:t>
            </a:r>
          </a:p>
        </p:txBody>
      </p:sp>
      <p:sp>
        <p:nvSpPr>
          <p:cNvPr id="6" name="TextBox 5">
            <a:extLst>
              <a:ext uri="{FF2B5EF4-FFF2-40B4-BE49-F238E27FC236}">
                <a16:creationId xmlns:a16="http://schemas.microsoft.com/office/drawing/2014/main" id="{DA230920-97AF-AD26-E611-0D94FD02035B}"/>
              </a:ext>
            </a:extLst>
          </p:cNvPr>
          <p:cNvSpPr txBox="1"/>
          <p:nvPr/>
        </p:nvSpPr>
        <p:spPr>
          <a:xfrm>
            <a:off x="1210879" y="1416635"/>
            <a:ext cx="8940839" cy="1538883"/>
          </a:xfrm>
          <a:prstGeom prst="rect">
            <a:avLst/>
          </a:prstGeom>
          <a:noFill/>
        </p:spPr>
        <p:txBody>
          <a:bodyPr wrap="square" rtlCol="0">
            <a:spAutoFit/>
          </a:bodyPr>
          <a:lstStyle/>
          <a:p>
            <a:r>
              <a:rPr lang="en-US" sz="2000"/>
              <a:t>Within 1-3 pages, include data from </a:t>
            </a:r>
            <a:r>
              <a:rPr lang="en-US" sz="2000" b="1"/>
              <a:t>relevant</a:t>
            </a:r>
            <a:r>
              <a:rPr lang="en-US" sz="2000"/>
              <a:t> nonclinical studies that support the use of the drug in proposed pediatric studies:</a:t>
            </a:r>
          </a:p>
          <a:p>
            <a:pPr marL="742950" lvl="1" indent="-285750">
              <a:buFont typeface="Wingdings" pitchFamily="2" charset="2"/>
              <a:buChar char="Ø"/>
            </a:pPr>
            <a:r>
              <a:rPr lang="en-US"/>
              <a:t>Age range </a:t>
            </a:r>
          </a:p>
          <a:p>
            <a:pPr marL="742950" lvl="1" indent="-285750">
              <a:buFont typeface="Wingdings" pitchFamily="2" charset="2"/>
              <a:buChar char="Ø"/>
            </a:pPr>
            <a:r>
              <a:rPr lang="en-US"/>
              <a:t>Dose</a:t>
            </a:r>
          </a:p>
          <a:p>
            <a:pPr marL="742950" lvl="1" indent="-285750">
              <a:buFont typeface="Wingdings" pitchFamily="2" charset="2"/>
              <a:buChar char="Ø"/>
            </a:pPr>
            <a:r>
              <a:rPr lang="en-US"/>
              <a:t>Duration</a:t>
            </a:r>
          </a:p>
        </p:txBody>
      </p:sp>
      <p:sp>
        <p:nvSpPr>
          <p:cNvPr id="7" name="TextBox 6">
            <a:extLst>
              <a:ext uri="{FF2B5EF4-FFF2-40B4-BE49-F238E27FC236}">
                <a16:creationId xmlns:a16="http://schemas.microsoft.com/office/drawing/2014/main" id="{1344CD44-D653-BC56-20FB-48EB46ABFF19}"/>
              </a:ext>
            </a:extLst>
          </p:cNvPr>
          <p:cNvSpPr txBox="1"/>
          <p:nvPr/>
        </p:nvSpPr>
        <p:spPr>
          <a:xfrm>
            <a:off x="1210879" y="3059515"/>
            <a:ext cx="9147526"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t>'Relevant’ studies do not always equate with a juvenile animal study </a:t>
            </a:r>
          </a:p>
          <a:p>
            <a:pPr marL="285750" indent="-285750">
              <a:buFont typeface="Arial" panose="020B0604020202020204" pitchFamily="34" charset="0"/>
              <a:buChar char="•"/>
            </a:pPr>
            <a:r>
              <a:rPr lang="en-US" sz="2000" dirty="0"/>
              <a:t>Focus is typically on safety but including ‘proof of concept’ data, if available, is also looked for</a:t>
            </a:r>
          </a:p>
        </p:txBody>
      </p:sp>
      <p:sp>
        <p:nvSpPr>
          <p:cNvPr id="8" name="TextBox 7">
            <a:extLst>
              <a:ext uri="{FF2B5EF4-FFF2-40B4-BE49-F238E27FC236}">
                <a16:creationId xmlns:a16="http://schemas.microsoft.com/office/drawing/2014/main" id="{51CADEE1-31AF-3A85-C379-263B4A7921A1}"/>
              </a:ext>
            </a:extLst>
          </p:cNvPr>
          <p:cNvSpPr txBox="1"/>
          <p:nvPr/>
        </p:nvSpPr>
        <p:spPr>
          <a:xfrm>
            <a:off x="1210879" y="4289905"/>
            <a:ext cx="9695969" cy="1785104"/>
          </a:xfrm>
          <a:prstGeom prst="rect">
            <a:avLst/>
          </a:prstGeom>
          <a:noFill/>
        </p:spPr>
        <p:txBody>
          <a:bodyPr wrap="square" rtlCol="0">
            <a:spAutoFit/>
          </a:bodyPr>
          <a:lstStyle/>
          <a:p>
            <a:r>
              <a:rPr lang="en-US" sz="2200"/>
              <a:t>ICH S11 guidance describes a </a:t>
            </a:r>
            <a:r>
              <a:rPr lang="en-US" sz="2200" err="1"/>
              <a:t>WoE</a:t>
            </a:r>
            <a:r>
              <a:rPr lang="en-US" sz="2200"/>
              <a:t> approach in determining the need for and scope of nonclinical studies to support </a:t>
            </a:r>
            <a:r>
              <a:rPr lang="en-US" sz="2200" b="1" i="1">
                <a:solidFill>
                  <a:srgbClr val="C00000"/>
                </a:solidFill>
              </a:rPr>
              <a:t>safety</a:t>
            </a:r>
            <a:r>
              <a:rPr lang="en-US" sz="2200" i="1"/>
              <a:t> </a:t>
            </a:r>
            <a:r>
              <a:rPr lang="en-US" sz="2200"/>
              <a:t>for pediatric programs</a:t>
            </a:r>
          </a:p>
          <a:p>
            <a:endParaRPr lang="en-US" sz="2200"/>
          </a:p>
          <a:p>
            <a:r>
              <a:rPr lang="en-US" sz="2200"/>
              <a:t>In some cases, nonclinical studies can also contribute to or be the primary source of data demonstrating ‘</a:t>
            </a:r>
            <a:r>
              <a:rPr lang="en-US" sz="2200" b="1" i="1">
                <a:solidFill>
                  <a:srgbClr val="C00000"/>
                </a:solidFill>
              </a:rPr>
              <a:t>prospect of benefit</a:t>
            </a:r>
            <a:r>
              <a:rPr lang="en-US" sz="2200"/>
              <a:t>’</a:t>
            </a:r>
          </a:p>
        </p:txBody>
      </p:sp>
      <p:sp>
        <p:nvSpPr>
          <p:cNvPr id="9" name="Slide Number Placeholder 8">
            <a:extLst>
              <a:ext uri="{FF2B5EF4-FFF2-40B4-BE49-F238E27FC236}">
                <a16:creationId xmlns:a16="http://schemas.microsoft.com/office/drawing/2014/main" id="{CE5F04A7-8F69-3708-D339-AC4C2BF72F53}"/>
              </a:ext>
            </a:extLst>
          </p:cNvPr>
          <p:cNvSpPr>
            <a:spLocks noGrp="1"/>
          </p:cNvSpPr>
          <p:nvPr>
            <p:ph type="sldNum" sz="quarter" idx="12"/>
          </p:nvPr>
        </p:nvSpPr>
        <p:spPr/>
        <p:txBody>
          <a:bodyPr/>
          <a:lstStyle/>
          <a:p>
            <a:fld id="{8C9BEE26-CBC9-D24B-B62C-3600B65D4342}" type="slidenum">
              <a:rPr lang="en-US" smtClean="0"/>
              <a:t>82</a:t>
            </a:fld>
            <a:endParaRPr lang="en-US"/>
          </a:p>
        </p:txBody>
      </p:sp>
    </p:spTree>
    <p:extLst>
      <p:ext uri="{BB962C8B-B14F-4D97-AF65-F5344CB8AC3E}">
        <p14:creationId xmlns:p14="http://schemas.microsoft.com/office/powerpoint/2010/main" val="38633968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C30B17-7884-D116-91D2-5375BC48C642}"/>
              </a:ext>
            </a:extLst>
          </p:cNvPr>
          <p:cNvSpPr txBox="1"/>
          <p:nvPr/>
        </p:nvSpPr>
        <p:spPr>
          <a:xfrm>
            <a:off x="1142835" y="265440"/>
            <a:ext cx="9849968" cy="892552"/>
          </a:xfrm>
          <a:prstGeom prst="rect">
            <a:avLst/>
          </a:prstGeom>
          <a:noFill/>
        </p:spPr>
        <p:txBody>
          <a:bodyPr wrap="square">
            <a:spAutoFit/>
          </a:bodyPr>
          <a:lstStyle/>
          <a:p>
            <a:pPr>
              <a:buSzPct val="90000"/>
            </a:pPr>
            <a:r>
              <a:rPr lang="en-US" sz="3200" b="1"/>
              <a:t>Prospect of Benefit: 21 CFR 50.52 </a:t>
            </a:r>
          </a:p>
          <a:p>
            <a:pPr>
              <a:buSzPct val="90000"/>
            </a:pPr>
            <a:r>
              <a:rPr lang="en-US" sz="2000"/>
              <a:t>(regulation pertaining to PREA statute)</a:t>
            </a:r>
            <a:endParaRPr lang="en-US" sz="2800"/>
          </a:p>
        </p:txBody>
      </p:sp>
      <p:sp>
        <p:nvSpPr>
          <p:cNvPr id="4" name="Rectangle 1">
            <a:extLst>
              <a:ext uri="{FF2B5EF4-FFF2-40B4-BE49-F238E27FC236}">
                <a16:creationId xmlns:a16="http://schemas.microsoft.com/office/drawing/2014/main" id="{0BCF3A51-2C0F-F9B9-D042-CC9D41761391}"/>
              </a:ext>
            </a:extLst>
          </p:cNvPr>
          <p:cNvSpPr>
            <a:spLocks noChangeArrowheads="1"/>
          </p:cNvSpPr>
          <p:nvPr/>
        </p:nvSpPr>
        <p:spPr bwMode="auto">
          <a:xfrm>
            <a:off x="665281" y="2410879"/>
            <a:ext cx="1083690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Arial" panose="020B0604020202020204" pitchFamily="34" charset="0"/>
              </a:rPr>
              <a:t>Any clinical investigation within the scope… may involve children as subjects only if the </a:t>
            </a:r>
            <a:r>
              <a:rPr kumimoji="0" lang="en-US" altLang="en-US" sz="2000" b="0" i="1" u="none" strike="noStrike" cap="none" normalizeH="0" baseline="0">
                <a:ln>
                  <a:noFill/>
                </a:ln>
                <a:solidFill>
                  <a:srgbClr val="000000"/>
                </a:solidFill>
                <a:effectLst/>
                <a:latin typeface="Arial" panose="020B0604020202020204" pitchFamily="34" charset="0"/>
              </a:rPr>
              <a:t>IRB</a:t>
            </a:r>
            <a:r>
              <a:rPr kumimoji="0" lang="en-US" altLang="en-US" sz="2000" b="0" i="0" u="none" strike="noStrike" cap="none" normalizeH="0" baseline="0">
                <a:ln>
                  <a:noFill/>
                </a:ln>
                <a:solidFill>
                  <a:srgbClr val="000000"/>
                </a:solidFill>
                <a:effectLst/>
                <a:latin typeface="Arial" panose="020B0604020202020204" pitchFamily="34" charset="0"/>
              </a:rPr>
              <a:t> finds that:</a:t>
            </a:r>
            <a:endParaRPr lang="en-US" altLang="en-US" sz="2000"/>
          </a:p>
          <a:p>
            <a:pPr marL="800100" lvl="1" indent="-342900">
              <a:buFont typeface="+mj-lt"/>
              <a:buAutoNum type="alphaLcParenR"/>
            </a:pPr>
            <a:r>
              <a:rPr kumimoji="0" lang="en-US" altLang="en-US" sz="2000" b="0" i="0" u="none" strike="noStrike" cap="none" normalizeH="0" baseline="0">
                <a:ln>
                  <a:noFill/>
                </a:ln>
                <a:solidFill>
                  <a:srgbClr val="000000"/>
                </a:solidFill>
                <a:effectLst/>
                <a:latin typeface="Arial" panose="020B0604020202020204" pitchFamily="34" charset="0"/>
              </a:rPr>
              <a:t>There is a prospect of direct benefit to the individual child</a:t>
            </a:r>
          </a:p>
          <a:p>
            <a:pPr marL="800100" lvl="1" indent="-342900">
              <a:buFont typeface="+mj-lt"/>
              <a:buAutoNum type="alphaLcParenR"/>
            </a:pPr>
            <a:r>
              <a:rPr lang="en-US" altLang="en-US" sz="2000">
                <a:solidFill>
                  <a:srgbClr val="000000"/>
                </a:solidFill>
              </a:rPr>
              <a:t>The </a:t>
            </a:r>
            <a:r>
              <a:rPr kumimoji="0" lang="en-US" altLang="en-US" sz="2000" b="0" i="0" u="none" strike="noStrike" cap="none" normalizeH="0" baseline="0">
                <a:ln>
                  <a:noFill/>
                </a:ln>
                <a:solidFill>
                  <a:srgbClr val="000000"/>
                </a:solidFill>
                <a:effectLst/>
              </a:rPr>
              <a:t>risk is justified by the anticipated benefit </a:t>
            </a:r>
          </a:p>
          <a:p>
            <a:pPr marL="800100" lvl="1" indent="-342900">
              <a:buFont typeface="+mj-lt"/>
              <a:buAutoNum type="alphaLcParenR"/>
            </a:pPr>
            <a:r>
              <a:rPr kumimoji="0" lang="en-US" altLang="en-US" sz="2000" b="0" i="0" u="none" strike="noStrike" cap="none" normalizeH="0" baseline="0">
                <a:ln>
                  <a:noFill/>
                </a:ln>
                <a:solidFill>
                  <a:srgbClr val="000000"/>
                </a:solidFill>
                <a:effectLst/>
                <a:latin typeface="Arial" panose="020B0604020202020204" pitchFamily="34" charset="0"/>
              </a:rPr>
              <a:t>The anticipated benefit/risk is at least as favorable as currently available therapies</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4AD3B67E-878D-4816-2F19-E807B2E7A7AE}"/>
              </a:ext>
            </a:extLst>
          </p:cNvPr>
          <p:cNvSpPr txBox="1"/>
          <p:nvPr/>
        </p:nvSpPr>
        <p:spPr>
          <a:xfrm>
            <a:off x="1074807" y="1344750"/>
            <a:ext cx="9675400" cy="769441"/>
          </a:xfrm>
          <a:prstGeom prst="rect">
            <a:avLst/>
          </a:prstGeom>
          <a:noFill/>
        </p:spPr>
        <p:txBody>
          <a:bodyPr wrap="square">
            <a:spAutoFit/>
          </a:bodyPr>
          <a:lstStyle/>
          <a:p>
            <a:r>
              <a:rPr lang="en-US" sz="2200" b="0" i="0" u="none" strike="noStrike">
                <a:solidFill>
                  <a:srgbClr val="000000"/>
                </a:solidFill>
                <a:effectLst/>
                <a:latin typeface="-webkit-standard"/>
              </a:rPr>
              <a:t>Clinical investigations involving greater than minimal risk to children must present </a:t>
            </a:r>
            <a:r>
              <a:rPr lang="en-US" sz="2200" b="1" i="1" u="none" strike="noStrike">
                <a:solidFill>
                  <a:srgbClr val="000000"/>
                </a:solidFill>
                <a:effectLst/>
                <a:latin typeface="-webkit-standard"/>
              </a:rPr>
              <a:t>prospect of direct benefit </a:t>
            </a:r>
            <a:r>
              <a:rPr lang="en-US" sz="2200" b="0" i="0" u="none" strike="noStrike">
                <a:solidFill>
                  <a:srgbClr val="000000"/>
                </a:solidFill>
                <a:effectLst/>
                <a:latin typeface="-webkit-standard"/>
              </a:rPr>
              <a:t>to individual subjects (majority of NCEs/NBEs)</a:t>
            </a:r>
            <a:endParaRPr lang="en-US" sz="2200"/>
          </a:p>
        </p:txBody>
      </p:sp>
      <p:sp>
        <p:nvSpPr>
          <p:cNvPr id="17" name="TextBox 16">
            <a:extLst>
              <a:ext uri="{FF2B5EF4-FFF2-40B4-BE49-F238E27FC236}">
                <a16:creationId xmlns:a16="http://schemas.microsoft.com/office/drawing/2014/main" id="{8B32DD7C-045A-7E44-59D0-6B822B02480A}"/>
              </a:ext>
            </a:extLst>
          </p:cNvPr>
          <p:cNvSpPr txBox="1"/>
          <p:nvPr/>
        </p:nvSpPr>
        <p:spPr>
          <a:xfrm>
            <a:off x="1074807" y="5161606"/>
            <a:ext cx="9170310" cy="830997"/>
          </a:xfrm>
          <a:prstGeom prst="rect">
            <a:avLst/>
          </a:prstGeom>
          <a:noFill/>
        </p:spPr>
        <p:txBody>
          <a:bodyPr wrap="square" rtlCol="0">
            <a:spAutoFit/>
          </a:bodyPr>
          <a:lstStyle/>
          <a:p>
            <a:pPr marL="285750" indent="-285750">
              <a:buFont typeface="Arial" panose="020B0604020202020204" pitchFamily="34" charset="0"/>
              <a:buChar char="•"/>
            </a:pPr>
            <a:r>
              <a:rPr lang="en-US" sz="2400"/>
              <a:t>Absence of prospect of benefit risks a delayed pediatric program (in prior years, clinical holds were issued) </a:t>
            </a:r>
          </a:p>
        </p:txBody>
      </p:sp>
      <p:sp>
        <p:nvSpPr>
          <p:cNvPr id="19" name="TextBox 18">
            <a:extLst>
              <a:ext uri="{FF2B5EF4-FFF2-40B4-BE49-F238E27FC236}">
                <a16:creationId xmlns:a16="http://schemas.microsoft.com/office/drawing/2014/main" id="{55A11B7F-D26C-3E6A-61E6-88D7BF5461FD}"/>
              </a:ext>
            </a:extLst>
          </p:cNvPr>
          <p:cNvSpPr txBox="1"/>
          <p:nvPr/>
        </p:nvSpPr>
        <p:spPr>
          <a:xfrm>
            <a:off x="1142835" y="4619858"/>
            <a:ext cx="6760194" cy="461665"/>
          </a:xfrm>
          <a:prstGeom prst="rect">
            <a:avLst/>
          </a:prstGeom>
          <a:noFill/>
        </p:spPr>
        <p:txBody>
          <a:bodyPr wrap="square">
            <a:spAutoFit/>
          </a:bodyPr>
          <a:lstStyle/>
          <a:p>
            <a:pPr marL="285750" indent="-285750">
              <a:buFont typeface="Arial" panose="020B0604020202020204" pitchFamily="34" charset="0"/>
              <a:buChar char="•"/>
            </a:pPr>
            <a:r>
              <a:rPr lang="en-US" sz="2400"/>
              <a:t>No ‘standard’ for showing prospect of benefit</a:t>
            </a:r>
          </a:p>
        </p:txBody>
      </p:sp>
      <p:sp>
        <p:nvSpPr>
          <p:cNvPr id="21" name="Slide Number Placeholder 20">
            <a:extLst>
              <a:ext uri="{FF2B5EF4-FFF2-40B4-BE49-F238E27FC236}">
                <a16:creationId xmlns:a16="http://schemas.microsoft.com/office/drawing/2014/main" id="{EB086DF2-6F50-8080-DECD-6DD268E3FAB5}"/>
              </a:ext>
            </a:extLst>
          </p:cNvPr>
          <p:cNvSpPr>
            <a:spLocks noGrp="1"/>
          </p:cNvSpPr>
          <p:nvPr>
            <p:ph type="sldNum" sz="quarter" idx="12"/>
          </p:nvPr>
        </p:nvSpPr>
        <p:spPr/>
        <p:txBody>
          <a:bodyPr/>
          <a:lstStyle/>
          <a:p>
            <a:fld id="{8C9BEE26-CBC9-D24B-B62C-3600B65D4342}" type="slidenum">
              <a:rPr lang="en-US" smtClean="0"/>
              <a:t>83</a:t>
            </a:fld>
            <a:endParaRPr lang="en-US"/>
          </a:p>
        </p:txBody>
      </p:sp>
    </p:spTree>
    <p:extLst>
      <p:ext uri="{BB962C8B-B14F-4D97-AF65-F5344CB8AC3E}">
        <p14:creationId xmlns:p14="http://schemas.microsoft.com/office/powerpoint/2010/main" val="37143823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A2FC-10DD-2B75-5812-6B059F3B7FF3}"/>
              </a:ext>
            </a:extLst>
          </p:cNvPr>
          <p:cNvSpPr>
            <a:spLocks noGrp="1"/>
          </p:cNvSpPr>
          <p:nvPr>
            <p:ph type="title"/>
          </p:nvPr>
        </p:nvSpPr>
        <p:spPr>
          <a:xfrm>
            <a:off x="731519" y="1062887"/>
            <a:ext cx="10857101" cy="1297580"/>
          </a:xfrm>
        </p:spPr>
        <p:txBody>
          <a:bodyPr>
            <a:noAutofit/>
          </a:bodyPr>
          <a:lstStyle/>
          <a:p>
            <a:r>
              <a:rPr lang="en-US" sz="2800" kern="0">
                <a:solidFill>
                  <a:srgbClr val="212121"/>
                </a:solidFill>
                <a:latin typeface="Aptos" panose="020B0004020202020204" pitchFamily="34" charset="0"/>
                <a:ea typeface="Times New Roman" panose="02020603050405020304" pitchFamily="18" charset="0"/>
                <a:cs typeface="Times New Roman" panose="02020603050405020304" pitchFamily="18" charset="0"/>
              </a:rPr>
              <a:t>- </a:t>
            </a:r>
            <a:r>
              <a:rPr lang="en-US" sz="2800" i="1" kern="0">
                <a:solidFill>
                  <a:srgbClr val="212121"/>
                </a:solidFill>
                <a:latin typeface="Aptos" panose="020B0004020202020204" pitchFamily="34" charset="0"/>
                <a:ea typeface="Times New Roman" panose="02020603050405020304" pitchFamily="18" charset="0"/>
                <a:cs typeface="Times New Roman" panose="02020603050405020304" pitchFamily="18" charset="0"/>
              </a:rPr>
              <a:t>How the agency weighs programs </a:t>
            </a:r>
            <a:r>
              <a:rPr lang="en-US" sz="2800" i="1"/>
              <a:t>with poorly defined Mechanisms of Action (</a:t>
            </a:r>
            <a:r>
              <a:rPr lang="en-US" sz="2800" i="1" err="1"/>
              <a:t>MoA</a:t>
            </a:r>
            <a:r>
              <a:rPr lang="en-US" sz="2800" i="1"/>
              <a:t>) where target-based safety margins are unavailable [in juvenile/pediatric settings]? </a:t>
            </a:r>
            <a:r>
              <a:rPr lang="en-US" sz="2800"/>
              <a:t>- </a:t>
            </a:r>
            <a:r>
              <a:rPr lang="en-US" sz="2800" err="1"/>
              <a:t>Enveda</a:t>
            </a:r>
            <a:endParaRPr lang="en-US" sz="2800"/>
          </a:p>
        </p:txBody>
      </p:sp>
      <p:sp>
        <p:nvSpPr>
          <p:cNvPr id="6" name="TextBox 5">
            <a:extLst>
              <a:ext uri="{FF2B5EF4-FFF2-40B4-BE49-F238E27FC236}">
                <a16:creationId xmlns:a16="http://schemas.microsoft.com/office/drawing/2014/main" id="{0F38F512-8290-02CF-4166-87BBDA976A60}"/>
              </a:ext>
            </a:extLst>
          </p:cNvPr>
          <p:cNvSpPr txBox="1"/>
          <p:nvPr/>
        </p:nvSpPr>
        <p:spPr>
          <a:xfrm>
            <a:off x="1819252" y="2867130"/>
            <a:ext cx="8980215" cy="1384995"/>
          </a:xfrm>
          <a:prstGeom prst="rect">
            <a:avLst/>
          </a:prstGeom>
          <a:noFill/>
        </p:spPr>
        <p:txBody>
          <a:bodyPr wrap="none" rtlCol="0">
            <a:spAutoFit/>
          </a:bodyPr>
          <a:lstStyle/>
          <a:p>
            <a:r>
              <a:rPr lang="en-US" sz="2800"/>
              <a:t>Potentially problematic for pediatric programs on 2 fronts</a:t>
            </a:r>
          </a:p>
          <a:p>
            <a:pPr marL="742950" lvl="1" indent="-285750">
              <a:buFont typeface="Wingdings" pitchFamily="2" charset="2"/>
              <a:buChar char="Ø"/>
            </a:pPr>
            <a:r>
              <a:rPr lang="en-US" sz="2800"/>
              <a:t>Prospect of Benefit</a:t>
            </a:r>
          </a:p>
          <a:p>
            <a:pPr marL="742950" lvl="1" indent="-285750">
              <a:buFont typeface="Wingdings" pitchFamily="2" charset="2"/>
              <a:buChar char="Ø"/>
            </a:pPr>
            <a:r>
              <a:rPr lang="en-US" sz="2800"/>
              <a:t>Safety evaluation</a:t>
            </a:r>
          </a:p>
        </p:txBody>
      </p:sp>
      <p:sp>
        <p:nvSpPr>
          <p:cNvPr id="7" name="Slide Number Placeholder 6">
            <a:extLst>
              <a:ext uri="{FF2B5EF4-FFF2-40B4-BE49-F238E27FC236}">
                <a16:creationId xmlns:a16="http://schemas.microsoft.com/office/drawing/2014/main" id="{3BFF1D19-EA53-23FF-E9A4-3652AF73E0BF}"/>
              </a:ext>
            </a:extLst>
          </p:cNvPr>
          <p:cNvSpPr>
            <a:spLocks noGrp="1"/>
          </p:cNvSpPr>
          <p:nvPr>
            <p:ph type="sldNum" sz="quarter" idx="12"/>
          </p:nvPr>
        </p:nvSpPr>
        <p:spPr/>
        <p:txBody>
          <a:bodyPr/>
          <a:lstStyle/>
          <a:p>
            <a:fld id="{8C9BEE26-CBC9-D24B-B62C-3600B65D4342}" type="slidenum">
              <a:rPr lang="en-US" smtClean="0"/>
              <a:t>84</a:t>
            </a:fld>
            <a:endParaRPr lang="en-US"/>
          </a:p>
        </p:txBody>
      </p:sp>
    </p:spTree>
    <p:extLst>
      <p:ext uri="{BB962C8B-B14F-4D97-AF65-F5344CB8AC3E}">
        <p14:creationId xmlns:p14="http://schemas.microsoft.com/office/powerpoint/2010/main" val="38720715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89E83-F2D0-75E8-CE20-B0C82211D632}"/>
              </a:ext>
            </a:extLst>
          </p:cNvPr>
          <p:cNvSpPr>
            <a:spLocks noGrp="1"/>
          </p:cNvSpPr>
          <p:nvPr>
            <p:ph type="title"/>
          </p:nvPr>
        </p:nvSpPr>
        <p:spPr>
          <a:xfrm>
            <a:off x="562495" y="273686"/>
            <a:ext cx="5056909" cy="778132"/>
          </a:xfrm>
        </p:spPr>
        <p:txBody>
          <a:bodyPr>
            <a:normAutofit/>
          </a:bodyPr>
          <a:lstStyle/>
          <a:p>
            <a:r>
              <a:rPr lang="en-US" sz="4000"/>
              <a:t>Prospect of Benefit</a:t>
            </a:r>
          </a:p>
        </p:txBody>
      </p:sp>
      <p:sp>
        <p:nvSpPr>
          <p:cNvPr id="5" name="TextBox 4">
            <a:extLst>
              <a:ext uri="{FF2B5EF4-FFF2-40B4-BE49-F238E27FC236}">
                <a16:creationId xmlns:a16="http://schemas.microsoft.com/office/drawing/2014/main" id="{BAE723D3-1067-9397-2079-39E6199117B0}"/>
              </a:ext>
            </a:extLst>
          </p:cNvPr>
          <p:cNvSpPr txBox="1"/>
          <p:nvPr/>
        </p:nvSpPr>
        <p:spPr>
          <a:xfrm>
            <a:off x="1018354" y="1009266"/>
            <a:ext cx="9667795" cy="1785104"/>
          </a:xfrm>
          <a:prstGeom prst="rect">
            <a:avLst/>
          </a:prstGeom>
          <a:noFill/>
        </p:spPr>
        <p:txBody>
          <a:bodyPr wrap="square" rtlCol="0">
            <a:spAutoFit/>
          </a:bodyPr>
          <a:lstStyle/>
          <a:p>
            <a:r>
              <a:rPr lang="en-US" sz="2000"/>
              <a:t>Derived from several sources:</a:t>
            </a:r>
          </a:p>
          <a:p>
            <a:pPr marL="742950" lvl="1" indent="-285750">
              <a:buFont typeface="Wingdings" pitchFamily="2" charset="2"/>
              <a:buChar char="Ø"/>
            </a:pPr>
            <a:r>
              <a:rPr lang="en-US"/>
              <a:t>Clinical efficacy data with drug candidate in adult patients</a:t>
            </a:r>
          </a:p>
          <a:p>
            <a:pPr marL="742950" lvl="1" indent="-285750">
              <a:buFont typeface="Wingdings" pitchFamily="2" charset="2"/>
              <a:buChar char="Ø"/>
            </a:pPr>
            <a:r>
              <a:rPr lang="en-US"/>
              <a:t>Prior pediatric experience with drug class</a:t>
            </a:r>
          </a:p>
          <a:p>
            <a:pPr marL="742950" lvl="1" indent="-285750">
              <a:buFont typeface="Wingdings" pitchFamily="2" charset="2"/>
              <a:buChar char="Ø"/>
            </a:pPr>
            <a:r>
              <a:rPr lang="en-US" b="1" i="1"/>
              <a:t>Mechanism of Action data </a:t>
            </a:r>
            <a:r>
              <a:rPr lang="en-US" i="1"/>
              <a:t>(drug affects cellular/molecular pathways well-recognized to contribute to disease) </a:t>
            </a:r>
          </a:p>
          <a:p>
            <a:pPr marL="742950" lvl="1" indent="-285750">
              <a:buFont typeface="Wingdings" pitchFamily="2" charset="2"/>
              <a:buChar char="Ø"/>
            </a:pPr>
            <a:r>
              <a:rPr lang="en-US"/>
              <a:t>Animal disease models (if available and relevant)</a:t>
            </a:r>
          </a:p>
        </p:txBody>
      </p:sp>
      <p:sp>
        <p:nvSpPr>
          <p:cNvPr id="6" name="TextBox 5">
            <a:extLst>
              <a:ext uri="{FF2B5EF4-FFF2-40B4-BE49-F238E27FC236}">
                <a16:creationId xmlns:a16="http://schemas.microsoft.com/office/drawing/2014/main" id="{5A62E25D-6287-C84E-8B8B-F9DD12709091}"/>
              </a:ext>
            </a:extLst>
          </p:cNvPr>
          <p:cNvSpPr txBox="1"/>
          <p:nvPr/>
        </p:nvSpPr>
        <p:spPr>
          <a:xfrm>
            <a:off x="803750" y="4165664"/>
            <a:ext cx="9295757" cy="707886"/>
          </a:xfrm>
          <a:prstGeom prst="rect">
            <a:avLst/>
          </a:prstGeom>
          <a:noFill/>
        </p:spPr>
        <p:txBody>
          <a:bodyPr wrap="square" rtlCol="0">
            <a:spAutoFit/>
          </a:bodyPr>
          <a:lstStyle/>
          <a:p>
            <a:r>
              <a:rPr lang="en-US" sz="2000" b="1"/>
              <a:t>A poorly defined </a:t>
            </a:r>
            <a:r>
              <a:rPr lang="en-US" sz="2000" b="1" err="1"/>
              <a:t>MoA</a:t>
            </a:r>
            <a:r>
              <a:rPr lang="en-US" sz="2000" b="1"/>
              <a:t> pushes evaluation of </a:t>
            </a:r>
            <a:r>
              <a:rPr lang="en-US" sz="2000" b="1" err="1"/>
              <a:t>PoB</a:t>
            </a:r>
            <a:r>
              <a:rPr lang="en-US" sz="2000" b="1"/>
              <a:t> toward </a:t>
            </a:r>
            <a:r>
              <a:rPr lang="en-US" sz="2000" b="1" i="1"/>
              <a:t>empirical observation </a:t>
            </a:r>
            <a:r>
              <a:rPr lang="en-US" sz="2000" b="1"/>
              <a:t>and totality of evidence:</a:t>
            </a:r>
          </a:p>
        </p:txBody>
      </p:sp>
      <p:sp>
        <p:nvSpPr>
          <p:cNvPr id="7" name="TextBox 6">
            <a:extLst>
              <a:ext uri="{FF2B5EF4-FFF2-40B4-BE49-F238E27FC236}">
                <a16:creationId xmlns:a16="http://schemas.microsoft.com/office/drawing/2014/main" id="{03B8A47D-4BB6-34D6-4816-42024C340E6E}"/>
              </a:ext>
            </a:extLst>
          </p:cNvPr>
          <p:cNvSpPr txBox="1"/>
          <p:nvPr/>
        </p:nvSpPr>
        <p:spPr>
          <a:xfrm>
            <a:off x="906087" y="2951946"/>
            <a:ext cx="9426633" cy="954107"/>
          </a:xfrm>
          <a:prstGeom prst="rect">
            <a:avLst/>
          </a:prstGeom>
          <a:noFill/>
        </p:spPr>
        <p:txBody>
          <a:bodyPr wrap="square" rtlCol="0">
            <a:spAutoFit/>
          </a:bodyPr>
          <a:lstStyle/>
          <a:p>
            <a:r>
              <a:rPr lang="en-US" sz="2000"/>
              <a:t>Most persuasive and common submissions:</a:t>
            </a:r>
          </a:p>
          <a:p>
            <a:pPr marL="742950" lvl="1" indent="-285750">
              <a:buFont typeface="Arial" panose="020B0604020202020204" pitchFamily="34" charset="0"/>
              <a:buChar char="•"/>
            </a:pPr>
            <a:r>
              <a:rPr lang="en-US"/>
              <a:t>Clinical efficacy data in adults + compelling mechanistic rationale</a:t>
            </a:r>
          </a:p>
          <a:p>
            <a:pPr marL="742950" lvl="1" indent="-285750">
              <a:buFont typeface="Arial" panose="020B0604020202020204" pitchFamily="34" charset="0"/>
              <a:buChar char="•"/>
            </a:pPr>
            <a:r>
              <a:rPr lang="en-US"/>
              <a:t>Compelling mechanistic rationale + clinical safety data in adults/adolescents </a:t>
            </a:r>
          </a:p>
        </p:txBody>
      </p:sp>
      <p:sp>
        <p:nvSpPr>
          <p:cNvPr id="8" name="TextBox 7">
            <a:extLst>
              <a:ext uri="{FF2B5EF4-FFF2-40B4-BE49-F238E27FC236}">
                <a16:creationId xmlns:a16="http://schemas.microsoft.com/office/drawing/2014/main" id="{D4B0C558-568D-0F86-D4EE-5FFF274C284F}"/>
              </a:ext>
            </a:extLst>
          </p:cNvPr>
          <p:cNvSpPr txBox="1"/>
          <p:nvPr/>
        </p:nvSpPr>
        <p:spPr>
          <a:xfrm>
            <a:off x="1437754" y="4948195"/>
            <a:ext cx="8511754" cy="1477328"/>
          </a:xfrm>
          <a:prstGeom prst="rect">
            <a:avLst/>
          </a:prstGeom>
          <a:noFill/>
        </p:spPr>
        <p:txBody>
          <a:bodyPr wrap="none" rtlCol="0">
            <a:spAutoFit/>
          </a:bodyPr>
          <a:lstStyle/>
          <a:p>
            <a:pPr marL="285750" indent="-285750">
              <a:buFont typeface="Arial" panose="020B0604020202020204" pitchFamily="34" charset="0"/>
              <a:buChar char="•"/>
            </a:pPr>
            <a:r>
              <a:rPr lang="en-US" dirty="0"/>
              <a:t>Efficacy in adults with </a:t>
            </a:r>
            <a:r>
              <a:rPr lang="en-US" i="1" dirty="0"/>
              <a:t>clear PK/PD relationship</a:t>
            </a:r>
          </a:p>
          <a:p>
            <a:pPr marL="285750" indent="-285750">
              <a:buFont typeface="Arial" panose="020B0604020202020204" pitchFamily="34" charset="0"/>
              <a:buChar char="•"/>
            </a:pPr>
            <a:r>
              <a:rPr lang="en-US" dirty="0"/>
              <a:t>Pathophysiological overlap in adult &amp; pediatric disease</a:t>
            </a:r>
          </a:p>
          <a:p>
            <a:pPr marL="285750" indent="-285750">
              <a:buFont typeface="Arial" panose="020B0604020202020204" pitchFamily="34" charset="0"/>
              <a:buChar char="•"/>
            </a:pPr>
            <a:r>
              <a:rPr lang="en-US" dirty="0"/>
              <a:t>Improvement in translatable disease markers in relevant animal model of disease</a:t>
            </a:r>
          </a:p>
          <a:p>
            <a:pPr marL="285750" indent="-285750">
              <a:buFont typeface="Arial" panose="020B0604020202020204" pitchFamily="34" charset="0"/>
              <a:buChar char="•"/>
            </a:pPr>
            <a:r>
              <a:rPr lang="en-US" dirty="0"/>
              <a:t>Seriousness of condition and medical need additional considerations</a:t>
            </a:r>
          </a:p>
          <a:p>
            <a:pPr marL="285750" indent="-285750">
              <a:buFont typeface="Arial" panose="020B0604020202020204" pitchFamily="34" charset="0"/>
              <a:buChar char="•"/>
            </a:pPr>
            <a:r>
              <a:rPr lang="en-US" dirty="0"/>
              <a:t>Emphasis placed on assurance of </a:t>
            </a:r>
            <a:r>
              <a:rPr lang="en-US" b="1" i="1" dirty="0"/>
              <a:t>safety </a:t>
            </a:r>
            <a:r>
              <a:rPr lang="en-US" dirty="0"/>
              <a:t>given uncertainty of beneficial </a:t>
            </a:r>
            <a:r>
              <a:rPr lang="en-US" dirty="0" err="1"/>
              <a:t>MoA</a:t>
            </a:r>
            <a:endParaRPr lang="en-US" dirty="0"/>
          </a:p>
        </p:txBody>
      </p:sp>
      <p:sp>
        <p:nvSpPr>
          <p:cNvPr id="9" name="Slide Number Placeholder 8">
            <a:extLst>
              <a:ext uri="{FF2B5EF4-FFF2-40B4-BE49-F238E27FC236}">
                <a16:creationId xmlns:a16="http://schemas.microsoft.com/office/drawing/2014/main" id="{0A88B405-C0E1-6D23-D265-9FC665E2B242}"/>
              </a:ext>
            </a:extLst>
          </p:cNvPr>
          <p:cNvSpPr>
            <a:spLocks noGrp="1"/>
          </p:cNvSpPr>
          <p:nvPr>
            <p:ph type="sldNum" sz="quarter" idx="12"/>
          </p:nvPr>
        </p:nvSpPr>
        <p:spPr/>
        <p:txBody>
          <a:bodyPr/>
          <a:lstStyle/>
          <a:p>
            <a:fld id="{8C9BEE26-CBC9-D24B-B62C-3600B65D4342}" type="slidenum">
              <a:rPr lang="en-US" smtClean="0"/>
              <a:t>85</a:t>
            </a:fld>
            <a:endParaRPr lang="en-US"/>
          </a:p>
        </p:txBody>
      </p:sp>
    </p:spTree>
    <p:extLst>
      <p:ext uri="{BB962C8B-B14F-4D97-AF65-F5344CB8AC3E}">
        <p14:creationId xmlns:p14="http://schemas.microsoft.com/office/powerpoint/2010/main" val="11664294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E9C72E-8513-0C1E-063B-6DEF0C159196}"/>
              </a:ext>
            </a:extLst>
          </p:cNvPr>
          <p:cNvSpPr txBox="1"/>
          <p:nvPr/>
        </p:nvSpPr>
        <p:spPr>
          <a:xfrm>
            <a:off x="838200" y="299810"/>
            <a:ext cx="10515600" cy="1325563"/>
          </a:xfrm>
          <a:prstGeom prst="rect">
            <a:avLst/>
          </a:prstGeom>
        </p:spPr>
        <p:txBody>
          <a:bodyPr vert="horz" lIns="91440" tIns="45720" rIns="91440" bIns="45720" rtlCol="0" anchor="ctr">
            <a:normAutofit fontScale="85000" lnSpcReduction="10000"/>
          </a:bodyPr>
          <a:lstStyle/>
          <a:p>
            <a:pPr>
              <a:lnSpc>
                <a:spcPct val="90000"/>
              </a:lnSpc>
              <a:spcBef>
                <a:spcPct val="0"/>
              </a:spcBef>
              <a:spcAft>
                <a:spcPts val="600"/>
              </a:spcAft>
            </a:pPr>
            <a:r>
              <a:rPr lang="en-US" sz="4100" kern="1200">
                <a:latin typeface="+mj-lt"/>
                <a:ea typeface="+mj-ea"/>
                <a:cs typeface="+mj-cs"/>
              </a:rPr>
              <a:t>Nonclinical Safety Evaluation: How does FDA view the need for additional nonclinical studies in support of peds? </a:t>
            </a:r>
          </a:p>
        </p:txBody>
      </p:sp>
      <p:sp>
        <p:nvSpPr>
          <p:cNvPr id="9" name="TextBox 8">
            <a:extLst>
              <a:ext uri="{FF2B5EF4-FFF2-40B4-BE49-F238E27FC236}">
                <a16:creationId xmlns:a16="http://schemas.microsoft.com/office/drawing/2014/main" id="{DC2B4086-2C52-C1AE-866A-9FEB16A851C8}"/>
              </a:ext>
            </a:extLst>
          </p:cNvPr>
          <p:cNvSpPr txBox="1"/>
          <p:nvPr/>
        </p:nvSpPr>
        <p:spPr>
          <a:xfrm>
            <a:off x="838201" y="1825625"/>
            <a:ext cx="5181600" cy="435133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en-US" sz="2400"/>
              <a:t>Per guidance, juvenile animal toxicology studies* are done on a ‘for cause’ basis. </a:t>
            </a:r>
          </a:p>
          <a:p>
            <a:pPr marL="228600" lvl="1" indent="-228600">
              <a:lnSpc>
                <a:spcPct val="90000"/>
              </a:lnSpc>
              <a:spcBef>
                <a:spcPts val="1000"/>
              </a:spcBef>
              <a:buFont typeface="Arial" panose="020B0604020202020204" pitchFamily="34" charset="0"/>
              <a:buChar char="•"/>
            </a:pPr>
            <a:r>
              <a:rPr lang="en-US" sz="2400" i="1"/>
              <a:t>..only when previous animal data and human safety data are judged to be insufficient to support pediatric studies</a:t>
            </a:r>
            <a:r>
              <a:rPr lang="en-US" sz="2400"/>
              <a:t>.” –ICH M3R2</a:t>
            </a:r>
          </a:p>
          <a:p>
            <a:pPr marL="228600" lvl="1" indent="-228600">
              <a:lnSpc>
                <a:spcPct val="90000"/>
              </a:lnSpc>
              <a:spcBef>
                <a:spcPts val="1000"/>
              </a:spcBef>
              <a:buFont typeface="Arial" panose="020B0604020202020204" pitchFamily="34" charset="0"/>
              <a:buChar char="•"/>
            </a:pPr>
            <a:endParaRPr lang="en-US" sz="2400"/>
          </a:p>
          <a:p>
            <a:pPr marL="228600" indent="-228600">
              <a:lnSpc>
                <a:spcPct val="90000"/>
              </a:lnSpc>
              <a:spcBef>
                <a:spcPts val="1000"/>
              </a:spcBef>
              <a:buFont typeface="Arial" panose="020B0604020202020204" pitchFamily="34" charset="0"/>
              <a:buChar char="•"/>
            </a:pPr>
            <a:r>
              <a:rPr lang="en-US" sz="2400"/>
              <a:t>Per real-world experience, the threshold of ‘for cause’ varies across OND’s review divisions</a:t>
            </a:r>
          </a:p>
        </p:txBody>
      </p:sp>
      <p:pic>
        <p:nvPicPr>
          <p:cNvPr id="10" name="Picture 9" descr="A diagram of a patient's health&#10;&#10;AI-generated content may be incorrect.">
            <a:extLst>
              <a:ext uri="{FF2B5EF4-FFF2-40B4-BE49-F238E27FC236}">
                <a16:creationId xmlns:a16="http://schemas.microsoft.com/office/drawing/2014/main" id="{3E5E1E65-F1AB-95E5-9054-0C4CDE9088F4}"/>
              </a:ext>
            </a:extLst>
          </p:cNvPr>
          <p:cNvPicPr>
            <a:picLocks noChangeAspect="1"/>
          </p:cNvPicPr>
          <p:nvPr/>
        </p:nvPicPr>
        <p:blipFill>
          <a:blip r:embed="rId3"/>
          <a:stretch>
            <a:fillRect/>
          </a:stretch>
        </p:blipFill>
        <p:spPr>
          <a:xfrm>
            <a:off x="6172200" y="1850930"/>
            <a:ext cx="5181600" cy="4300728"/>
          </a:xfrm>
          <a:prstGeom prst="rect">
            <a:avLst/>
          </a:prstGeom>
          <a:noFill/>
        </p:spPr>
      </p:pic>
      <p:sp>
        <p:nvSpPr>
          <p:cNvPr id="19" name="TextBox 18">
            <a:extLst>
              <a:ext uri="{FF2B5EF4-FFF2-40B4-BE49-F238E27FC236}">
                <a16:creationId xmlns:a16="http://schemas.microsoft.com/office/drawing/2014/main" id="{8E354897-3D7E-337B-B917-243A480989A4}"/>
              </a:ext>
            </a:extLst>
          </p:cNvPr>
          <p:cNvSpPr txBox="1"/>
          <p:nvPr/>
        </p:nvSpPr>
        <p:spPr>
          <a:xfrm>
            <a:off x="10440785" y="6151658"/>
            <a:ext cx="813043" cy="307777"/>
          </a:xfrm>
          <a:prstGeom prst="rect">
            <a:avLst/>
          </a:prstGeom>
          <a:noFill/>
        </p:spPr>
        <p:txBody>
          <a:bodyPr wrap="none" rtlCol="0">
            <a:spAutoFit/>
          </a:bodyPr>
          <a:lstStyle/>
          <a:p>
            <a:r>
              <a:rPr lang="en-US" sz="1400"/>
              <a:t>ICH S11</a:t>
            </a:r>
          </a:p>
        </p:txBody>
      </p:sp>
      <p:sp>
        <p:nvSpPr>
          <p:cNvPr id="20" name="TextBox 19">
            <a:extLst>
              <a:ext uri="{FF2B5EF4-FFF2-40B4-BE49-F238E27FC236}">
                <a16:creationId xmlns:a16="http://schemas.microsoft.com/office/drawing/2014/main" id="{FFA431B5-9180-0F43-1F4A-6D441F54176A}"/>
              </a:ext>
            </a:extLst>
          </p:cNvPr>
          <p:cNvSpPr txBox="1"/>
          <p:nvPr/>
        </p:nvSpPr>
        <p:spPr>
          <a:xfrm>
            <a:off x="838200" y="6274769"/>
            <a:ext cx="615681" cy="369332"/>
          </a:xfrm>
          <a:prstGeom prst="rect">
            <a:avLst/>
          </a:prstGeom>
          <a:noFill/>
        </p:spPr>
        <p:txBody>
          <a:bodyPr wrap="none" rtlCol="0">
            <a:spAutoFit/>
          </a:bodyPr>
          <a:lstStyle/>
          <a:p>
            <a:r>
              <a:rPr lang="en-US"/>
              <a:t>*JAS</a:t>
            </a:r>
          </a:p>
        </p:txBody>
      </p:sp>
      <p:sp>
        <p:nvSpPr>
          <p:cNvPr id="21" name="Slide Number Placeholder 20">
            <a:extLst>
              <a:ext uri="{FF2B5EF4-FFF2-40B4-BE49-F238E27FC236}">
                <a16:creationId xmlns:a16="http://schemas.microsoft.com/office/drawing/2014/main" id="{831680E9-6B22-0F25-5E89-3B38AC10C069}"/>
              </a:ext>
            </a:extLst>
          </p:cNvPr>
          <p:cNvSpPr>
            <a:spLocks noGrp="1"/>
          </p:cNvSpPr>
          <p:nvPr>
            <p:ph type="sldNum" sz="quarter" idx="12"/>
          </p:nvPr>
        </p:nvSpPr>
        <p:spPr/>
        <p:txBody>
          <a:bodyPr/>
          <a:lstStyle/>
          <a:p>
            <a:fld id="{8C9BEE26-CBC9-D24B-B62C-3600B65D4342}" type="slidenum">
              <a:rPr lang="en-US" smtClean="0"/>
              <a:t>86</a:t>
            </a:fld>
            <a:endParaRPr lang="en-US"/>
          </a:p>
        </p:txBody>
      </p:sp>
    </p:spTree>
    <p:extLst>
      <p:ext uri="{BB962C8B-B14F-4D97-AF65-F5344CB8AC3E}">
        <p14:creationId xmlns:p14="http://schemas.microsoft.com/office/powerpoint/2010/main" val="8752022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65BE9-72B4-AE86-6B5F-D9B873C26AA8}"/>
              </a:ext>
            </a:extLst>
          </p:cNvPr>
          <p:cNvSpPr>
            <a:spLocks noGrp="1"/>
          </p:cNvSpPr>
          <p:nvPr>
            <p:ph type="title"/>
          </p:nvPr>
        </p:nvSpPr>
        <p:spPr>
          <a:xfrm>
            <a:off x="871451" y="446204"/>
            <a:ext cx="7009015" cy="779028"/>
          </a:xfrm>
        </p:spPr>
        <p:txBody>
          <a:bodyPr>
            <a:normAutofit/>
          </a:bodyPr>
          <a:lstStyle/>
          <a:p>
            <a:r>
              <a:rPr lang="en-US" sz="4000"/>
              <a:t>Nonclinical Safety Evaluation</a:t>
            </a:r>
          </a:p>
        </p:txBody>
      </p:sp>
      <p:grpSp>
        <p:nvGrpSpPr>
          <p:cNvPr id="11" name="Group 10">
            <a:extLst>
              <a:ext uri="{FF2B5EF4-FFF2-40B4-BE49-F238E27FC236}">
                <a16:creationId xmlns:a16="http://schemas.microsoft.com/office/drawing/2014/main" id="{ABCB1A95-93F9-C630-EEED-F55A6AB70D4E}"/>
              </a:ext>
            </a:extLst>
          </p:cNvPr>
          <p:cNvGrpSpPr/>
          <p:nvPr/>
        </p:nvGrpSpPr>
        <p:grpSpPr>
          <a:xfrm>
            <a:off x="6192541" y="1402254"/>
            <a:ext cx="5681749" cy="4724438"/>
            <a:chOff x="4010891" y="1934057"/>
            <a:chExt cx="5181600" cy="4300728"/>
          </a:xfrm>
        </p:grpSpPr>
        <p:pic>
          <p:nvPicPr>
            <p:cNvPr id="4" name="Picture 3" descr="A diagram of a patient's health&#10;&#10;AI-generated content may be incorrect.">
              <a:extLst>
                <a:ext uri="{FF2B5EF4-FFF2-40B4-BE49-F238E27FC236}">
                  <a16:creationId xmlns:a16="http://schemas.microsoft.com/office/drawing/2014/main" id="{243E53BA-4B23-E6AE-43EE-1CD8CB03C0C2}"/>
                </a:ext>
              </a:extLst>
            </p:cNvPr>
            <p:cNvPicPr>
              <a:picLocks noChangeAspect="1"/>
            </p:cNvPicPr>
            <p:nvPr/>
          </p:nvPicPr>
          <p:blipFill>
            <a:blip r:embed="rId3"/>
            <a:stretch>
              <a:fillRect/>
            </a:stretch>
          </p:blipFill>
          <p:spPr>
            <a:xfrm>
              <a:off x="4010891" y="1934057"/>
              <a:ext cx="5181600" cy="4300728"/>
            </a:xfrm>
            <a:prstGeom prst="rect">
              <a:avLst/>
            </a:prstGeom>
            <a:noFill/>
          </p:spPr>
        </p:pic>
        <p:sp>
          <p:nvSpPr>
            <p:cNvPr id="5" name="Oval 4">
              <a:extLst>
                <a:ext uri="{FF2B5EF4-FFF2-40B4-BE49-F238E27FC236}">
                  <a16:creationId xmlns:a16="http://schemas.microsoft.com/office/drawing/2014/main" id="{FDFBE0CE-3732-A90E-3387-E7262E6A0102}"/>
                </a:ext>
              </a:extLst>
            </p:cNvPr>
            <p:cNvSpPr/>
            <p:nvPr/>
          </p:nvSpPr>
          <p:spPr>
            <a:xfrm>
              <a:off x="4121033" y="3192087"/>
              <a:ext cx="1157549" cy="59851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2F3770B-F3CB-5244-289D-EABED9F380A5}"/>
                </a:ext>
              </a:extLst>
            </p:cNvPr>
            <p:cNvSpPr/>
            <p:nvPr/>
          </p:nvSpPr>
          <p:spPr>
            <a:xfrm>
              <a:off x="4121033" y="4996067"/>
              <a:ext cx="1168632" cy="5402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DCE314D-3E88-83CD-7617-5A45CC578826}"/>
                </a:ext>
              </a:extLst>
            </p:cNvPr>
            <p:cNvSpPr/>
            <p:nvPr/>
          </p:nvSpPr>
          <p:spPr>
            <a:xfrm>
              <a:off x="4121032" y="4389239"/>
              <a:ext cx="1168632" cy="59851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498136A-1DAF-838D-2AB0-BE0675208ECE}"/>
                </a:ext>
              </a:extLst>
            </p:cNvPr>
            <p:cNvSpPr txBox="1"/>
            <p:nvPr/>
          </p:nvSpPr>
          <p:spPr>
            <a:xfrm>
              <a:off x="5756097" y="3513604"/>
              <a:ext cx="1153201" cy="276999"/>
            </a:xfrm>
            <a:prstGeom prst="rect">
              <a:avLst/>
            </a:prstGeom>
            <a:noFill/>
          </p:spPr>
          <p:txBody>
            <a:bodyPr wrap="square" rtlCol="0">
              <a:spAutoFit/>
            </a:bodyPr>
            <a:lstStyle/>
            <a:p>
              <a:r>
                <a:rPr lang="en-US" sz="1200" b="1" i="1"/>
                <a:t>or UNKNOWN</a:t>
              </a:r>
            </a:p>
          </p:txBody>
        </p:sp>
        <p:sp>
          <p:nvSpPr>
            <p:cNvPr id="9" name="TextBox 8">
              <a:extLst>
                <a:ext uri="{FF2B5EF4-FFF2-40B4-BE49-F238E27FC236}">
                  <a16:creationId xmlns:a16="http://schemas.microsoft.com/office/drawing/2014/main" id="{3BA31FDF-2676-AD71-D592-0F4F25C089B7}"/>
                </a:ext>
              </a:extLst>
            </p:cNvPr>
            <p:cNvSpPr txBox="1"/>
            <p:nvPr/>
          </p:nvSpPr>
          <p:spPr>
            <a:xfrm>
              <a:off x="5756095" y="5313487"/>
              <a:ext cx="1153201" cy="276999"/>
            </a:xfrm>
            <a:prstGeom prst="rect">
              <a:avLst/>
            </a:prstGeom>
            <a:noFill/>
          </p:spPr>
          <p:txBody>
            <a:bodyPr wrap="square" rtlCol="0">
              <a:spAutoFit/>
            </a:bodyPr>
            <a:lstStyle/>
            <a:p>
              <a:r>
                <a:rPr lang="en-US" sz="1200" b="1" i="1"/>
                <a:t>or UNKNOWN</a:t>
              </a:r>
            </a:p>
          </p:txBody>
        </p:sp>
        <p:sp>
          <p:nvSpPr>
            <p:cNvPr id="10" name="TextBox 9">
              <a:extLst>
                <a:ext uri="{FF2B5EF4-FFF2-40B4-BE49-F238E27FC236}">
                  <a16:creationId xmlns:a16="http://schemas.microsoft.com/office/drawing/2014/main" id="{C9DE1441-D52A-F900-E800-E3B7365D5DEE}"/>
                </a:ext>
              </a:extLst>
            </p:cNvPr>
            <p:cNvSpPr txBox="1"/>
            <p:nvPr/>
          </p:nvSpPr>
          <p:spPr>
            <a:xfrm>
              <a:off x="5739470" y="4752320"/>
              <a:ext cx="1153201" cy="276999"/>
            </a:xfrm>
            <a:prstGeom prst="rect">
              <a:avLst/>
            </a:prstGeom>
            <a:noFill/>
          </p:spPr>
          <p:txBody>
            <a:bodyPr wrap="square" rtlCol="0">
              <a:spAutoFit/>
            </a:bodyPr>
            <a:lstStyle/>
            <a:p>
              <a:r>
                <a:rPr lang="en-US" sz="1200" b="1" i="1"/>
                <a:t>or UNKNOWN</a:t>
              </a:r>
            </a:p>
          </p:txBody>
        </p:sp>
      </p:grpSp>
      <p:sp>
        <p:nvSpPr>
          <p:cNvPr id="12" name="TextBox 11">
            <a:extLst>
              <a:ext uri="{FF2B5EF4-FFF2-40B4-BE49-F238E27FC236}">
                <a16:creationId xmlns:a16="http://schemas.microsoft.com/office/drawing/2014/main" id="{CE40D1D1-6F10-D175-9724-72DD8156B9D3}"/>
              </a:ext>
            </a:extLst>
          </p:cNvPr>
          <p:cNvSpPr txBox="1"/>
          <p:nvPr/>
        </p:nvSpPr>
        <p:spPr>
          <a:xfrm>
            <a:off x="704640" y="1496897"/>
            <a:ext cx="4865736" cy="1015663"/>
          </a:xfrm>
          <a:prstGeom prst="rect">
            <a:avLst/>
          </a:prstGeom>
          <a:noFill/>
        </p:spPr>
        <p:txBody>
          <a:bodyPr wrap="square" rtlCol="0">
            <a:spAutoFit/>
          </a:bodyPr>
          <a:lstStyle/>
          <a:p>
            <a:r>
              <a:rPr lang="en-US" sz="2000" b="1"/>
              <a:t>Poorly defined </a:t>
            </a:r>
            <a:r>
              <a:rPr lang="en-US" sz="2000" b="1" err="1"/>
              <a:t>MoA</a:t>
            </a:r>
            <a:r>
              <a:rPr lang="en-US" sz="2000" b="1"/>
              <a:t> pushes the </a:t>
            </a:r>
            <a:r>
              <a:rPr lang="en-US" sz="2000" b="1" err="1"/>
              <a:t>WoE</a:t>
            </a:r>
            <a:r>
              <a:rPr lang="en-US" sz="2000" b="1"/>
              <a:t> factors in </a:t>
            </a:r>
            <a:r>
              <a:rPr lang="en-US" sz="2000" b="1">
                <a:solidFill>
                  <a:schemeClr val="accent2"/>
                </a:solidFill>
              </a:rPr>
              <a:t>RED</a:t>
            </a:r>
            <a:r>
              <a:rPr lang="en-US" sz="2000" b="1"/>
              <a:t> toward the left….  further studies are LIKELY</a:t>
            </a:r>
          </a:p>
        </p:txBody>
      </p:sp>
      <p:sp>
        <p:nvSpPr>
          <p:cNvPr id="14" name="TextBox 13">
            <a:extLst>
              <a:ext uri="{FF2B5EF4-FFF2-40B4-BE49-F238E27FC236}">
                <a16:creationId xmlns:a16="http://schemas.microsoft.com/office/drawing/2014/main" id="{0A976250-098A-44B0-FA91-6D2C2FF05481}"/>
              </a:ext>
            </a:extLst>
          </p:cNvPr>
          <p:cNvSpPr txBox="1"/>
          <p:nvPr/>
        </p:nvSpPr>
        <p:spPr>
          <a:xfrm>
            <a:off x="507895" y="2784226"/>
            <a:ext cx="5491565" cy="3139321"/>
          </a:xfrm>
          <a:prstGeom prst="rect">
            <a:avLst/>
          </a:prstGeom>
          <a:noFill/>
        </p:spPr>
        <p:txBody>
          <a:bodyPr wrap="square" rtlCol="0">
            <a:spAutoFit/>
          </a:bodyPr>
          <a:lstStyle/>
          <a:p>
            <a:r>
              <a:rPr lang="en-US"/>
              <a:t>'For cause’ in this case is driven by uncertainty, not a specific developmental issue</a:t>
            </a:r>
          </a:p>
          <a:p>
            <a:endParaRPr lang="en-US"/>
          </a:p>
          <a:p>
            <a:r>
              <a:rPr lang="en-US"/>
              <a:t>‘Full’ juvenile toxicology design (≥Infants)</a:t>
            </a:r>
          </a:p>
          <a:p>
            <a:pPr marL="742950" lvl="1" indent="-285750">
              <a:buFont typeface="Arial" panose="020B0604020202020204" pitchFamily="34" charset="0"/>
              <a:buChar char="•"/>
            </a:pPr>
            <a:r>
              <a:rPr lang="en-US"/>
              <a:t>Dosing PND4/7-PND80</a:t>
            </a:r>
          </a:p>
          <a:p>
            <a:pPr marL="742950" lvl="1" indent="-285750">
              <a:buFont typeface="Arial" panose="020B0604020202020204" pitchFamily="34" charset="0"/>
              <a:buChar char="•"/>
            </a:pPr>
            <a:r>
              <a:rPr lang="en-US"/>
              <a:t>Standard toxicology endpoints</a:t>
            </a:r>
          </a:p>
          <a:p>
            <a:pPr marL="742950" lvl="1" indent="-285750">
              <a:buFont typeface="Arial" panose="020B0604020202020204" pitchFamily="34" charset="0"/>
              <a:buChar char="•"/>
            </a:pPr>
            <a:r>
              <a:rPr lang="en-US"/>
              <a:t>Sexual development markers</a:t>
            </a:r>
          </a:p>
          <a:p>
            <a:pPr marL="742950" lvl="1" indent="-285750">
              <a:buFont typeface="Arial" panose="020B0604020202020204" pitchFamily="34" charset="0"/>
              <a:buChar char="•"/>
            </a:pPr>
            <a:r>
              <a:rPr lang="en-US"/>
              <a:t>Behavioral, learning, memory</a:t>
            </a:r>
          </a:p>
          <a:p>
            <a:pPr marL="742950" lvl="1" indent="-285750">
              <a:buFont typeface="Arial" panose="020B0604020202020204" pitchFamily="34" charset="0"/>
              <a:buChar char="•"/>
            </a:pPr>
            <a:r>
              <a:rPr lang="en-US"/>
              <a:t>Mating and EED</a:t>
            </a:r>
          </a:p>
          <a:p>
            <a:pPr marL="742950" lvl="1" indent="-285750">
              <a:buFont typeface="Arial" panose="020B0604020202020204" pitchFamily="34" charset="0"/>
              <a:buChar char="•"/>
            </a:pPr>
            <a:r>
              <a:rPr lang="en-US"/>
              <a:t>Additional endpoints informed by adolescent/adult animal studies</a:t>
            </a:r>
          </a:p>
        </p:txBody>
      </p:sp>
      <p:sp>
        <p:nvSpPr>
          <p:cNvPr id="15" name="Slide Number Placeholder 14">
            <a:extLst>
              <a:ext uri="{FF2B5EF4-FFF2-40B4-BE49-F238E27FC236}">
                <a16:creationId xmlns:a16="http://schemas.microsoft.com/office/drawing/2014/main" id="{16575B63-E37F-E742-BC36-2D6B5B72CBA9}"/>
              </a:ext>
            </a:extLst>
          </p:cNvPr>
          <p:cNvSpPr>
            <a:spLocks noGrp="1"/>
          </p:cNvSpPr>
          <p:nvPr>
            <p:ph type="sldNum" sz="quarter" idx="12"/>
          </p:nvPr>
        </p:nvSpPr>
        <p:spPr/>
        <p:txBody>
          <a:bodyPr/>
          <a:lstStyle/>
          <a:p>
            <a:fld id="{8C9BEE26-CBC9-D24B-B62C-3600B65D4342}" type="slidenum">
              <a:rPr lang="en-US" smtClean="0"/>
              <a:t>87</a:t>
            </a:fld>
            <a:endParaRPr lang="en-US"/>
          </a:p>
        </p:txBody>
      </p:sp>
    </p:spTree>
    <p:extLst>
      <p:ext uri="{BB962C8B-B14F-4D97-AF65-F5344CB8AC3E}">
        <p14:creationId xmlns:p14="http://schemas.microsoft.com/office/powerpoint/2010/main" val="27542073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A36D3-F96F-ACDF-2E38-52E53BC71F68}"/>
              </a:ext>
            </a:extLst>
          </p:cNvPr>
          <p:cNvSpPr>
            <a:spLocks noGrp="1"/>
          </p:cNvSpPr>
          <p:nvPr>
            <p:ph type="title"/>
          </p:nvPr>
        </p:nvSpPr>
        <p:spPr>
          <a:xfrm>
            <a:off x="930594" y="206880"/>
            <a:ext cx="10733358" cy="1231778"/>
          </a:xfrm>
        </p:spPr>
        <p:txBody>
          <a:bodyPr>
            <a:normAutofit/>
          </a:bodyPr>
          <a:lstStyle/>
          <a:p>
            <a:r>
              <a:rPr lang="en-US" sz="3600"/>
              <a:t>NOAELs and Safety Margins supporting Pediatric studies </a:t>
            </a:r>
          </a:p>
        </p:txBody>
      </p:sp>
      <p:sp>
        <p:nvSpPr>
          <p:cNvPr id="8" name="TextBox 7">
            <a:extLst>
              <a:ext uri="{FF2B5EF4-FFF2-40B4-BE49-F238E27FC236}">
                <a16:creationId xmlns:a16="http://schemas.microsoft.com/office/drawing/2014/main" id="{BEA0AD54-9B74-C04A-7D4D-F67413FECC25}"/>
              </a:ext>
            </a:extLst>
          </p:cNvPr>
          <p:cNvSpPr txBox="1"/>
          <p:nvPr/>
        </p:nvSpPr>
        <p:spPr>
          <a:xfrm>
            <a:off x="1260527" y="2536448"/>
            <a:ext cx="10316094" cy="1785104"/>
          </a:xfrm>
          <a:prstGeom prst="rect">
            <a:avLst/>
          </a:prstGeom>
          <a:noFill/>
        </p:spPr>
        <p:txBody>
          <a:bodyPr wrap="square" rtlCol="0">
            <a:spAutoFit/>
          </a:bodyPr>
          <a:lstStyle/>
          <a:p>
            <a:pPr marL="342900" indent="-342900">
              <a:buFont typeface="Wingdings" pitchFamily="2" charset="2"/>
              <a:buChar char="Ø"/>
            </a:pPr>
            <a:r>
              <a:rPr lang="en-US" sz="2200"/>
              <a:t>Application of NOAELs to dose setting depends on many factors, notably:</a:t>
            </a:r>
          </a:p>
          <a:p>
            <a:pPr marL="800100" lvl="1" indent="-342900">
              <a:buFont typeface="Arial" panose="020B0604020202020204" pitchFamily="34" charset="0"/>
              <a:buChar char="•"/>
            </a:pPr>
            <a:r>
              <a:rPr lang="en-US" sz="2200"/>
              <a:t>Human relevance</a:t>
            </a:r>
          </a:p>
          <a:p>
            <a:pPr marL="800100" lvl="1" indent="-342900">
              <a:buFont typeface="Arial" panose="020B0604020202020204" pitchFamily="34" charset="0"/>
              <a:buChar char="•"/>
            </a:pPr>
            <a:r>
              <a:rPr lang="en-US" sz="2200"/>
              <a:t>Mechanistic understanding of toxicity (e.g., target-related, off-target, unknown)</a:t>
            </a:r>
          </a:p>
          <a:p>
            <a:pPr marL="800100" lvl="1" indent="-342900">
              <a:buFont typeface="Arial" panose="020B0604020202020204" pitchFamily="34" charset="0"/>
              <a:buChar char="•"/>
            </a:pPr>
            <a:r>
              <a:rPr lang="en-US" sz="2200"/>
              <a:t>Severity, reversibility, and monitorability of toxicity</a:t>
            </a:r>
          </a:p>
        </p:txBody>
      </p:sp>
      <p:sp>
        <p:nvSpPr>
          <p:cNvPr id="10" name="TextBox 9">
            <a:extLst>
              <a:ext uri="{FF2B5EF4-FFF2-40B4-BE49-F238E27FC236}">
                <a16:creationId xmlns:a16="http://schemas.microsoft.com/office/drawing/2014/main" id="{928CBB53-5B1D-BA68-8A3A-04D7E0B73080}"/>
              </a:ext>
            </a:extLst>
          </p:cNvPr>
          <p:cNvSpPr txBox="1"/>
          <p:nvPr/>
        </p:nvSpPr>
        <p:spPr>
          <a:xfrm>
            <a:off x="1260527" y="4479171"/>
            <a:ext cx="9153725" cy="769441"/>
          </a:xfrm>
          <a:prstGeom prst="rect">
            <a:avLst/>
          </a:prstGeom>
          <a:noFill/>
        </p:spPr>
        <p:txBody>
          <a:bodyPr wrap="square">
            <a:spAutoFit/>
          </a:bodyPr>
          <a:lstStyle/>
          <a:p>
            <a:pPr marL="342900" indent="-342900">
              <a:buFont typeface="Wingdings" pitchFamily="2" charset="2"/>
              <a:buChar char="Ø"/>
            </a:pPr>
            <a:r>
              <a:rPr lang="en-US" sz="2200"/>
              <a:t>As a ‘default’, the </a:t>
            </a:r>
            <a:r>
              <a:rPr lang="en-US" sz="2200" b="1" i="1"/>
              <a:t>maximum</a:t>
            </a:r>
            <a:r>
              <a:rPr lang="en-US" sz="2200"/>
              <a:t> clinical dose should not exceed the NOAEL </a:t>
            </a:r>
          </a:p>
          <a:p>
            <a:pPr marL="800100" lvl="1" indent="-342900">
              <a:buFont typeface="Arial" panose="020B0604020202020204" pitchFamily="34" charset="0"/>
              <a:buChar char="•"/>
            </a:pPr>
            <a:r>
              <a:rPr lang="en-US" sz="2200"/>
              <a:t>(i.e., NOAEL = 1X </a:t>
            </a:r>
            <a:r>
              <a:rPr lang="en-US" sz="2200" err="1"/>
              <a:t>MRHD</a:t>
            </a:r>
            <a:r>
              <a:rPr lang="en-US" sz="2200" baseline="-25000" err="1"/>
              <a:t>p</a:t>
            </a:r>
            <a:r>
              <a:rPr lang="en-US" sz="2200"/>
              <a:t>) </a:t>
            </a:r>
          </a:p>
        </p:txBody>
      </p:sp>
      <p:sp>
        <p:nvSpPr>
          <p:cNvPr id="12" name="TextBox 11">
            <a:extLst>
              <a:ext uri="{FF2B5EF4-FFF2-40B4-BE49-F238E27FC236}">
                <a16:creationId xmlns:a16="http://schemas.microsoft.com/office/drawing/2014/main" id="{CBE45BB3-E8B3-061F-E9EB-E88261B6B0A3}"/>
              </a:ext>
            </a:extLst>
          </p:cNvPr>
          <p:cNvSpPr txBox="1"/>
          <p:nvPr/>
        </p:nvSpPr>
        <p:spPr>
          <a:xfrm>
            <a:off x="1260527" y="1519296"/>
            <a:ext cx="9153725" cy="769441"/>
          </a:xfrm>
          <a:prstGeom prst="rect">
            <a:avLst/>
          </a:prstGeom>
          <a:noFill/>
        </p:spPr>
        <p:txBody>
          <a:bodyPr wrap="square">
            <a:spAutoFit/>
          </a:bodyPr>
          <a:lstStyle/>
          <a:p>
            <a:pPr marL="342900" indent="-342900">
              <a:buFont typeface="Wingdings" pitchFamily="2" charset="2"/>
              <a:buChar char="Ø"/>
            </a:pPr>
            <a:r>
              <a:rPr lang="en-US" sz="2200"/>
              <a:t>JAS will define NOAELs/LOAELs for growth/development, fertility, general toxicity</a:t>
            </a:r>
          </a:p>
        </p:txBody>
      </p:sp>
      <p:sp>
        <p:nvSpPr>
          <p:cNvPr id="13" name="TextBox 12">
            <a:extLst>
              <a:ext uri="{FF2B5EF4-FFF2-40B4-BE49-F238E27FC236}">
                <a16:creationId xmlns:a16="http://schemas.microsoft.com/office/drawing/2014/main" id="{0852AAE1-83EE-A5DB-A6A8-0A5C871193B9}"/>
              </a:ext>
            </a:extLst>
          </p:cNvPr>
          <p:cNvSpPr txBox="1"/>
          <p:nvPr/>
        </p:nvSpPr>
        <p:spPr>
          <a:xfrm>
            <a:off x="1260527" y="5496323"/>
            <a:ext cx="9409696" cy="769441"/>
          </a:xfrm>
          <a:prstGeom prst="rect">
            <a:avLst/>
          </a:prstGeom>
          <a:noFill/>
        </p:spPr>
        <p:txBody>
          <a:bodyPr wrap="square" rtlCol="0">
            <a:spAutoFit/>
          </a:bodyPr>
          <a:lstStyle/>
          <a:p>
            <a:pPr marL="342900" indent="-342900">
              <a:buFont typeface="Wingdings" pitchFamily="2" charset="2"/>
              <a:buChar char="Ø"/>
            </a:pPr>
            <a:r>
              <a:rPr lang="en-US" sz="2200"/>
              <a:t>Multiple factors, including mechanistic understanding, influence movement from this default  </a:t>
            </a:r>
          </a:p>
        </p:txBody>
      </p:sp>
      <p:sp>
        <p:nvSpPr>
          <p:cNvPr id="14" name="Slide Number Placeholder 13">
            <a:extLst>
              <a:ext uri="{FF2B5EF4-FFF2-40B4-BE49-F238E27FC236}">
                <a16:creationId xmlns:a16="http://schemas.microsoft.com/office/drawing/2014/main" id="{FDD67068-6F1F-E3A7-606C-847D3F9A3E80}"/>
              </a:ext>
            </a:extLst>
          </p:cNvPr>
          <p:cNvSpPr>
            <a:spLocks noGrp="1"/>
          </p:cNvSpPr>
          <p:nvPr>
            <p:ph type="sldNum" sz="quarter" idx="12"/>
          </p:nvPr>
        </p:nvSpPr>
        <p:spPr/>
        <p:txBody>
          <a:bodyPr/>
          <a:lstStyle/>
          <a:p>
            <a:fld id="{8C9BEE26-CBC9-D24B-B62C-3600B65D4342}" type="slidenum">
              <a:rPr lang="en-US" smtClean="0"/>
              <a:t>88</a:t>
            </a:fld>
            <a:endParaRPr lang="en-US"/>
          </a:p>
        </p:txBody>
      </p:sp>
    </p:spTree>
    <p:extLst>
      <p:ext uri="{BB962C8B-B14F-4D97-AF65-F5344CB8AC3E}">
        <p14:creationId xmlns:p14="http://schemas.microsoft.com/office/powerpoint/2010/main" val="17881182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7F43BB-6B81-6E8D-44B5-5E4751303B23}"/>
              </a:ext>
            </a:extLst>
          </p:cNvPr>
          <p:cNvPicPr>
            <a:picLocks noChangeAspect="1"/>
          </p:cNvPicPr>
          <p:nvPr/>
        </p:nvPicPr>
        <p:blipFill>
          <a:blip r:embed="rId2"/>
          <a:srcRect r="34533"/>
          <a:stretch>
            <a:fillRect/>
          </a:stretch>
        </p:blipFill>
        <p:spPr>
          <a:xfrm flipV="1">
            <a:off x="1083410" y="1713201"/>
            <a:ext cx="10025180" cy="273669"/>
          </a:xfrm>
          <a:custGeom>
            <a:avLst/>
            <a:gdLst>
              <a:gd name="connsiteX0" fmla="*/ 0 w 7523914"/>
              <a:gd name="connsiteY0" fmla="*/ 241 h 180296"/>
              <a:gd name="connsiteX1" fmla="*/ 7523915 w 7523914"/>
              <a:gd name="connsiteY1" fmla="*/ 241 h 180296"/>
              <a:gd name="connsiteX2" fmla="*/ 7523915 w 7523914"/>
              <a:gd name="connsiteY2" fmla="*/ 180538 h 180296"/>
              <a:gd name="connsiteX3" fmla="*/ 0 w 7523914"/>
              <a:gd name="connsiteY3" fmla="*/ 180538 h 180296"/>
            </a:gdLst>
            <a:ahLst/>
            <a:cxnLst>
              <a:cxn ang="0">
                <a:pos x="connsiteX0" y="connsiteY0"/>
              </a:cxn>
              <a:cxn ang="0">
                <a:pos x="connsiteX1" y="connsiteY1"/>
              </a:cxn>
              <a:cxn ang="0">
                <a:pos x="connsiteX2" y="connsiteY2"/>
              </a:cxn>
              <a:cxn ang="0">
                <a:pos x="connsiteX3" y="connsiteY3"/>
              </a:cxn>
            </a:cxnLst>
            <a:rect l="l" t="t" r="r" b="b"/>
            <a:pathLst>
              <a:path w="7523914" h="180296">
                <a:moveTo>
                  <a:pt x="0" y="241"/>
                </a:moveTo>
                <a:lnTo>
                  <a:pt x="7523915" y="241"/>
                </a:lnTo>
                <a:lnTo>
                  <a:pt x="7523915" y="180538"/>
                </a:lnTo>
                <a:lnTo>
                  <a:pt x="0" y="180538"/>
                </a:lnTo>
                <a:close/>
              </a:path>
            </a:pathLst>
          </a:custGeom>
        </p:spPr>
      </p:pic>
      <p:sp>
        <p:nvSpPr>
          <p:cNvPr id="5" name="TextBox 4">
            <a:extLst>
              <a:ext uri="{FF2B5EF4-FFF2-40B4-BE49-F238E27FC236}">
                <a16:creationId xmlns:a16="http://schemas.microsoft.com/office/drawing/2014/main" id="{51679F1A-9002-5311-75FE-E50A1AB6641E}"/>
              </a:ext>
            </a:extLst>
          </p:cNvPr>
          <p:cNvSpPr txBox="1"/>
          <p:nvPr/>
        </p:nvSpPr>
        <p:spPr>
          <a:xfrm>
            <a:off x="4996587" y="2054015"/>
            <a:ext cx="2198826" cy="369332"/>
          </a:xfrm>
          <a:prstGeom prst="rect">
            <a:avLst/>
          </a:prstGeom>
          <a:noFill/>
        </p:spPr>
        <p:txBody>
          <a:bodyPr wrap="square" rtlCol="0">
            <a:spAutoFit/>
          </a:bodyPr>
          <a:lstStyle/>
          <a:p>
            <a:r>
              <a:rPr lang="en-US" b="1"/>
              <a:t>‘default’ max dose</a:t>
            </a:r>
          </a:p>
        </p:txBody>
      </p:sp>
      <p:sp>
        <p:nvSpPr>
          <p:cNvPr id="6" name="Right Brace 5">
            <a:extLst>
              <a:ext uri="{FF2B5EF4-FFF2-40B4-BE49-F238E27FC236}">
                <a16:creationId xmlns:a16="http://schemas.microsoft.com/office/drawing/2014/main" id="{EC9F9E5C-99F6-C347-F220-E5289F35488F}"/>
              </a:ext>
            </a:extLst>
          </p:cNvPr>
          <p:cNvSpPr/>
          <p:nvPr/>
        </p:nvSpPr>
        <p:spPr>
          <a:xfrm rot="5400000">
            <a:off x="9540106" y="1224936"/>
            <a:ext cx="262270" cy="219882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D3638CC9-CBF0-0327-7B82-E58484D51A96}"/>
              </a:ext>
            </a:extLst>
          </p:cNvPr>
          <p:cNvSpPr/>
          <p:nvPr/>
        </p:nvSpPr>
        <p:spPr>
          <a:xfrm rot="5400000">
            <a:off x="2376948" y="1024354"/>
            <a:ext cx="262270" cy="242865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9473EEEC-9F78-3B3A-0C00-56CD67B1F119}"/>
              </a:ext>
            </a:extLst>
          </p:cNvPr>
          <p:cNvSpPr txBox="1"/>
          <p:nvPr/>
        </p:nvSpPr>
        <p:spPr>
          <a:xfrm>
            <a:off x="1164336" y="1669821"/>
            <a:ext cx="2077685" cy="369332"/>
          </a:xfrm>
          <a:prstGeom prst="rect">
            <a:avLst/>
          </a:prstGeom>
          <a:noFill/>
        </p:spPr>
        <p:txBody>
          <a:bodyPr wrap="none" rtlCol="0">
            <a:spAutoFit/>
          </a:bodyPr>
          <a:lstStyle/>
          <a:p>
            <a:r>
              <a:rPr lang="en-US" b="1">
                <a:solidFill>
                  <a:schemeClr val="bg1"/>
                </a:solidFill>
              </a:rPr>
              <a:t>Fraction of NOAEL</a:t>
            </a:r>
          </a:p>
        </p:txBody>
      </p:sp>
      <p:sp>
        <p:nvSpPr>
          <p:cNvPr id="9" name="TextBox 8">
            <a:extLst>
              <a:ext uri="{FF2B5EF4-FFF2-40B4-BE49-F238E27FC236}">
                <a16:creationId xmlns:a16="http://schemas.microsoft.com/office/drawing/2014/main" id="{8740549D-3C8E-1457-91B6-6EB0CA46DE0B}"/>
              </a:ext>
            </a:extLst>
          </p:cNvPr>
          <p:cNvSpPr txBox="1"/>
          <p:nvPr/>
        </p:nvSpPr>
        <p:spPr>
          <a:xfrm>
            <a:off x="5329433" y="1665369"/>
            <a:ext cx="1388201" cy="400110"/>
          </a:xfrm>
          <a:prstGeom prst="rect">
            <a:avLst/>
          </a:prstGeom>
          <a:noFill/>
        </p:spPr>
        <p:txBody>
          <a:bodyPr wrap="none" rtlCol="0">
            <a:spAutoFit/>
          </a:bodyPr>
          <a:lstStyle/>
          <a:p>
            <a:r>
              <a:rPr lang="en-US" sz="2000" b="1"/>
              <a:t>1X NOAEL</a:t>
            </a:r>
          </a:p>
        </p:txBody>
      </p:sp>
      <p:sp>
        <p:nvSpPr>
          <p:cNvPr id="10" name="TextBox 9">
            <a:extLst>
              <a:ext uri="{FF2B5EF4-FFF2-40B4-BE49-F238E27FC236}">
                <a16:creationId xmlns:a16="http://schemas.microsoft.com/office/drawing/2014/main" id="{75897D3D-5031-96FC-EA87-1C061EAE50C5}"/>
              </a:ext>
            </a:extLst>
          </p:cNvPr>
          <p:cNvSpPr txBox="1"/>
          <p:nvPr/>
        </p:nvSpPr>
        <p:spPr>
          <a:xfrm>
            <a:off x="10123287" y="1665369"/>
            <a:ext cx="857607" cy="369332"/>
          </a:xfrm>
          <a:prstGeom prst="rect">
            <a:avLst/>
          </a:prstGeom>
          <a:noFill/>
        </p:spPr>
        <p:txBody>
          <a:bodyPr wrap="none" rtlCol="0">
            <a:spAutoFit/>
          </a:bodyPr>
          <a:lstStyle/>
          <a:p>
            <a:r>
              <a:rPr lang="en-US" b="1"/>
              <a:t>LOAEL</a:t>
            </a:r>
          </a:p>
        </p:txBody>
      </p:sp>
      <p:sp>
        <p:nvSpPr>
          <p:cNvPr id="11" name="TextBox 10">
            <a:extLst>
              <a:ext uri="{FF2B5EF4-FFF2-40B4-BE49-F238E27FC236}">
                <a16:creationId xmlns:a16="http://schemas.microsoft.com/office/drawing/2014/main" id="{48D54D24-AC70-4F87-9B2B-1F8AC9E0884D}"/>
              </a:ext>
            </a:extLst>
          </p:cNvPr>
          <p:cNvSpPr txBox="1"/>
          <p:nvPr/>
        </p:nvSpPr>
        <p:spPr>
          <a:xfrm>
            <a:off x="1396000" y="377850"/>
            <a:ext cx="9399999" cy="1077218"/>
          </a:xfrm>
          <a:prstGeom prst="rect">
            <a:avLst/>
          </a:prstGeom>
          <a:noFill/>
        </p:spPr>
        <p:txBody>
          <a:bodyPr wrap="square" rtlCol="0">
            <a:spAutoFit/>
          </a:bodyPr>
          <a:lstStyle/>
          <a:p>
            <a:r>
              <a:rPr lang="en-US" sz="3200" b="1"/>
              <a:t>Flexibility in applying safety factors to NOAELs in setting the </a:t>
            </a:r>
            <a:r>
              <a:rPr lang="en-US" sz="3200" b="1" i="1"/>
              <a:t>Maximum</a:t>
            </a:r>
            <a:r>
              <a:rPr lang="en-US" sz="3200" b="1"/>
              <a:t> Human Dose</a:t>
            </a:r>
          </a:p>
        </p:txBody>
      </p:sp>
      <p:sp>
        <p:nvSpPr>
          <p:cNvPr id="13" name="TextBox 12">
            <a:extLst>
              <a:ext uri="{FF2B5EF4-FFF2-40B4-BE49-F238E27FC236}">
                <a16:creationId xmlns:a16="http://schemas.microsoft.com/office/drawing/2014/main" id="{F0501112-CDED-07B5-CA5F-C2F22CBBD058}"/>
              </a:ext>
            </a:extLst>
          </p:cNvPr>
          <p:cNvSpPr txBox="1"/>
          <p:nvPr/>
        </p:nvSpPr>
        <p:spPr>
          <a:xfrm>
            <a:off x="206710" y="2872152"/>
            <a:ext cx="5379297" cy="2831544"/>
          </a:xfrm>
          <a:prstGeom prst="rect">
            <a:avLst/>
          </a:prstGeom>
          <a:noFill/>
          <a:ln>
            <a:noFill/>
          </a:ln>
        </p:spPr>
        <p:txBody>
          <a:bodyPr wrap="square" rtlCol="0">
            <a:spAutoFit/>
          </a:bodyPr>
          <a:lstStyle/>
          <a:p>
            <a:r>
              <a:rPr lang="en-US" b="1"/>
              <a:t>Clinical exposure capped to some fraction of NOAEL</a:t>
            </a:r>
          </a:p>
          <a:p>
            <a:endParaRPr lang="en-US" b="1"/>
          </a:p>
          <a:p>
            <a:pPr marL="285750" indent="-285750">
              <a:buFont typeface="Arial" panose="020B0604020202020204" pitchFamily="34" charset="0"/>
              <a:buChar char="•"/>
            </a:pPr>
            <a:r>
              <a:rPr lang="en-US"/>
              <a:t>Poorly or unmonitorable severe toxicities </a:t>
            </a:r>
            <a:r>
              <a:rPr lang="en-US" sz="1600"/>
              <a:t>(regardless of reversibility)</a:t>
            </a:r>
          </a:p>
          <a:p>
            <a:pPr marL="285750" indent="-285750">
              <a:buFont typeface="Arial" panose="020B0604020202020204" pitchFamily="34" charset="0"/>
              <a:buChar char="•"/>
            </a:pPr>
            <a:r>
              <a:rPr lang="en-US"/>
              <a:t>Severe toxicities/deaths with no premonitory signs or mitigating explanation</a:t>
            </a:r>
          </a:p>
          <a:p>
            <a:pPr marL="285750" indent="-285750">
              <a:buFont typeface="Arial" panose="020B0604020202020204" pitchFamily="34" charset="0"/>
              <a:buChar char="•"/>
            </a:pPr>
            <a:r>
              <a:rPr lang="en-US" b="1" i="1"/>
              <a:t>Absence of mechanistic understanding </a:t>
            </a:r>
            <a:r>
              <a:rPr lang="en-US"/>
              <a:t>and human relevance of toxicity</a:t>
            </a:r>
          </a:p>
          <a:p>
            <a:pPr marL="285750" indent="-285750">
              <a:buFont typeface="Arial" panose="020B0604020202020204" pitchFamily="34" charset="0"/>
              <a:buChar char="•"/>
            </a:pPr>
            <a:endParaRPr lang="en-US"/>
          </a:p>
        </p:txBody>
      </p:sp>
      <p:sp>
        <p:nvSpPr>
          <p:cNvPr id="14" name="Diamond 13">
            <a:extLst>
              <a:ext uri="{FF2B5EF4-FFF2-40B4-BE49-F238E27FC236}">
                <a16:creationId xmlns:a16="http://schemas.microsoft.com/office/drawing/2014/main" id="{EF63D2BA-FDE5-968E-FA42-5868F86A5CF7}"/>
              </a:ext>
            </a:extLst>
          </p:cNvPr>
          <p:cNvSpPr/>
          <p:nvPr/>
        </p:nvSpPr>
        <p:spPr>
          <a:xfrm>
            <a:off x="5918982" y="2757666"/>
            <a:ext cx="101902" cy="2726267"/>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a:extLst>
              <a:ext uri="{FF2B5EF4-FFF2-40B4-BE49-F238E27FC236}">
                <a16:creationId xmlns:a16="http://schemas.microsoft.com/office/drawing/2014/main" id="{B2057B82-5D2B-8EC0-0F2E-6FC2BB3EE2EA}"/>
              </a:ext>
            </a:extLst>
          </p:cNvPr>
          <p:cNvSpPr>
            <a:spLocks noGrp="1"/>
          </p:cNvSpPr>
          <p:nvPr>
            <p:ph type="sldNum" sz="quarter" idx="12"/>
          </p:nvPr>
        </p:nvSpPr>
        <p:spPr/>
        <p:txBody>
          <a:bodyPr/>
          <a:lstStyle/>
          <a:p>
            <a:fld id="{8C9BEE26-CBC9-D24B-B62C-3600B65D4342}" type="slidenum">
              <a:rPr lang="en-US" smtClean="0"/>
              <a:t>89</a:t>
            </a:fld>
            <a:endParaRPr lang="en-US"/>
          </a:p>
        </p:txBody>
      </p:sp>
      <p:sp>
        <p:nvSpPr>
          <p:cNvPr id="2" name="TextBox 1">
            <a:extLst>
              <a:ext uri="{FF2B5EF4-FFF2-40B4-BE49-F238E27FC236}">
                <a16:creationId xmlns:a16="http://schemas.microsoft.com/office/drawing/2014/main" id="{82773A51-63DD-F16F-8614-AE04F682E961}"/>
              </a:ext>
            </a:extLst>
          </p:cNvPr>
          <p:cNvSpPr txBox="1"/>
          <p:nvPr/>
        </p:nvSpPr>
        <p:spPr>
          <a:xfrm>
            <a:off x="6353859" y="2872152"/>
            <a:ext cx="5687609" cy="3139321"/>
          </a:xfrm>
          <a:prstGeom prst="rect">
            <a:avLst/>
          </a:prstGeom>
          <a:noFill/>
        </p:spPr>
        <p:txBody>
          <a:bodyPr wrap="square" rtlCol="0">
            <a:spAutoFit/>
          </a:bodyPr>
          <a:lstStyle/>
          <a:p>
            <a:r>
              <a:rPr lang="en-US" b="1" dirty="0"/>
              <a:t>Clinical exposures allowed to exceed 1x NOAEL</a:t>
            </a:r>
          </a:p>
          <a:p>
            <a:endParaRPr lang="en-US" dirty="0"/>
          </a:p>
          <a:p>
            <a:r>
              <a:rPr lang="en-US" i="1" dirty="0"/>
              <a:t>Toxicities defining LOAEL are</a:t>
            </a:r>
            <a:r>
              <a:rPr lang="en-US" dirty="0"/>
              <a:t>:</a:t>
            </a:r>
          </a:p>
          <a:p>
            <a:pPr marL="285750" indent="-285750">
              <a:buFont typeface="Arial" panose="020B0604020202020204" pitchFamily="34" charset="0"/>
              <a:buChar char="•"/>
            </a:pPr>
            <a:r>
              <a:rPr lang="en-US" dirty="0"/>
              <a:t>Minimal </a:t>
            </a:r>
            <a:r>
              <a:rPr lang="en-US" sz="1400" dirty="0"/>
              <a:t>(histological severity), </a:t>
            </a:r>
            <a:r>
              <a:rPr lang="en-US" sz="1600" b="1" dirty="0"/>
              <a:t>AND</a:t>
            </a:r>
          </a:p>
          <a:p>
            <a:pPr marL="285750" indent="-285750">
              <a:buFont typeface="Arial" panose="020B0604020202020204" pitchFamily="34" charset="0"/>
              <a:buChar char="•"/>
            </a:pPr>
            <a:r>
              <a:rPr lang="en-US" dirty="0"/>
              <a:t>Monitorable, </a:t>
            </a:r>
            <a:r>
              <a:rPr lang="en-US" sz="1600" b="1" dirty="0"/>
              <a:t>AND</a:t>
            </a:r>
          </a:p>
          <a:p>
            <a:pPr marL="285750" indent="-285750">
              <a:buFont typeface="Arial" panose="020B0604020202020204" pitchFamily="34" charset="0"/>
              <a:buChar char="•"/>
            </a:pPr>
            <a:r>
              <a:rPr lang="en-US" dirty="0"/>
              <a:t>Reversible, </a:t>
            </a:r>
            <a:r>
              <a:rPr lang="en-US" b="1" dirty="0"/>
              <a:t>OR</a:t>
            </a:r>
          </a:p>
          <a:p>
            <a:pPr marL="285750" indent="-285750">
              <a:buFont typeface="Arial" panose="020B0604020202020204" pitchFamily="34" charset="0"/>
              <a:buChar char="•"/>
            </a:pPr>
            <a:r>
              <a:rPr lang="en-US" dirty="0"/>
              <a:t>Of limited translational value (e.g., species-specific, </a:t>
            </a:r>
            <a:r>
              <a:rPr lang="en-US" dirty="0" err="1"/>
              <a:t>etc</a:t>
            </a:r>
            <a:r>
              <a:rPr lang="en-US" dirty="0"/>
              <a:t>)</a:t>
            </a:r>
          </a:p>
          <a:p>
            <a:endParaRPr lang="en-US" dirty="0"/>
          </a:p>
          <a:p>
            <a:r>
              <a:rPr lang="en-US" dirty="0"/>
              <a:t>Supplemented with:</a:t>
            </a:r>
          </a:p>
          <a:p>
            <a:r>
              <a:rPr lang="en-US" b="1" i="1" dirty="0"/>
              <a:t>Mechanistic understanding</a:t>
            </a:r>
            <a:r>
              <a:rPr lang="en-US" i="1" dirty="0"/>
              <a:t>/ precedent with drug class</a:t>
            </a:r>
          </a:p>
        </p:txBody>
      </p:sp>
    </p:spTree>
    <p:extLst>
      <p:ext uri="{BB962C8B-B14F-4D97-AF65-F5344CB8AC3E}">
        <p14:creationId xmlns:p14="http://schemas.microsoft.com/office/powerpoint/2010/main" val="40978343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455C6-56B0-F224-7295-082D32F74C6A}"/>
              </a:ext>
            </a:extLst>
          </p:cNvPr>
          <p:cNvSpPr>
            <a:spLocks noGrp="1"/>
          </p:cNvSpPr>
          <p:nvPr>
            <p:ph type="title"/>
          </p:nvPr>
        </p:nvSpPr>
        <p:spPr>
          <a:xfrm>
            <a:off x="996820" y="293614"/>
            <a:ext cx="8997787" cy="1325563"/>
          </a:xfrm>
        </p:spPr>
        <p:txBody>
          <a:bodyPr>
            <a:normAutofit/>
          </a:bodyPr>
          <a:lstStyle/>
          <a:p>
            <a:r>
              <a:rPr lang="en-US" sz="3600"/>
              <a:t>Relation of the efficacious clinical dose to the nonclinical NOAEL</a:t>
            </a:r>
          </a:p>
        </p:txBody>
      </p:sp>
      <p:sp>
        <p:nvSpPr>
          <p:cNvPr id="4" name="TextBox 3">
            <a:extLst>
              <a:ext uri="{FF2B5EF4-FFF2-40B4-BE49-F238E27FC236}">
                <a16:creationId xmlns:a16="http://schemas.microsoft.com/office/drawing/2014/main" id="{5A5DC2C7-4A66-007E-8A58-D15C43CF5FDD}"/>
              </a:ext>
            </a:extLst>
          </p:cNvPr>
          <p:cNvSpPr txBox="1"/>
          <p:nvPr/>
        </p:nvSpPr>
        <p:spPr>
          <a:xfrm>
            <a:off x="670680" y="2075255"/>
            <a:ext cx="6128254" cy="1384995"/>
          </a:xfrm>
          <a:prstGeom prst="rect">
            <a:avLst/>
          </a:prstGeom>
          <a:noFill/>
        </p:spPr>
        <p:txBody>
          <a:bodyPr wrap="square" rtlCol="0">
            <a:spAutoFit/>
          </a:bodyPr>
          <a:lstStyle/>
          <a:p>
            <a:r>
              <a:rPr lang="en-US" sz="2400"/>
              <a:t>Clinical doses investigated in pediatric trials must offer prospect of benefit</a:t>
            </a:r>
          </a:p>
          <a:p>
            <a:pPr marL="285750" indent="-285750">
              <a:buFont typeface="Arial" panose="020B0604020202020204" pitchFamily="34" charset="0"/>
              <a:buChar char="•"/>
            </a:pPr>
            <a:r>
              <a:rPr lang="en-US"/>
              <a:t>(e.g., ‘going low and slow’ is generally not an acceptable approach)</a:t>
            </a:r>
          </a:p>
        </p:txBody>
      </p:sp>
      <p:sp>
        <p:nvSpPr>
          <p:cNvPr id="6" name="TextBox 5">
            <a:extLst>
              <a:ext uri="{FF2B5EF4-FFF2-40B4-BE49-F238E27FC236}">
                <a16:creationId xmlns:a16="http://schemas.microsoft.com/office/drawing/2014/main" id="{C937B685-1C88-576A-80C3-C96AACE588DC}"/>
              </a:ext>
            </a:extLst>
          </p:cNvPr>
          <p:cNvSpPr txBox="1"/>
          <p:nvPr/>
        </p:nvSpPr>
        <p:spPr>
          <a:xfrm>
            <a:off x="640093" y="4060427"/>
            <a:ext cx="6180219" cy="1200329"/>
          </a:xfrm>
          <a:prstGeom prst="rect">
            <a:avLst/>
          </a:prstGeom>
          <a:noFill/>
        </p:spPr>
        <p:txBody>
          <a:bodyPr wrap="square" rtlCol="0">
            <a:spAutoFit/>
          </a:bodyPr>
          <a:lstStyle/>
          <a:p>
            <a:r>
              <a:rPr lang="en-US" sz="2400"/>
              <a:t>Viability of pediatric program in part depends where the anticipated efficacious clinical dose is situated with the nonclinical NOAEL</a:t>
            </a:r>
          </a:p>
        </p:txBody>
      </p:sp>
      <p:grpSp>
        <p:nvGrpSpPr>
          <p:cNvPr id="7" name="Group 6">
            <a:extLst>
              <a:ext uri="{FF2B5EF4-FFF2-40B4-BE49-F238E27FC236}">
                <a16:creationId xmlns:a16="http://schemas.microsoft.com/office/drawing/2014/main" id="{5748860F-C45B-D4C2-D4B8-C4DA96898561}"/>
              </a:ext>
            </a:extLst>
          </p:cNvPr>
          <p:cNvGrpSpPr/>
          <p:nvPr/>
        </p:nvGrpSpPr>
        <p:grpSpPr>
          <a:xfrm>
            <a:off x="7199875" y="1450234"/>
            <a:ext cx="4153925" cy="4630271"/>
            <a:chOff x="5659121" y="619810"/>
            <a:chExt cx="4153925" cy="4630271"/>
          </a:xfrm>
        </p:grpSpPr>
        <p:sp>
          <p:nvSpPr>
            <p:cNvPr id="8" name="object 2">
              <a:extLst>
                <a:ext uri="{FF2B5EF4-FFF2-40B4-BE49-F238E27FC236}">
                  <a16:creationId xmlns:a16="http://schemas.microsoft.com/office/drawing/2014/main" id="{89506BEA-DF74-BAE0-7CB8-AD469880BBC5}"/>
                </a:ext>
              </a:extLst>
            </p:cNvPr>
            <p:cNvSpPr txBox="1"/>
            <p:nvPr/>
          </p:nvSpPr>
          <p:spPr>
            <a:xfrm>
              <a:off x="6180830" y="4790238"/>
              <a:ext cx="162239" cy="227626"/>
            </a:xfrm>
            <a:prstGeom prst="rect">
              <a:avLst/>
            </a:prstGeom>
          </p:spPr>
          <p:txBody>
            <a:bodyPr vert="horz" wrap="square" lIns="0" tIns="12065" rIns="0" bIns="0" rtlCol="0">
              <a:spAutoFit/>
            </a:bodyPr>
            <a:lstStyle/>
            <a:p>
              <a:pPr marL="12700">
                <a:lnSpc>
                  <a:spcPct val="100000"/>
                </a:lnSpc>
                <a:spcBef>
                  <a:spcPts val="95"/>
                </a:spcBef>
              </a:pPr>
              <a:r>
                <a:rPr sz="1400" spc="-25">
                  <a:solidFill>
                    <a:srgbClr val="191919"/>
                  </a:solidFill>
                  <a:cs typeface="Arial"/>
                </a:rPr>
                <a:t>1</a:t>
              </a:r>
              <a:endParaRPr sz="1400">
                <a:cs typeface="Arial"/>
              </a:endParaRPr>
            </a:p>
          </p:txBody>
        </p:sp>
        <p:grpSp>
          <p:nvGrpSpPr>
            <p:cNvPr id="9" name="object 4">
              <a:extLst>
                <a:ext uri="{FF2B5EF4-FFF2-40B4-BE49-F238E27FC236}">
                  <a16:creationId xmlns:a16="http://schemas.microsoft.com/office/drawing/2014/main" id="{3646E0D9-519E-528D-BF7F-2BD2B2E7C8E7}"/>
                </a:ext>
              </a:extLst>
            </p:cNvPr>
            <p:cNvGrpSpPr/>
            <p:nvPr/>
          </p:nvGrpSpPr>
          <p:grpSpPr>
            <a:xfrm>
              <a:off x="7643699" y="1289031"/>
              <a:ext cx="1437318" cy="3454371"/>
              <a:chOff x="2982555" y="318214"/>
              <a:chExt cx="2372360" cy="4233545"/>
            </a:xfrm>
          </p:grpSpPr>
          <p:sp>
            <p:nvSpPr>
              <p:cNvPr id="41" name="object 5">
                <a:extLst>
                  <a:ext uri="{FF2B5EF4-FFF2-40B4-BE49-F238E27FC236}">
                    <a16:creationId xmlns:a16="http://schemas.microsoft.com/office/drawing/2014/main" id="{D78439B0-8D44-FFAF-7D1D-F1B7FFA37FAC}"/>
                  </a:ext>
                </a:extLst>
              </p:cNvPr>
              <p:cNvSpPr/>
              <p:nvPr/>
            </p:nvSpPr>
            <p:spPr>
              <a:xfrm>
                <a:off x="2987635" y="322024"/>
                <a:ext cx="0" cy="4224655"/>
              </a:xfrm>
              <a:custGeom>
                <a:avLst/>
                <a:gdLst/>
                <a:ahLst/>
                <a:cxnLst/>
                <a:rect l="l" t="t" r="r" b="b"/>
                <a:pathLst>
                  <a:path h="4224655">
                    <a:moveTo>
                      <a:pt x="0" y="4224528"/>
                    </a:moveTo>
                    <a:lnTo>
                      <a:pt x="0" y="0"/>
                    </a:lnTo>
                  </a:path>
                </a:pathLst>
              </a:custGeom>
              <a:ln w="7620">
                <a:solidFill>
                  <a:srgbClr val="AFAFAF"/>
                </a:solidFill>
                <a:prstDash val="sysDash"/>
              </a:ln>
            </p:spPr>
            <p:txBody>
              <a:bodyPr wrap="square" lIns="0" tIns="0" rIns="0" bIns="0" rtlCol="0"/>
              <a:lstStyle/>
              <a:p>
                <a:endParaRPr/>
              </a:p>
            </p:txBody>
          </p:sp>
          <p:sp>
            <p:nvSpPr>
              <p:cNvPr id="42" name="object 6">
                <a:extLst>
                  <a:ext uri="{FF2B5EF4-FFF2-40B4-BE49-F238E27FC236}">
                    <a16:creationId xmlns:a16="http://schemas.microsoft.com/office/drawing/2014/main" id="{0EBC83FD-C10A-FE4E-CB08-0BDD899F487B}"/>
                  </a:ext>
                </a:extLst>
              </p:cNvPr>
              <p:cNvSpPr/>
              <p:nvPr/>
            </p:nvSpPr>
            <p:spPr>
              <a:xfrm>
                <a:off x="2987635" y="4502102"/>
                <a:ext cx="0" cy="44450"/>
              </a:xfrm>
              <a:custGeom>
                <a:avLst/>
                <a:gdLst/>
                <a:ahLst/>
                <a:cxnLst/>
                <a:rect l="l" t="t" r="r" b="b"/>
                <a:pathLst>
                  <a:path h="44450">
                    <a:moveTo>
                      <a:pt x="0" y="0"/>
                    </a:moveTo>
                    <a:lnTo>
                      <a:pt x="0" y="44449"/>
                    </a:lnTo>
                  </a:path>
                </a:pathLst>
              </a:custGeom>
              <a:solidFill>
                <a:srgbClr val="191919"/>
              </a:solidFill>
            </p:spPr>
            <p:txBody>
              <a:bodyPr wrap="square" lIns="0" tIns="0" rIns="0" bIns="0" rtlCol="0"/>
              <a:lstStyle/>
              <a:p>
                <a:endParaRPr/>
              </a:p>
            </p:txBody>
          </p:sp>
          <p:sp>
            <p:nvSpPr>
              <p:cNvPr id="43" name="object 7">
                <a:extLst>
                  <a:ext uri="{FF2B5EF4-FFF2-40B4-BE49-F238E27FC236}">
                    <a16:creationId xmlns:a16="http://schemas.microsoft.com/office/drawing/2014/main" id="{F49FC8B6-710F-656A-2780-4547B1E940C6}"/>
                  </a:ext>
                </a:extLst>
              </p:cNvPr>
              <p:cNvSpPr/>
              <p:nvPr/>
            </p:nvSpPr>
            <p:spPr>
              <a:xfrm>
                <a:off x="2987635" y="4502102"/>
                <a:ext cx="0" cy="44450"/>
              </a:xfrm>
              <a:custGeom>
                <a:avLst/>
                <a:gdLst/>
                <a:ahLst/>
                <a:cxnLst/>
                <a:rect l="l" t="t" r="r" b="b"/>
                <a:pathLst>
                  <a:path h="44450">
                    <a:moveTo>
                      <a:pt x="0" y="44449"/>
                    </a:moveTo>
                    <a:lnTo>
                      <a:pt x="0" y="0"/>
                    </a:lnTo>
                  </a:path>
                </a:pathLst>
              </a:custGeom>
              <a:ln w="10160">
                <a:solidFill>
                  <a:srgbClr val="191919"/>
                </a:solidFill>
              </a:ln>
            </p:spPr>
            <p:txBody>
              <a:bodyPr wrap="square" lIns="0" tIns="0" rIns="0" bIns="0" rtlCol="0"/>
              <a:lstStyle/>
              <a:p>
                <a:endParaRPr/>
              </a:p>
            </p:txBody>
          </p:sp>
          <p:sp>
            <p:nvSpPr>
              <p:cNvPr id="44" name="object 8">
                <a:extLst>
                  <a:ext uri="{FF2B5EF4-FFF2-40B4-BE49-F238E27FC236}">
                    <a16:creationId xmlns:a16="http://schemas.microsoft.com/office/drawing/2014/main" id="{A26A5D14-A85F-EB80-DEAA-9EE1E43AB2CB}"/>
                  </a:ext>
                </a:extLst>
              </p:cNvPr>
              <p:cNvSpPr/>
              <p:nvPr/>
            </p:nvSpPr>
            <p:spPr>
              <a:xfrm>
                <a:off x="5349835" y="322024"/>
                <a:ext cx="0" cy="4224655"/>
              </a:xfrm>
              <a:custGeom>
                <a:avLst/>
                <a:gdLst/>
                <a:ahLst/>
                <a:cxnLst/>
                <a:rect l="l" t="t" r="r" b="b"/>
                <a:pathLst>
                  <a:path h="4224655">
                    <a:moveTo>
                      <a:pt x="0" y="4224528"/>
                    </a:moveTo>
                    <a:lnTo>
                      <a:pt x="0" y="0"/>
                    </a:lnTo>
                  </a:path>
                </a:pathLst>
              </a:custGeom>
              <a:ln w="7620">
                <a:solidFill>
                  <a:srgbClr val="AFAFAF"/>
                </a:solidFill>
                <a:prstDash val="sysDash"/>
              </a:ln>
            </p:spPr>
            <p:txBody>
              <a:bodyPr wrap="square" lIns="0" tIns="0" rIns="0" bIns="0" rtlCol="0"/>
              <a:lstStyle/>
              <a:p>
                <a:endParaRPr/>
              </a:p>
            </p:txBody>
          </p:sp>
          <p:sp>
            <p:nvSpPr>
              <p:cNvPr id="45" name="object 9">
                <a:extLst>
                  <a:ext uri="{FF2B5EF4-FFF2-40B4-BE49-F238E27FC236}">
                    <a16:creationId xmlns:a16="http://schemas.microsoft.com/office/drawing/2014/main" id="{8FA1F1BF-C5D2-4E11-3388-2B6CC8BEACA5}"/>
                  </a:ext>
                </a:extLst>
              </p:cNvPr>
              <p:cNvSpPr/>
              <p:nvPr/>
            </p:nvSpPr>
            <p:spPr>
              <a:xfrm>
                <a:off x="5349835" y="4502102"/>
                <a:ext cx="0" cy="44450"/>
              </a:xfrm>
              <a:custGeom>
                <a:avLst/>
                <a:gdLst/>
                <a:ahLst/>
                <a:cxnLst/>
                <a:rect l="l" t="t" r="r" b="b"/>
                <a:pathLst>
                  <a:path h="44450">
                    <a:moveTo>
                      <a:pt x="0" y="0"/>
                    </a:moveTo>
                    <a:lnTo>
                      <a:pt x="0" y="44449"/>
                    </a:lnTo>
                  </a:path>
                </a:pathLst>
              </a:custGeom>
              <a:solidFill>
                <a:srgbClr val="191919"/>
              </a:solidFill>
            </p:spPr>
            <p:txBody>
              <a:bodyPr wrap="square" lIns="0" tIns="0" rIns="0" bIns="0" rtlCol="0"/>
              <a:lstStyle/>
              <a:p>
                <a:endParaRPr/>
              </a:p>
            </p:txBody>
          </p:sp>
          <p:sp>
            <p:nvSpPr>
              <p:cNvPr id="46" name="object 10">
                <a:extLst>
                  <a:ext uri="{FF2B5EF4-FFF2-40B4-BE49-F238E27FC236}">
                    <a16:creationId xmlns:a16="http://schemas.microsoft.com/office/drawing/2014/main" id="{2A5C99B5-D1AA-D7B6-BACC-458591E6AE69}"/>
                  </a:ext>
                </a:extLst>
              </p:cNvPr>
              <p:cNvSpPr/>
              <p:nvPr/>
            </p:nvSpPr>
            <p:spPr>
              <a:xfrm>
                <a:off x="5349835" y="4502102"/>
                <a:ext cx="0" cy="44450"/>
              </a:xfrm>
              <a:custGeom>
                <a:avLst/>
                <a:gdLst/>
                <a:ahLst/>
                <a:cxnLst/>
                <a:rect l="l" t="t" r="r" b="b"/>
                <a:pathLst>
                  <a:path h="44450">
                    <a:moveTo>
                      <a:pt x="0" y="44449"/>
                    </a:moveTo>
                    <a:lnTo>
                      <a:pt x="0" y="0"/>
                    </a:lnTo>
                  </a:path>
                </a:pathLst>
              </a:custGeom>
              <a:ln w="10160">
                <a:solidFill>
                  <a:srgbClr val="191919"/>
                </a:solidFill>
              </a:ln>
            </p:spPr>
            <p:txBody>
              <a:bodyPr wrap="square" lIns="0" tIns="0" rIns="0" bIns="0" rtlCol="0"/>
              <a:lstStyle/>
              <a:p>
                <a:endParaRPr/>
              </a:p>
            </p:txBody>
          </p:sp>
        </p:grpSp>
        <p:sp>
          <p:nvSpPr>
            <p:cNvPr id="10" name="object 67">
              <a:extLst>
                <a:ext uri="{FF2B5EF4-FFF2-40B4-BE49-F238E27FC236}">
                  <a16:creationId xmlns:a16="http://schemas.microsoft.com/office/drawing/2014/main" id="{B61C0F2B-31DA-3B5C-DE98-3DF19DC34D98}"/>
                </a:ext>
              </a:extLst>
            </p:cNvPr>
            <p:cNvSpPr txBox="1"/>
            <p:nvPr/>
          </p:nvSpPr>
          <p:spPr>
            <a:xfrm>
              <a:off x="7040400" y="5030149"/>
              <a:ext cx="1500246" cy="219932"/>
            </a:xfrm>
            <a:prstGeom prst="rect">
              <a:avLst/>
            </a:prstGeom>
          </p:spPr>
          <p:txBody>
            <a:bodyPr vert="horz" wrap="square" lIns="0" tIns="12065" rIns="0" bIns="0" rtlCol="0">
              <a:spAutoFit/>
            </a:bodyPr>
            <a:lstStyle/>
            <a:p>
              <a:pPr marL="12700">
                <a:lnSpc>
                  <a:spcPct val="100000"/>
                </a:lnSpc>
                <a:spcBef>
                  <a:spcPts val="95"/>
                </a:spcBef>
              </a:pPr>
              <a:r>
                <a:rPr sz="1350" spc="-20">
                  <a:solidFill>
                    <a:srgbClr val="191919"/>
                  </a:solidFill>
                  <a:latin typeface="Arial"/>
                  <a:cs typeface="Arial"/>
                </a:rPr>
                <a:t>Dose</a:t>
              </a:r>
              <a:r>
                <a:rPr lang="en-US" sz="1350" spc="-20">
                  <a:solidFill>
                    <a:srgbClr val="191919"/>
                  </a:solidFill>
                  <a:latin typeface="Arial"/>
                  <a:cs typeface="Arial"/>
                </a:rPr>
                <a:t> </a:t>
              </a:r>
              <a:r>
                <a:rPr sz="1350">
                  <a:solidFill>
                    <a:srgbClr val="191919"/>
                  </a:solidFill>
                  <a:latin typeface="Arial"/>
                  <a:cs typeface="Arial"/>
                </a:rPr>
                <a:t>or</a:t>
              </a:r>
              <a:r>
                <a:rPr sz="1350" spc="30">
                  <a:solidFill>
                    <a:srgbClr val="191919"/>
                  </a:solidFill>
                  <a:latin typeface="Arial"/>
                  <a:cs typeface="Arial"/>
                </a:rPr>
                <a:t> </a:t>
              </a:r>
              <a:r>
                <a:rPr sz="1350" spc="-10">
                  <a:solidFill>
                    <a:srgbClr val="191919"/>
                  </a:solidFill>
                  <a:latin typeface="Arial"/>
                  <a:cs typeface="Arial"/>
                </a:rPr>
                <a:t>Exposure</a:t>
              </a:r>
              <a:endParaRPr sz="1350">
                <a:latin typeface="Arial"/>
                <a:cs typeface="Arial"/>
              </a:endParaRPr>
            </a:p>
          </p:txBody>
        </p:sp>
        <p:sp>
          <p:nvSpPr>
            <p:cNvPr id="11" name="object 70">
              <a:extLst>
                <a:ext uri="{FF2B5EF4-FFF2-40B4-BE49-F238E27FC236}">
                  <a16:creationId xmlns:a16="http://schemas.microsoft.com/office/drawing/2014/main" id="{08E51CF7-BCA6-174C-4531-1DD42DBD30DF}"/>
                </a:ext>
              </a:extLst>
            </p:cNvPr>
            <p:cNvSpPr/>
            <p:nvPr/>
          </p:nvSpPr>
          <p:spPr>
            <a:xfrm flipV="1">
              <a:off x="6199841" y="3996704"/>
              <a:ext cx="2849683" cy="45719"/>
            </a:xfrm>
            <a:custGeom>
              <a:avLst/>
              <a:gdLst/>
              <a:ahLst/>
              <a:cxnLst/>
              <a:rect l="l" t="t" r="r" b="b"/>
              <a:pathLst>
                <a:path w="7086600">
                  <a:moveTo>
                    <a:pt x="0" y="0"/>
                  </a:moveTo>
                  <a:lnTo>
                    <a:pt x="1088955" y="0"/>
                  </a:lnTo>
                </a:path>
                <a:path w="7086600">
                  <a:moveTo>
                    <a:pt x="1165155" y="0"/>
                  </a:moveTo>
                  <a:lnTo>
                    <a:pt x="1800048" y="0"/>
                  </a:lnTo>
                </a:path>
                <a:path w="7086600">
                  <a:moveTo>
                    <a:pt x="1876248" y="0"/>
                  </a:moveTo>
                  <a:lnTo>
                    <a:pt x="7086600" y="0"/>
                  </a:lnTo>
                </a:path>
              </a:pathLst>
            </a:custGeom>
            <a:ln w="7619">
              <a:solidFill>
                <a:srgbClr val="AFAFAF"/>
              </a:solidFill>
              <a:prstDash val="sysDash"/>
            </a:ln>
          </p:spPr>
          <p:txBody>
            <a:bodyPr wrap="square" lIns="0" tIns="0" rIns="0" bIns="0" rtlCol="0"/>
            <a:lstStyle/>
            <a:p>
              <a:endParaRPr/>
            </a:p>
          </p:txBody>
        </p:sp>
        <p:sp>
          <p:nvSpPr>
            <p:cNvPr id="12" name="object 71">
              <a:extLst>
                <a:ext uri="{FF2B5EF4-FFF2-40B4-BE49-F238E27FC236}">
                  <a16:creationId xmlns:a16="http://schemas.microsoft.com/office/drawing/2014/main" id="{499D8B49-9F3F-7214-AEF2-23166F32830B}"/>
                </a:ext>
              </a:extLst>
            </p:cNvPr>
            <p:cNvSpPr/>
            <p:nvPr/>
          </p:nvSpPr>
          <p:spPr>
            <a:xfrm>
              <a:off x="6199841" y="4042423"/>
              <a:ext cx="26930" cy="0"/>
            </a:xfrm>
            <a:custGeom>
              <a:avLst/>
              <a:gdLst/>
              <a:ahLst/>
              <a:cxnLst/>
              <a:rect l="l" t="t" r="r" b="b"/>
              <a:pathLst>
                <a:path w="44450">
                  <a:moveTo>
                    <a:pt x="44450" y="0"/>
                  </a:moveTo>
                  <a:lnTo>
                    <a:pt x="0" y="0"/>
                  </a:lnTo>
                </a:path>
              </a:pathLst>
            </a:custGeom>
            <a:solidFill>
              <a:srgbClr val="191919"/>
            </a:solidFill>
          </p:spPr>
          <p:txBody>
            <a:bodyPr wrap="square" lIns="0" tIns="0" rIns="0" bIns="0" rtlCol="0"/>
            <a:lstStyle/>
            <a:p>
              <a:endParaRPr/>
            </a:p>
          </p:txBody>
        </p:sp>
        <p:sp>
          <p:nvSpPr>
            <p:cNvPr id="13" name="object 72">
              <a:extLst>
                <a:ext uri="{FF2B5EF4-FFF2-40B4-BE49-F238E27FC236}">
                  <a16:creationId xmlns:a16="http://schemas.microsoft.com/office/drawing/2014/main" id="{FCDD403E-A945-F7B1-1FAA-0734BCAB79B6}"/>
                </a:ext>
              </a:extLst>
            </p:cNvPr>
            <p:cNvSpPr/>
            <p:nvPr/>
          </p:nvSpPr>
          <p:spPr>
            <a:xfrm>
              <a:off x="6199841" y="4042423"/>
              <a:ext cx="26930" cy="0"/>
            </a:xfrm>
            <a:custGeom>
              <a:avLst/>
              <a:gdLst/>
              <a:ahLst/>
              <a:cxnLst/>
              <a:rect l="l" t="t" r="r" b="b"/>
              <a:pathLst>
                <a:path w="44450">
                  <a:moveTo>
                    <a:pt x="0" y="0"/>
                  </a:moveTo>
                  <a:lnTo>
                    <a:pt x="44450" y="0"/>
                  </a:lnTo>
                </a:path>
              </a:pathLst>
            </a:custGeom>
            <a:ln w="10160">
              <a:solidFill>
                <a:srgbClr val="191919"/>
              </a:solidFill>
            </a:ln>
          </p:spPr>
          <p:txBody>
            <a:bodyPr wrap="square" lIns="0" tIns="0" rIns="0" bIns="0" rtlCol="0"/>
            <a:lstStyle/>
            <a:p>
              <a:endParaRPr/>
            </a:p>
          </p:txBody>
        </p:sp>
        <p:sp>
          <p:nvSpPr>
            <p:cNvPr id="14" name="object 73">
              <a:extLst>
                <a:ext uri="{FF2B5EF4-FFF2-40B4-BE49-F238E27FC236}">
                  <a16:creationId xmlns:a16="http://schemas.microsoft.com/office/drawing/2014/main" id="{BB10B569-E16E-B548-2747-717AFC329E24}"/>
                </a:ext>
              </a:extLst>
            </p:cNvPr>
            <p:cNvSpPr/>
            <p:nvPr/>
          </p:nvSpPr>
          <p:spPr>
            <a:xfrm>
              <a:off x="6199841" y="3353019"/>
              <a:ext cx="2849683" cy="45719"/>
            </a:xfrm>
            <a:custGeom>
              <a:avLst/>
              <a:gdLst/>
              <a:ahLst/>
              <a:cxnLst/>
              <a:rect l="l" t="t" r="r" b="b"/>
              <a:pathLst>
                <a:path w="7086600">
                  <a:moveTo>
                    <a:pt x="0" y="0"/>
                  </a:moveTo>
                  <a:lnTo>
                    <a:pt x="1088955" y="0"/>
                  </a:lnTo>
                </a:path>
                <a:path w="7086600">
                  <a:moveTo>
                    <a:pt x="1165155" y="0"/>
                  </a:moveTo>
                  <a:lnTo>
                    <a:pt x="1800048" y="0"/>
                  </a:lnTo>
                </a:path>
                <a:path w="7086600">
                  <a:moveTo>
                    <a:pt x="1876248" y="0"/>
                  </a:moveTo>
                  <a:lnTo>
                    <a:pt x="7086600" y="0"/>
                  </a:lnTo>
                </a:path>
              </a:pathLst>
            </a:custGeom>
            <a:ln w="7620">
              <a:solidFill>
                <a:srgbClr val="AFAFAF"/>
              </a:solidFill>
              <a:prstDash val="sysDash"/>
            </a:ln>
          </p:spPr>
          <p:txBody>
            <a:bodyPr wrap="square" lIns="0" tIns="0" rIns="0" bIns="0" rtlCol="0"/>
            <a:lstStyle/>
            <a:p>
              <a:endParaRPr/>
            </a:p>
          </p:txBody>
        </p:sp>
        <p:sp>
          <p:nvSpPr>
            <p:cNvPr id="15" name="object 74">
              <a:extLst>
                <a:ext uri="{FF2B5EF4-FFF2-40B4-BE49-F238E27FC236}">
                  <a16:creationId xmlns:a16="http://schemas.microsoft.com/office/drawing/2014/main" id="{2D9B58E8-84C2-E87E-E0C2-DF01E6263602}"/>
                </a:ext>
              </a:extLst>
            </p:cNvPr>
            <p:cNvSpPr/>
            <p:nvPr/>
          </p:nvSpPr>
          <p:spPr>
            <a:xfrm>
              <a:off x="6199841" y="3353020"/>
              <a:ext cx="26930" cy="0"/>
            </a:xfrm>
            <a:custGeom>
              <a:avLst/>
              <a:gdLst/>
              <a:ahLst/>
              <a:cxnLst/>
              <a:rect l="l" t="t" r="r" b="b"/>
              <a:pathLst>
                <a:path w="44450">
                  <a:moveTo>
                    <a:pt x="44450" y="0"/>
                  </a:moveTo>
                  <a:lnTo>
                    <a:pt x="0" y="0"/>
                  </a:lnTo>
                </a:path>
              </a:pathLst>
            </a:custGeom>
            <a:solidFill>
              <a:srgbClr val="191919"/>
            </a:solidFill>
          </p:spPr>
          <p:txBody>
            <a:bodyPr wrap="square" lIns="0" tIns="0" rIns="0" bIns="0" rtlCol="0"/>
            <a:lstStyle/>
            <a:p>
              <a:endParaRPr/>
            </a:p>
          </p:txBody>
        </p:sp>
        <p:sp>
          <p:nvSpPr>
            <p:cNvPr id="16" name="object 75">
              <a:extLst>
                <a:ext uri="{FF2B5EF4-FFF2-40B4-BE49-F238E27FC236}">
                  <a16:creationId xmlns:a16="http://schemas.microsoft.com/office/drawing/2014/main" id="{EF6B4547-CC06-F832-C9E5-E80D223372FA}"/>
                </a:ext>
              </a:extLst>
            </p:cNvPr>
            <p:cNvSpPr/>
            <p:nvPr/>
          </p:nvSpPr>
          <p:spPr>
            <a:xfrm>
              <a:off x="6199841" y="3353020"/>
              <a:ext cx="26930" cy="0"/>
            </a:xfrm>
            <a:custGeom>
              <a:avLst/>
              <a:gdLst/>
              <a:ahLst/>
              <a:cxnLst/>
              <a:rect l="l" t="t" r="r" b="b"/>
              <a:pathLst>
                <a:path w="44450">
                  <a:moveTo>
                    <a:pt x="0" y="0"/>
                  </a:moveTo>
                  <a:lnTo>
                    <a:pt x="44450" y="0"/>
                  </a:lnTo>
                </a:path>
              </a:pathLst>
            </a:custGeom>
            <a:ln w="10160">
              <a:solidFill>
                <a:srgbClr val="191919"/>
              </a:solidFill>
            </a:ln>
          </p:spPr>
          <p:txBody>
            <a:bodyPr wrap="square" lIns="0" tIns="0" rIns="0" bIns="0" rtlCol="0"/>
            <a:lstStyle/>
            <a:p>
              <a:endParaRPr/>
            </a:p>
          </p:txBody>
        </p:sp>
        <p:sp>
          <p:nvSpPr>
            <p:cNvPr id="17" name="object 76">
              <a:extLst>
                <a:ext uri="{FF2B5EF4-FFF2-40B4-BE49-F238E27FC236}">
                  <a16:creationId xmlns:a16="http://schemas.microsoft.com/office/drawing/2014/main" id="{2D8E8563-3D65-2CFE-EBE1-6301DDF195F6}"/>
                </a:ext>
              </a:extLst>
            </p:cNvPr>
            <p:cNvSpPr/>
            <p:nvPr/>
          </p:nvSpPr>
          <p:spPr>
            <a:xfrm>
              <a:off x="6199841" y="2663616"/>
              <a:ext cx="2849683" cy="45719"/>
            </a:xfrm>
            <a:custGeom>
              <a:avLst/>
              <a:gdLst/>
              <a:ahLst/>
              <a:cxnLst/>
              <a:rect l="l" t="t" r="r" b="b"/>
              <a:pathLst>
                <a:path w="7086600">
                  <a:moveTo>
                    <a:pt x="0" y="0"/>
                  </a:moveTo>
                  <a:lnTo>
                    <a:pt x="1088955" y="0"/>
                  </a:lnTo>
                </a:path>
                <a:path w="7086600">
                  <a:moveTo>
                    <a:pt x="1165155" y="0"/>
                  </a:moveTo>
                  <a:lnTo>
                    <a:pt x="1800048" y="0"/>
                  </a:lnTo>
                </a:path>
                <a:path w="7086600">
                  <a:moveTo>
                    <a:pt x="1876248" y="0"/>
                  </a:moveTo>
                  <a:lnTo>
                    <a:pt x="7086600" y="0"/>
                  </a:lnTo>
                </a:path>
              </a:pathLst>
            </a:custGeom>
            <a:ln w="7620">
              <a:solidFill>
                <a:srgbClr val="AFAFAF"/>
              </a:solidFill>
              <a:prstDash val="sysDash"/>
            </a:ln>
          </p:spPr>
          <p:txBody>
            <a:bodyPr wrap="square" lIns="0" tIns="0" rIns="0" bIns="0" rtlCol="0"/>
            <a:lstStyle/>
            <a:p>
              <a:endParaRPr/>
            </a:p>
          </p:txBody>
        </p:sp>
        <p:sp>
          <p:nvSpPr>
            <p:cNvPr id="18" name="object 77">
              <a:extLst>
                <a:ext uri="{FF2B5EF4-FFF2-40B4-BE49-F238E27FC236}">
                  <a16:creationId xmlns:a16="http://schemas.microsoft.com/office/drawing/2014/main" id="{24E50E28-13DA-D538-47FB-DB917EF77A03}"/>
                </a:ext>
              </a:extLst>
            </p:cNvPr>
            <p:cNvSpPr/>
            <p:nvPr/>
          </p:nvSpPr>
          <p:spPr>
            <a:xfrm>
              <a:off x="6199841" y="2663617"/>
              <a:ext cx="26930" cy="0"/>
            </a:xfrm>
            <a:custGeom>
              <a:avLst/>
              <a:gdLst/>
              <a:ahLst/>
              <a:cxnLst/>
              <a:rect l="l" t="t" r="r" b="b"/>
              <a:pathLst>
                <a:path w="44450">
                  <a:moveTo>
                    <a:pt x="44450" y="0"/>
                  </a:moveTo>
                  <a:lnTo>
                    <a:pt x="0" y="0"/>
                  </a:lnTo>
                </a:path>
              </a:pathLst>
            </a:custGeom>
            <a:solidFill>
              <a:srgbClr val="191919"/>
            </a:solidFill>
          </p:spPr>
          <p:txBody>
            <a:bodyPr wrap="square" lIns="0" tIns="0" rIns="0" bIns="0" rtlCol="0"/>
            <a:lstStyle/>
            <a:p>
              <a:endParaRPr/>
            </a:p>
          </p:txBody>
        </p:sp>
        <p:sp>
          <p:nvSpPr>
            <p:cNvPr id="19" name="object 78">
              <a:extLst>
                <a:ext uri="{FF2B5EF4-FFF2-40B4-BE49-F238E27FC236}">
                  <a16:creationId xmlns:a16="http://schemas.microsoft.com/office/drawing/2014/main" id="{206BD05C-38D3-105A-E950-D80F6482BAFF}"/>
                </a:ext>
              </a:extLst>
            </p:cNvPr>
            <p:cNvSpPr/>
            <p:nvPr/>
          </p:nvSpPr>
          <p:spPr>
            <a:xfrm>
              <a:off x="6199841" y="2663617"/>
              <a:ext cx="26930" cy="0"/>
            </a:xfrm>
            <a:custGeom>
              <a:avLst/>
              <a:gdLst/>
              <a:ahLst/>
              <a:cxnLst/>
              <a:rect l="l" t="t" r="r" b="b"/>
              <a:pathLst>
                <a:path w="44450">
                  <a:moveTo>
                    <a:pt x="0" y="0"/>
                  </a:moveTo>
                  <a:lnTo>
                    <a:pt x="44450" y="0"/>
                  </a:lnTo>
                </a:path>
              </a:pathLst>
            </a:custGeom>
            <a:ln w="10160">
              <a:solidFill>
                <a:srgbClr val="191919"/>
              </a:solidFill>
            </a:ln>
          </p:spPr>
          <p:txBody>
            <a:bodyPr wrap="square" lIns="0" tIns="0" rIns="0" bIns="0" rtlCol="0"/>
            <a:lstStyle/>
            <a:p>
              <a:endParaRPr/>
            </a:p>
          </p:txBody>
        </p:sp>
        <p:sp>
          <p:nvSpPr>
            <p:cNvPr id="20" name="object 79">
              <a:extLst>
                <a:ext uri="{FF2B5EF4-FFF2-40B4-BE49-F238E27FC236}">
                  <a16:creationId xmlns:a16="http://schemas.microsoft.com/office/drawing/2014/main" id="{131BD140-0115-A0D6-18A4-A79001D3EBEF}"/>
                </a:ext>
              </a:extLst>
            </p:cNvPr>
            <p:cNvSpPr/>
            <p:nvPr/>
          </p:nvSpPr>
          <p:spPr>
            <a:xfrm>
              <a:off x="6199841" y="1974214"/>
              <a:ext cx="2849683" cy="45719"/>
            </a:xfrm>
            <a:custGeom>
              <a:avLst/>
              <a:gdLst/>
              <a:ahLst/>
              <a:cxnLst/>
              <a:rect l="l" t="t" r="r" b="b"/>
              <a:pathLst>
                <a:path w="7086600">
                  <a:moveTo>
                    <a:pt x="0" y="0"/>
                  </a:moveTo>
                  <a:lnTo>
                    <a:pt x="1088955" y="0"/>
                  </a:lnTo>
                </a:path>
                <a:path w="7086600">
                  <a:moveTo>
                    <a:pt x="1165155" y="0"/>
                  </a:moveTo>
                  <a:lnTo>
                    <a:pt x="1800048" y="0"/>
                  </a:lnTo>
                </a:path>
                <a:path w="7086600">
                  <a:moveTo>
                    <a:pt x="1876248" y="0"/>
                  </a:moveTo>
                  <a:lnTo>
                    <a:pt x="7086600" y="0"/>
                  </a:lnTo>
                </a:path>
              </a:pathLst>
            </a:custGeom>
            <a:ln w="7620">
              <a:solidFill>
                <a:srgbClr val="AFAFAF"/>
              </a:solidFill>
              <a:prstDash val="sysDash"/>
            </a:ln>
          </p:spPr>
          <p:txBody>
            <a:bodyPr wrap="square" lIns="0" tIns="0" rIns="0" bIns="0" rtlCol="0"/>
            <a:lstStyle/>
            <a:p>
              <a:endParaRPr/>
            </a:p>
          </p:txBody>
        </p:sp>
        <p:sp>
          <p:nvSpPr>
            <p:cNvPr id="21" name="object 80">
              <a:extLst>
                <a:ext uri="{FF2B5EF4-FFF2-40B4-BE49-F238E27FC236}">
                  <a16:creationId xmlns:a16="http://schemas.microsoft.com/office/drawing/2014/main" id="{5E40B104-295A-38DB-5C9D-0E83FEBCA1CB}"/>
                </a:ext>
              </a:extLst>
            </p:cNvPr>
            <p:cNvSpPr/>
            <p:nvPr/>
          </p:nvSpPr>
          <p:spPr>
            <a:xfrm>
              <a:off x="6199841" y="1974215"/>
              <a:ext cx="26930" cy="0"/>
            </a:xfrm>
            <a:custGeom>
              <a:avLst/>
              <a:gdLst/>
              <a:ahLst/>
              <a:cxnLst/>
              <a:rect l="l" t="t" r="r" b="b"/>
              <a:pathLst>
                <a:path w="44450">
                  <a:moveTo>
                    <a:pt x="44450" y="0"/>
                  </a:moveTo>
                  <a:lnTo>
                    <a:pt x="0" y="0"/>
                  </a:lnTo>
                </a:path>
              </a:pathLst>
            </a:custGeom>
            <a:solidFill>
              <a:srgbClr val="191919"/>
            </a:solidFill>
          </p:spPr>
          <p:txBody>
            <a:bodyPr wrap="square" lIns="0" tIns="0" rIns="0" bIns="0" rtlCol="0"/>
            <a:lstStyle/>
            <a:p>
              <a:endParaRPr/>
            </a:p>
          </p:txBody>
        </p:sp>
        <p:sp>
          <p:nvSpPr>
            <p:cNvPr id="22" name="object 81">
              <a:extLst>
                <a:ext uri="{FF2B5EF4-FFF2-40B4-BE49-F238E27FC236}">
                  <a16:creationId xmlns:a16="http://schemas.microsoft.com/office/drawing/2014/main" id="{ED9E40F2-538F-B442-8D8C-731BD7195B49}"/>
                </a:ext>
              </a:extLst>
            </p:cNvPr>
            <p:cNvSpPr/>
            <p:nvPr/>
          </p:nvSpPr>
          <p:spPr>
            <a:xfrm>
              <a:off x="6199841" y="1974215"/>
              <a:ext cx="26930" cy="0"/>
            </a:xfrm>
            <a:custGeom>
              <a:avLst/>
              <a:gdLst/>
              <a:ahLst/>
              <a:cxnLst/>
              <a:rect l="l" t="t" r="r" b="b"/>
              <a:pathLst>
                <a:path w="44450">
                  <a:moveTo>
                    <a:pt x="0" y="0"/>
                  </a:moveTo>
                  <a:lnTo>
                    <a:pt x="44450" y="0"/>
                  </a:lnTo>
                </a:path>
              </a:pathLst>
            </a:custGeom>
            <a:ln w="10160">
              <a:solidFill>
                <a:srgbClr val="191919"/>
              </a:solidFill>
            </a:ln>
          </p:spPr>
          <p:txBody>
            <a:bodyPr wrap="square" lIns="0" tIns="0" rIns="0" bIns="0" rtlCol="0"/>
            <a:lstStyle/>
            <a:p>
              <a:endParaRPr/>
            </a:p>
          </p:txBody>
        </p:sp>
        <p:sp>
          <p:nvSpPr>
            <p:cNvPr id="23" name="object 82">
              <a:extLst>
                <a:ext uri="{FF2B5EF4-FFF2-40B4-BE49-F238E27FC236}">
                  <a16:creationId xmlns:a16="http://schemas.microsoft.com/office/drawing/2014/main" id="{9665BC74-A642-4091-00CC-9613590CCC66}"/>
                </a:ext>
              </a:extLst>
            </p:cNvPr>
            <p:cNvSpPr/>
            <p:nvPr/>
          </p:nvSpPr>
          <p:spPr>
            <a:xfrm>
              <a:off x="6199841" y="1284811"/>
              <a:ext cx="2849683" cy="45719"/>
            </a:xfrm>
            <a:custGeom>
              <a:avLst/>
              <a:gdLst/>
              <a:ahLst/>
              <a:cxnLst/>
              <a:rect l="l" t="t" r="r" b="b"/>
              <a:pathLst>
                <a:path w="7086600">
                  <a:moveTo>
                    <a:pt x="0" y="0"/>
                  </a:moveTo>
                  <a:lnTo>
                    <a:pt x="7086600" y="0"/>
                  </a:lnTo>
                </a:path>
              </a:pathLst>
            </a:custGeom>
            <a:ln w="7620">
              <a:solidFill>
                <a:srgbClr val="AFAFAF"/>
              </a:solidFill>
              <a:prstDash val="sysDash"/>
            </a:ln>
          </p:spPr>
          <p:txBody>
            <a:bodyPr wrap="square" lIns="0" tIns="0" rIns="0" bIns="0" rtlCol="0"/>
            <a:lstStyle/>
            <a:p>
              <a:endParaRPr/>
            </a:p>
          </p:txBody>
        </p:sp>
        <p:pic>
          <p:nvPicPr>
            <p:cNvPr id="24" name="object 88">
              <a:extLst>
                <a:ext uri="{FF2B5EF4-FFF2-40B4-BE49-F238E27FC236}">
                  <a16:creationId xmlns:a16="http://schemas.microsoft.com/office/drawing/2014/main" id="{4C064AA0-28A5-BB4E-1276-97AC7B3D3DD2}"/>
                </a:ext>
              </a:extLst>
            </p:cNvPr>
            <p:cNvPicPr/>
            <p:nvPr/>
          </p:nvPicPr>
          <p:blipFill>
            <a:blip r:embed="rId2" cstate="print"/>
            <a:stretch>
              <a:fillRect/>
            </a:stretch>
          </p:blipFill>
          <p:spPr>
            <a:xfrm>
              <a:off x="7607920" y="2977231"/>
              <a:ext cx="46167" cy="62176"/>
            </a:xfrm>
            <a:prstGeom prst="rect">
              <a:avLst/>
            </a:prstGeom>
          </p:spPr>
        </p:pic>
        <p:sp>
          <p:nvSpPr>
            <p:cNvPr id="25" name="object 95">
              <a:extLst>
                <a:ext uri="{FF2B5EF4-FFF2-40B4-BE49-F238E27FC236}">
                  <a16:creationId xmlns:a16="http://schemas.microsoft.com/office/drawing/2014/main" id="{3C385466-1F52-31CD-11F4-B2FCECD12191}"/>
                </a:ext>
              </a:extLst>
            </p:cNvPr>
            <p:cNvSpPr/>
            <p:nvPr/>
          </p:nvSpPr>
          <p:spPr>
            <a:xfrm>
              <a:off x="6199841" y="1284812"/>
              <a:ext cx="2958361" cy="3447117"/>
            </a:xfrm>
            <a:custGeom>
              <a:avLst/>
              <a:gdLst/>
              <a:ahLst/>
              <a:cxnLst/>
              <a:rect l="l" t="t" r="r" b="b"/>
              <a:pathLst>
                <a:path w="7086600" h="4224655">
                  <a:moveTo>
                    <a:pt x="0" y="4224528"/>
                  </a:moveTo>
                  <a:lnTo>
                    <a:pt x="0" y="0"/>
                  </a:lnTo>
                </a:path>
                <a:path w="7086600" h="4224655">
                  <a:moveTo>
                    <a:pt x="0" y="4224528"/>
                  </a:moveTo>
                  <a:lnTo>
                    <a:pt x="7086600" y="4224528"/>
                  </a:lnTo>
                </a:path>
              </a:pathLst>
            </a:custGeom>
            <a:ln w="12700">
              <a:solidFill>
                <a:srgbClr val="191919"/>
              </a:solidFill>
            </a:ln>
          </p:spPr>
          <p:txBody>
            <a:bodyPr wrap="square" lIns="0" tIns="0" rIns="0" bIns="0" rtlCol="0"/>
            <a:lstStyle/>
            <a:p>
              <a:endParaRPr/>
            </a:p>
          </p:txBody>
        </p:sp>
        <p:sp>
          <p:nvSpPr>
            <p:cNvPr id="26" name="object 96">
              <a:extLst>
                <a:ext uri="{FF2B5EF4-FFF2-40B4-BE49-F238E27FC236}">
                  <a16:creationId xmlns:a16="http://schemas.microsoft.com/office/drawing/2014/main" id="{A7B7A9F8-04A2-23EB-B1EB-469CCBC94C23}"/>
                </a:ext>
              </a:extLst>
            </p:cNvPr>
            <p:cNvSpPr txBox="1"/>
            <p:nvPr/>
          </p:nvSpPr>
          <p:spPr>
            <a:xfrm>
              <a:off x="5953642" y="3981443"/>
              <a:ext cx="261034" cy="219932"/>
            </a:xfrm>
            <a:prstGeom prst="rect">
              <a:avLst/>
            </a:prstGeom>
          </p:spPr>
          <p:txBody>
            <a:bodyPr vert="horz" wrap="square" lIns="0" tIns="12065" rIns="0" bIns="0" rtlCol="0">
              <a:spAutoFit/>
            </a:bodyPr>
            <a:lstStyle/>
            <a:p>
              <a:pPr marL="12700">
                <a:lnSpc>
                  <a:spcPct val="100000"/>
                </a:lnSpc>
                <a:spcBef>
                  <a:spcPts val="95"/>
                </a:spcBef>
              </a:pPr>
              <a:r>
                <a:rPr sz="1350" spc="-25">
                  <a:solidFill>
                    <a:srgbClr val="191919"/>
                  </a:solidFill>
                  <a:latin typeface="Arial"/>
                  <a:cs typeface="Arial"/>
                </a:rPr>
                <a:t>20</a:t>
              </a:r>
              <a:endParaRPr sz="1350">
                <a:latin typeface="Arial"/>
                <a:cs typeface="Arial"/>
              </a:endParaRPr>
            </a:p>
          </p:txBody>
        </p:sp>
        <p:sp>
          <p:nvSpPr>
            <p:cNvPr id="27" name="object 97">
              <a:extLst>
                <a:ext uri="{FF2B5EF4-FFF2-40B4-BE49-F238E27FC236}">
                  <a16:creationId xmlns:a16="http://schemas.microsoft.com/office/drawing/2014/main" id="{C39D7758-64F2-0D1A-D5C7-307C7D5D21C6}"/>
                </a:ext>
              </a:extLst>
            </p:cNvPr>
            <p:cNvSpPr txBox="1"/>
            <p:nvPr/>
          </p:nvSpPr>
          <p:spPr>
            <a:xfrm>
              <a:off x="6006073" y="3282895"/>
              <a:ext cx="208603" cy="219932"/>
            </a:xfrm>
            <a:prstGeom prst="rect">
              <a:avLst/>
            </a:prstGeom>
          </p:spPr>
          <p:txBody>
            <a:bodyPr vert="horz" wrap="square" lIns="0" tIns="12065" rIns="0" bIns="0" rtlCol="0">
              <a:spAutoFit/>
            </a:bodyPr>
            <a:lstStyle/>
            <a:p>
              <a:pPr marL="12700">
                <a:lnSpc>
                  <a:spcPct val="100000"/>
                </a:lnSpc>
                <a:spcBef>
                  <a:spcPts val="95"/>
                </a:spcBef>
              </a:pPr>
              <a:r>
                <a:rPr sz="1350" spc="-25">
                  <a:solidFill>
                    <a:srgbClr val="191919"/>
                  </a:solidFill>
                  <a:latin typeface="Arial"/>
                  <a:cs typeface="Arial"/>
                </a:rPr>
                <a:t>40</a:t>
              </a:r>
              <a:endParaRPr sz="1350">
                <a:latin typeface="Arial"/>
                <a:cs typeface="Arial"/>
              </a:endParaRPr>
            </a:p>
          </p:txBody>
        </p:sp>
        <p:sp>
          <p:nvSpPr>
            <p:cNvPr id="28" name="object 98">
              <a:extLst>
                <a:ext uri="{FF2B5EF4-FFF2-40B4-BE49-F238E27FC236}">
                  <a16:creationId xmlns:a16="http://schemas.microsoft.com/office/drawing/2014/main" id="{3DC33349-DC6C-641A-679F-BC3018E6DC3B}"/>
                </a:ext>
              </a:extLst>
            </p:cNvPr>
            <p:cNvSpPr txBox="1"/>
            <p:nvPr/>
          </p:nvSpPr>
          <p:spPr>
            <a:xfrm>
              <a:off x="6006073" y="2602637"/>
              <a:ext cx="208603" cy="219932"/>
            </a:xfrm>
            <a:prstGeom prst="rect">
              <a:avLst/>
            </a:prstGeom>
          </p:spPr>
          <p:txBody>
            <a:bodyPr vert="horz" wrap="square" lIns="0" tIns="12065" rIns="0" bIns="0" rtlCol="0">
              <a:spAutoFit/>
            </a:bodyPr>
            <a:lstStyle/>
            <a:p>
              <a:pPr marL="12700">
                <a:lnSpc>
                  <a:spcPct val="100000"/>
                </a:lnSpc>
                <a:spcBef>
                  <a:spcPts val="95"/>
                </a:spcBef>
              </a:pPr>
              <a:r>
                <a:rPr sz="1350" spc="-25">
                  <a:solidFill>
                    <a:srgbClr val="191919"/>
                  </a:solidFill>
                  <a:latin typeface="Arial"/>
                  <a:cs typeface="Arial"/>
                </a:rPr>
                <a:t>60</a:t>
              </a:r>
              <a:endParaRPr sz="1350">
                <a:latin typeface="Arial"/>
                <a:cs typeface="Arial"/>
              </a:endParaRPr>
            </a:p>
          </p:txBody>
        </p:sp>
        <p:sp>
          <p:nvSpPr>
            <p:cNvPr id="29" name="object 99">
              <a:extLst>
                <a:ext uri="{FF2B5EF4-FFF2-40B4-BE49-F238E27FC236}">
                  <a16:creationId xmlns:a16="http://schemas.microsoft.com/office/drawing/2014/main" id="{D736C7CE-5DBA-7EBE-2304-5214C90DE0D1}"/>
                </a:ext>
              </a:extLst>
            </p:cNvPr>
            <p:cNvSpPr txBox="1"/>
            <p:nvPr/>
          </p:nvSpPr>
          <p:spPr>
            <a:xfrm>
              <a:off x="5925603" y="1881902"/>
              <a:ext cx="289073" cy="219932"/>
            </a:xfrm>
            <a:prstGeom prst="rect">
              <a:avLst/>
            </a:prstGeom>
          </p:spPr>
          <p:txBody>
            <a:bodyPr vert="horz" wrap="square" lIns="0" tIns="12065" rIns="0" bIns="0" rtlCol="0">
              <a:spAutoFit/>
            </a:bodyPr>
            <a:lstStyle/>
            <a:p>
              <a:pPr marL="12700">
                <a:lnSpc>
                  <a:spcPct val="100000"/>
                </a:lnSpc>
                <a:spcBef>
                  <a:spcPts val="95"/>
                </a:spcBef>
              </a:pPr>
              <a:r>
                <a:rPr sz="1350" spc="-25">
                  <a:solidFill>
                    <a:srgbClr val="191919"/>
                  </a:solidFill>
                  <a:latin typeface="Arial"/>
                  <a:cs typeface="Arial"/>
                </a:rPr>
                <a:t>80</a:t>
              </a:r>
              <a:endParaRPr sz="1350">
                <a:latin typeface="Arial"/>
                <a:cs typeface="Arial"/>
              </a:endParaRPr>
            </a:p>
          </p:txBody>
        </p:sp>
        <p:sp>
          <p:nvSpPr>
            <p:cNvPr id="30" name="object 100">
              <a:extLst>
                <a:ext uri="{FF2B5EF4-FFF2-40B4-BE49-F238E27FC236}">
                  <a16:creationId xmlns:a16="http://schemas.microsoft.com/office/drawing/2014/main" id="{256FC213-0D16-4413-F930-E0960366CA6A}"/>
                </a:ext>
              </a:extLst>
            </p:cNvPr>
            <p:cNvSpPr txBox="1"/>
            <p:nvPr/>
          </p:nvSpPr>
          <p:spPr>
            <a:xfrm>
              <a:off x="5835053" y="1154113"/>
              <a:ext cx="379623" cy="219932"/>
            </a:xfrm>
            <a:prstGeom prst="rect">
              <a:avLst/>
            </a:prstGeom>
          </p:spPr>
          <p:txBody>
            <a:bodyPr vert="horz" wrap="square" lIns="0" tIns="12065" rIns="0" bIns="0" rtlCol="0">
              <a:spAutoFit/>
            </a:bodyPr>
            <a:lstStyle/>
            <a:p>
              <a:pPr marL="12700">
                <a:lnSpc>
                  <a:spcPct val="100000"/>
                </a:lnSpc>
                <a:spcBef>
                  <a:spcPts val="95"/>
                </a:spcBef>
              </a:pPr>
              <a:r>
                <a:rPr sz="1350" spc="-25">
                  <a:solidFill>
                    <a:srgbClr val="191919"/>
                  </a:solidFill>
                  <a:latin typeface="Arial"/>
                  <a:cs typeface="Arial"/>
                </a:rPr>
                <a:t>100</a:t>
              </a:r>
              <a:endParaRPr sz="1350">
                <a:latin typeface="Arial"/>
                <a:cs typeface="Arial"/>
              </a:endParaRPr>
            </a:p>
          </p:txBody>
        </p:sp>
        <p:sp>
          <p:nvSpPr>
            <p:cNvPr id="31" name="object 101">
              <a:extLst>
                <a:ext uri="{FF2B5EF4-FFF2-40B4-BE49-F238E27FC236}">
                  <a16:creationId xmlns:a16="http://schemas.microsoft.com/office/drawing/2014/main" id="{040E9885-8E76-6556-BB05-C00C1858FF30}"/>
                </a:ext>
              </a:extLst>
            </p:cNvPr>
            <p:cNvSpPr txBox="1"/>
            <p:nvPr/>
          </p:nvSpPr>
          <p:spPr>
            <a:xfrm>
              <a:off x="5659121" y="2369298"/>
              <a:ext cx="166712" cy="868594"/>
            </a:xfrm>
            <a:prstGeom prst="rect">
              <a:avLst/>
            </a:prstGeom>
          </p:spPr>
          <p:txBody>
            <a:bodyPr vert="vert270" wrap="square" lIns="0" tIns="0" rIns="0" bIns="0" rtlCol="0">
              <a:spAutoFit/>
            </a:bodyPr>
            <a:lstStyle/>
            <a:p>
              <a:pPr marL="12700">
                <a:lnSpc>
                  <a:spcPts val="1280"/>
                </a:lnSpc>
              </a:pPr>
              <a:r>
                <a:rPr sz="1350">
                  <a:solidFill>
                    <a:srgbClr val="191919"/>
                  </a:solidFill>
                  <a:latin typeface="Arial"/>
                  <a:cs typeface="Arial"/>
                </a:rPr>
                <a:t>Effect</a:t>
              </a:r>
              <a:r>
                <a:rPr sz="1350" spc="5">
                  <a:solidFill>
                    <a:srgbClr val="191919"/>
                  </a:solidFill>
                  <a:latin typeface="Arial"/>
                  <a:cs typeface="Arial"/>
                </a:rPr>
                <a:t> </a:t>
              </a:r>
              <a:r>
                <a:rPr sz="1350" spc="-25">
                  <a:solidFill>
                    <a:srgbClr val="191919"/>
                  </a:solidFill>
                  <a:latin typeface="Arial"/>
                  <a:cs typeface="Arial"/>
                </a:rPr>
                <a:t>(%)</a:t>
              </a:r>
              <a:endParaRPr sz="1350">
                <a:latin typeface="Arial"/>
                <a:cs typeface="Arial"/>
              </a:endParaRPr>
            </a:p>
          </p:txBody>
        </p:sp>
        <p:sp>
          <p:nvSpPr>
            <p:cNvPr id="32" name="TextBox 31">
              <a:extLst>
                <a:ext uri="{FF2B5EF4-FFF2-40B4-BE49-F238E27FC236}">
                  <a16:creationId xmlns:a16="http://schemas.microsoft.com/office/drawing/2014/main" id="{3FD426AE-B6B9-DFDD-8120-B7B036488954}"/>
                </a:ext>
              </a:extLst>
            </p:cNvPr>
            <p:cNvSpPr txBox="1"/>
            <p:nvPr/>
          </p:nvSpPr>
          <p:spPr>
            <a:xfrm>
              <a:off x="8880615" y="4750190"/>
              <a:ext cx="560917" cy="307777"/>
            </a:xfrm>
            <a:prstGeom prst="rect">
              <a:avLst/>
            </a:prstGeom>
            <a:noFill/>
          </p:spPr>
          <p:txBody>
            <a:bodyPr wrap="square">
              <a:spAutoFit/>
            </a:bodyPr>
            <a:lstStyle/>
            <a:p>
              <a:r>
                <a:rPr lang="en-US" sz="1400" spc="-25">
                  <a:solidFill>
                    <a:srgbClr val="191919"/>
                  </a:solidFill>
                  <a:cs typeface="Arial"/>
                </a:rPr>
                <a:t>100</a:t>
              </a:r>
              <a:endParaRPr lang="en-US" sz="1400"/>
            </a:p>
          </p:txBody>
        </p:sp>
        <p:sp>
          <p:nvSpPr>
            <p:cNvPr id="33" name="TextBox 32">
              <a:extLst>
                <a:ext uri="{FF2B5EF4-FFF2-40B4-BE49-F238E27FC236}">
                  <a16:creationId xmlns:a16="http://schemas.microsoft.com/office/drawing/2014/main" id="{7A1CC18F-1636-B0F3-08E8-E92356563365}"/>
                </a:ext>
              </a:extLst>
            </p:cNvPr>
            <p:cNvSpPr txBox="1"/>
            <p:nvPr/>
          </p:nvSpPr>
          <p:spPr>
            <a:xfrm>
              <a:off x="8519558" y="3488402"/>
              <a:ext cx="1293488" cy="584775"/>
            </a:xfrm>
            <a:prstGeom prst="rect">
              <a:avLst/>
            </a:prstGeom>
            <a:noFill/>
          </p:spPr>
          <p:txBody>
            <a:bodyPr wrap="square" rtlCol="0">
              <a:spAutoFit/>
            </a:bodyPr>
            <a:lstStyle/>
            <a:p>
              <a:r>
                <a:rPr lang="en-US" sz="1600" b="1">
                  <a:solidFill>
                    <a:schemeClr val="accent6"/>
                  </a:solidFill>
                </a:rPr>
                <a:t>Supportive NOAEL</a:t>
              </a:r>
            </a:p>
          </p:txBody>
        </p:sp>
        <p:sp>
          <p:nvSpPr>
            <p:cNvPr id="34" name="TextBox 33">
              <a:extLst>
                <a:ext uri="{FF2B5EF4-FFF2-40B4-BE49-F238E27FC236}">
                  <a16:creationId xmlns:a16="http://schemas.microsoft.com/office/drawing/2014/main" id="{7E331961-6FB3-D91F-052A-000F347B1D65}"/>
                </a:ext>
              </a:extLst>
            </p:cNvPr>
            <p:cNvSpPr txBox="1"/>
            <p:nvPr/>
          </p:nvSpPr>
          <p:spPr>
            <a:xfrm>
              <a:off x="7465574" y="4750191"/>
              <a:ext cx="377026" cy="307777"/>
            </a:xfrm>
            <a:prstGeom prst="rect">
              <a:avLst/>
            </a:prstGeom>
            <a:noFill/>
          </p:spPr>
          <p:txBody>
            <a:bodyPr wrap="none" rtlCol="0">
              <a:spAutoFit/>
            </a:bodyPr>
            <a:lstStyle/>
            <a:p>
              <a:r>
                <a:rPr lang="en-US" sz="1400"/>
                <a:t>10</a:t>
              </a:r>
            </a:p>
          </p:txBody>
        </p:sp>
        <p:sp>
          <p:nvSpPr>
            <p:cNvPr id="35" name="Freeform 34">
              <a:extLst>
                <a:ext uri="{FF2B5EF4-FFF2-40B4-BE49-F238E27FC236}">
                  <a16:creationId xmlns:a16="http://schemas.microsoft.com/office/drawing/2014/main" id="{9603D2F3-AFEB-A3F5-1106-9DBB5A2F30A2}"/>
                </a:ext>
              </a:extLst>
            </p:cNvPr>
            <p:cNvSpPr/>
            <p:nvPr/>
          </p:nvSpPr>
          <p:spPr>
            <a:xfrm>
              <a:off x="6627712" y="1420194"/>
              <a:ext cx="2028848" cy="3311729"/>
            </a:xfrm>
            <a:custGeom>
              <a:avLst/>
              <a:gdLst>
                <a:gd name="connsiteX0" fmla="*/ 0 w 3877733"/>
                <a:gd name="connsiteY0" fmla="*/ 2286000 h 2286000"/>
                <a:gd name="connsiteX1" fmla="*/ 1049867 w 3877733"/>
                <a:gd name="connsiteY1" fmla="*/ 1981200 h 2286000"/>
                <a:gd name="connsiteX2" fmla="*/ 1481667 w 3877733"/>
                <a:gd name="connsiteY2" fmla="*/ 1371600 h 2286000"/>
                <a:gd name="connsiteX3" fmla="*/ 1828800 w 3877733"/>
                <a:gd name="connsiteY3" fmla="*/ 889000 h 2286000"/>
                <a:gd name="connsiteX4" fmla="*/ 2904067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1049867 w 3877733"/>
                <a:gd name="connsiteY1" fmla="*/ 1981200 h 2286000"/>
                <a:gd name="connsiteX2" fmla="*/ 1481667 w 3877733"/>
                <a:gd name="connsiteY2" fmla="*/ 1371600 h 2286000"/>
                <a:gd name="connsiteX3" fmla="*/ 2032000 w 3877733"/>
                <a:gd name="connsiteY3" fmla="*/ 863600 h 2286000"/>
                <a:gd name="connsiteX4" fmla="*/ 2904067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1049867 w 3877733"/>
                <a:gd name="connsiteY1" fmla="*/ 1981200 h 2286000"/>
                <a:gd name="connsiteX2" fmla="*/ 1532467 w 3877733"/>
                <a:gd name="connsiteY2" fmla="*/ 1430867 h 2286000"/>
                <a:gd name="connsiteX3" fmla="*/ 2032000 w 3877733"/>
                <a:gd name="connsiteY3" fmla="*/ 863600 h 2286000"/>
                <a:gd name="connsiteX4" fmla="*/ 2904067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31334 w 3877733"/>
                <a:gd name="connsiteY1" fmla="*/ 2006600 h 2286000"/>
                <a:gd name="connsiteX2" fmla="*/ 1532467 w 3877733"/>
                <a:gd name="connsiteY2" fmla="*/ 1430867 h 2286000"/>
                <a:gd name="connsiteX3" fmla="*/ 2032000 w 3877733"/>
                <a:gd name="connsiteY3" fmla="*/ 863600 h 2286000"/>
                <a:gd name="connsiteX4" fmla="*/ 2904067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31334 w 3877733"/>
                <a:gd name="connsiteY1" fmla="*/ 2006600 h 2286000"/>
                <a:gd name="connsiteX2" fmla="*/ 1507067 w 3877733"/>
                <a:gd name="connsiteY2" fmla="*/ 1303867 h 2286000"/>
                <a:gd name="connsiteX3" fmla="*/ 2032000 w 3877733"/>
                <a:gd name="connsiteY3" fmla="*/ 863600 h 2286000"/>
                <a:gd name="connsiteX4" fmla="*/ 2904067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31334 w 3877733"/>
                <a:gd name="connsiteY1" fmla="*/ 2006600 h 2286000"/>
                <a:gd name="connsiteX2" fmla="*/ 1507067 w 3877733"/>
                <a:gd name="connsiteY2" fmla="*/ 1303867 h 2286000"/>
                <a:gd name="connsiteX3" fmla="*/ 2032000 w 3877733"/>
                <a:gd name="connsiteY3" fmla="*/ 753533 h 2286000"/>
                <a:gd name="connsiteX4" fmla="*/ 2904067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31334 w 3877733"/>
                <a:gd name="connsiteY1" fmla="*/ 2006600 h 2286000"/>
                <a:gd name="connsiteX2" fmla="*/ 1507067 w 3877733"/>
                <a:gd name="connsiteY2" fmla="*/ 1303867 h 2286000"/>
                <a:gd name="connsiteX3" fmla="*/ 2032000 w 3877733"/>
                <a:gd name="connsiteY3" fmla="*/ 753533 h 2286000"/>
                <a:gd name="connsiteX4" fmla="*/ 2904067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31334 w 3877733"/>
                <a:gd name="connsiteY1" fmla="*/ 2006600 h 2286000"/>
                <a:gd name="connsiteX2" fmla="*/ 1507067 w 3877733"/>
                <a:gd name="connsiteY2" fmla="*/ 1303867 h 2286000"/>
                <a:gd name="connsiteX3" fmla="*/ 2032000 w 3877733"/>
                <a:gd name="connsiteY3" fmla="*/ 753533 h 2286000"/>
                <a:gd name="connsiteX4" fmla="*/ 2794001 w 3877733"/>
                <a:gd name="connsiteY4" fmla="*/ 152400 h 2286000"/>
                <a:gd name="connsiteX5" fmla="*/ 3877733 w 3877733"/>
                <a:gd name="connsiteY5" fmla="*/ 0 h 2286000"/>
                <a:gd name="connsiteX6" fmla="*/ 3877733 w 3877733"/>
                <a:gd name="connsiteY6" fmla="*/ 0 h 2286000"/>
                <a:gd name="connsiteX0" fmla="*/ 0 w 3877733"/>
                <a:gd name="connsiteY0" fmla="*/ 2286377 h 2286377"/>
                <a:gd name="connsiteX1" fmla="*/ 931334 w 3877733"/>
                <a:gd name="connsiteY1" fmla="*/ 2006977 h 2286377"/>
                <a:gd name="connsiteX2" fmla="*/ 1507067 w 3877733"/>
                <a:gd name="connsiteY2" fmla="*/ 1304244 h 2286377"/>
                <a:gd name="connsiteX3" fmla="*/ 2032000 w 3877733"/>
                <a:gd name="connsiteY3" fmla="*/ 753910 h 2286377"/>
                <a:gd name="connsiteX4" fmla="*/ 2794001 w 3877733"/>
                <a:gd name="connsiteY4" fmla="*/ 152777 h 2286377"/>
                <a:gd name="connsiteX5" fmla="*/ 3877733 w 3877733"/>
                <a:gd name="connsiteY5" fmla="*/ 377 h 2286377"/>
                <a:gd name="connsiteX6" fmla="*/ 3877733 w 3877733"/>
                <a:gd name="connsiteY6" fmla="*/ 377 h 2286377"/>
                <a:gd name="connsiteX0" fmla="*/ 0 w 3877733"/>
                <a:gd name="connsiteY0" fmla="*/ 2286377 h 2286377"/>
                <a:gd name="connsiteX1" fmla="*/ 931334 w 3877733"/>
                <a:gd name="connsiteY1" fmla="*/ 2006977 h 2286377"/>
                <a:gd name="connsiteX2" fmla="*/ 1532467 w 3877733"/>
                <a:gd name="connsiteY2" fmla="*/ 1338111 h 2286377"/>
                <a:gd name="connsiteX3" fmla="*/ 2032000 w 3877733"/>
                <a:gd name="connsiteY3" fmla="*/ 753910 h 2286377"/>
                <a:gd name="connsiteX4" fmla="*/ 2794001 w 3877733"/>
                <a:gd name="connsiteY4" fmla="*/ 152777 h 2286377"/>
                <a:gd name="connsiteX5" fmla="*/ 3877733 w 3877733"/>
                <a:gd name="connsiteY5" fmla="*/ 377 h 2286377"/>
                <a:gd name="connsiteX6" fmla="*/ 3877733 w 3877733"/>
                <a:gd name="connsiteY6" fmla="*/ 377 h 2286377"/>
                <a:gd name="connsiteX0" fmla="*/ 0 w 3877733"/>
                <a:gd name="connsiteY0" fmla="*/ 2286377 h 2286377"/>
                <a:gd name="connsiteX1" fmla="*/ 931334 w 3877733"/>
                <a:gd name="connsiteY1" fmla="*/ 2006977 h 2286377"/>
                <a:gd name="connsiteX2" fmla="*/ 1583267 w 3877733"/>
                <a:gd name="connsiteY2" fmla="*/ 1363511 h 2286377"/>
                <a:gd name="connsiteX3" fmla="*/ 2032000 w 3877733"/>
                <a:gd name="connsiteY3" fmla="*/ 753910 h 2286377"/>
                <a:gd name="connsiteX4" fmla="*/ 2794001 w 3877733"/>
                <a:gd name="connsiteY4" fmla="*/ 152777 h 2286377"/>
                <a:gd name="connsiteX5" fmla="*/ 3877733 w 3877733"/>
                <a:gd name="connsiteY5" fmla="*/ 377 h 2286377"/>
                <a:gd name="connsiteX6" fmla="*/ 3877733 w 3877733"/>
                <a:gd name="connsiteY6" fmla="*/ 377 h 2286377"/>
                <a:gd name="connsiteX0" fmla="*/ 0 w 3877733"/>
                <a:gd name="connsiteY0" fmla="*/ 2286377 h 2286377"/>
                <a:gd name="connsiteX1" fmla="*/ 1044423 w 3877733"/>
                <a:gd name="connsiteY1" fmla="*/ 2013275 h 2286377"/>
                <a:gd name="connsiteX2" fmla="*/ 1583267 w 3877733"/>
                <a:gd name="connsiteY2" fmla="*/ 1363511 h 2286377"/>
                <a:gd name="connsiteX3" fmla="*/ 2032000 w 3877733"/>
                <a:gd name="connsiteY3" fmla="*/ 753910 h 2286377"/>
                <a:gd name="connsiteX4" fmla="*/ 2794001 w 3877733"/>
                <a:gd name="connsiteY4" fmla="*/ 152777 h 2286377"/>
                <a:gd name="connsiteX5" fmla="*/ 3877733 w 3877733"/>
                <a:gd name="connsiteY5" fmla="*/ 377 h 2286377"/>
                <a:gd name="connsiteX6" fmla="*/ 3877733 w 3877733"/>
                <a:gd name="connsiteY6" fmla="*/ 377 h 2286377"/>
                <a:gd name="connsiteX0" fmla="*/ 0 w 3877733"/>
                <a:gd name="connsiteY0" fmla="*/ 2286377 h 2286377"/>
                <a:gd name="connsiteX1" fmla="*/ 1044423 w 3877733"/>
                <a:gd name="connsiteY1" fmla="*/ 2013275 h 2286377"/>
                <a:gd name="connsiteX2" fmla="*/ 1708923 w 3877733"/>
                <a:gd name="connsiteY2" fmla="*/ 1357213 h 2286377"/>
                <a:gd name="connsiteX3" fmla="*/ 2032000 w 3877733"/>
                <a:gd name="connsiteY3" fmla="*/ 753910 h 2286377"/>
                <a:gd name="connsiteX4" fmla="*/ 2794001 w 3877733"/>
                <a:gd name="connsiteY4" fmla="*/ 152777 h 2286377"/>
                <a:gd name="connsiteX5" fmla="*/ 3877733 w 3877733"/>
                <a:gd name="connsiteY5" fmla="*/ 377 h 2286377"/>
                <a:gd name="connsiteX6" fmla="*/ 3877733 w 3877733"/>
                <a:gd name="connsiteY6" fmla="*/ 377 h 2286377"/>
                <a:gd name="connsiteX0" fmla="*/ 0 w 3877733"/>
                <a:gd name="connsiteY0" fmla="*/ 2286000 h 2286000"/>
                <a:gd name="connsiteX1" fmla="*/ 1044423 w 3877733"/>
                <a:gd name="connsiteY1" fmla="*/ 2012898 h 2286000"/>
                <a:gd name="connsiteX2" fmla="*/ 1708923 w 3877733"/>
                <a:gd name="connsiteY2" fmla="*/ 1356836 h 2286000"/>
                <a:gd name="connsiteX3" fmla="*/ 2383831 w 3877733"/>
                <a:gd name="connsiteY3" fmla="*/ 715742 h 2286000"/>
                <a:gd name="connsiteX4" fmla="*/ 2794001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1044423 w 3877733"/>
                <a:gd name="connsiteY1" fmla="*/ 2012898 h 2286000"/>
                <a:gd name="connsiteX2" fmla="*/ 1708923 w 3877733"/>
                <a:gd name="connsiteY2" fmla="*/ 1356836 h 2286000"/>
                <a:gd name="connsiteX3" fmla="*/ 2383831 w 3877733"/>
                <a:gd name="connsiteY3" fmla="*/ 715742 h 2286000"/>
                <a:gd name="connsiteX4" fmla="*/ 2794001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06203 w 3877733"/>
                <a:gd name="connsiteY1" fmla="*/ 2000300 h 2286000"/>
                <a:gd name="connsiteX2" fmla="*/ 1708923 w 3877733"/>
                <a:gd name="connsiteY2" fmla="*/ 1356836 h 2286000"/>
                <a:gd name="connsiteX3" fmla="*/ 2383831 w 3877733"/>
                <a:gd name="connsiteY3" fmla="*/ 715742 h 2286000"/>
                <a:gd name="connsiteX4" fmla="*/ 2794001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06203 w 3877733"/>
                <a:gd name="connsiteY1" fmla="*/ 2000300 h 2286000"/>
                <a:gd name="connsiteX2" fmla="*/ 1796881 w 3877733"/>
                <a:gd name="connsiteY2" fmla="*/ 1382029 h 2286000"/>
                <a:gd name="connsiteX3" fmla="*/ 2383831 w 3877733"/>
                <a:gd name="connsiteY3" fmla="*/ 715742 h 2286000"/>
                <a:gd name="connsiteX4" fmla="*/ 2794001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06203 w 3877733"/>
                <a:gd name="connsiteY1" fmla="*/ 2000300 h 2286000"/>
                <a:gd name="connsiteX2" fmla="*/ 1796881 w 3877733"/>
                <a:gd name="connsiteY2" fmla="*/ 1382029 h 2286000"/>
                <a:gd name="connsiteX3" fmla="*/ 2383831 w 3877733"/>
                <a:gd name="connsiteY3" fmla="*/ 715742 h 2286000"/>
                <a:gd name="connsiteX4" fmla="*/ 2794001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06203 w 3877733"/>
                <a:gd name="connsiteY1" fmla="*/ 2000300 h 2286000"/>
                <a:gd name="connsiteX2" fmla="*/ 1796881 w 3877733"/>
                <a:gd name="connsiteY2" fmla="*/ 1382029 h 2286000"/>
                <a:gd name="connsiteX3" fmla="*/ 2383831 w 3877733"/>
                <a:gd name="connsiteY3" fmla="*/ 671653 h 2286000"/>
                <a:gd name="connsiteX4" fmla="*/ 2794001 w 3877733"/>
                <a:gd name="connsiteY4" fmla="*/ 152400 h 2286000"/>
                <a:gd name="connsiteX5" fmla="*/ 3877733 w 3877733"/>
                <a:gd name="connsiteY5" fmla="*/ 0 h 2286000"/>
                <a:gd name="connsiteX6" fmla="*/ 3877733 w 3877733"/>
                <a:gd name="connsiteY6" fmla="*/ 0 h 2286000"/>
                <a:gd name="connsiteX0" fmla="*/ 0 w 3877733"/>
                <a:gd name="connsiteY0" fmla="*/ 2286000 h 2286000"/>
                <a:gd name="connsiteX1" fmla="*/ 906203 w 3877733"/>
                <a:gd name="connsiteY1" fmla="*/ 2000300 h 2286000"/>
                <a:gd name="connsiteX2" fmla="*/ 1796881 w 3877733"/>
                <a:gd name="connsiteY2" fmla="*/ 1382029 h 2286000"/>
                <a:gd name="connsiteX3" fmla="*/ 2383831 w 3877733"/>
                <a:gd name="connsiteY3" fmla="*/ 671653 h 2286000"/>
                <a:gd name="connsiteX4" fmla="*/ 2844262 w 3877733"/>
                <a:gd name="connsiteY4" fmla="*/ 265773 h 2286000"/>
                <a:gd name="connsiteX5" fmla="*/ 3877733 w 3877733"/>
                <a:gd name="connsiteY5" fmla="*/ 0 h 2286000"/>
                <a:gd name="connsiteX6" fmla="*/ 3877733 w 3877733"/>
                <a:gd name="connsiteY6" fmla="*/ 0 h 2286000"/>
                <a:gd name="connsiteX0" fmla="*/ 0 w 3877733"/>
                <a:gd name="connsiteY0" fmla="*/ 2286000 h 2286000"/>
                <a:gd name="connsiteX1" fmla="*/ 906203 w 3877733"/>
                <a:gd name="connsiteY1" fmla="*/ 2000300 h 2286000"/>
                <a:gd name="connsiteX2" fmla="*/ 1796881 w 3877733"/>
                <a:gd name="connsiteY2" fmla="*/ 1382029 h 2286000"/>
                <a:gd name="connsiteX3" fmla="*/ 2270742 w 3877733"/>
                <a:gd name="connsiteY3" fmla="*/ 703146 h 2286000"/>
                <a:gd name="connsiteX4" fmla="*/ 2844262 w 3877733"/>
                <a:gd name="connsiteY4" fmla="*/ 265773 h 2286000"/>
                <a:gd name="connsiteX5" fmla="*/ 3877733 w 3877733"/>
                <a:gd name="connsiteY5" fmla="*/ 0 h 2286000"/>
                <a:gd name="connsiteX6" fmla="*/ 3877733 w 3877733"/>
                <a:gd name="connsiteY6" fmla="*/ 0 h 2286000"/>
                <a:gd name="connsiteX0" fmla="*/ 0 w 3877733"/>
                <a:gd name="connsiteY0" fmla="*/ 2286000 h 2286000"/>
                <a:gd name="connsiteX1" fmla="*/ 906203 w 3877733"/>
                <a:gd name="connsiteY1" fmla="*/ 2000300 h 2286000"/>
                <a:gd name="connsiteX2" fmla="*/ 1570703 w 3877733"/>
                <a:gd name="connsiteY2" fmla="*/ 1413522 h 2286000"/>
                <a:gd name="connsiteX3" fmla="*/ 2270742 w 3877733"/>
                <a:gd name="connsiteY3" fmla="*/ 703146 h 2286000"/>
                <a:gd name="connsiteX4" fmla="*/ 2844262 w 3877733"/>
                <a:gd name="connsiteY4" fmla="*/ 265773 h 2286000"/>
                <a:gd name="connsiteX5" fmla="*/ 3877733 w 3877733"/>
                <a:gd name="connsiteY5" fmla="*/ 0 h 2286000"/>
                <a:gd name="connsiteX6" fmla="*/ 3877733 w 3877733"/>
                <a:gd name="connsiteY6" fmla="*/ 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77733" h="2286000">
                  <a:moveTo>
                    <a:pt x="0" y="2286000"/>
                  </a:moveTo>
                  <a:cubicBezTo>
                    <a:pt x="401461" y="2209800"/>
                    <a:pt x="644419" y="2145713"/>
                    <a:pt x="906203" y="2000300"/>
                  </a:cubicBezTo>
                  <a:cubicBezTo>
                    <a:pt x="1167987" y="1854887"/>
                    <a:pt x="1343280" y="1629714"/>
                    <a:pt x="1570703" y="1413522"/>
                  </a:cubicBezTo>
                  <a:cubicBezTo>
                    <a:pt x="1798126" y="1197330"/>
                    <a:pt x="2058482" y="894437"/>
                    <a:pt x="2270742" y="703146"/>
                  </a:cubicBezTo>
                  <a:cubicBezTo>
                    <a:pt x="2483002" y="511855"/>
                    <a:pt x="2576430" y="382964"/>
                    <a:pt x="2844262" y="265773"/>
                  </a:cubicBezTo>
                  <a:cubicBezTo>
                    <a:pt x="3112094" y="148582"/>
                    <a:pt x="3877733" y="0"/>
                    <a:pt x="3877733" y="0"/>
                  </a:cubicBezTo>
                  <a:lnTo>
                    <a:pt x="3877733" y="0"/>
                  </a:lnTo>
                </a:path>
              </a:pathLst>
            </a:cu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cxnSp>
          <p:nvCxnSpPr>
            <p:cNvPr id="36" name="Straight Connector 35">
              <a:extLst>
                <a:ext uri="{FF2B5EF4-FFF2-40B4-BE49-F238E27FC236}">
                  <a16:creationId xmlns:a16="http://schemas.microsoft.com/office/drawing/2014/main" id="{BB945722-014D-0AE7-F01E-3B6503C2D6D4}"/>
                </a:ext>
              </a:extLst>
            </p:cNvPr>
            <p:cNvCxnSpPr>
              <a:cxnSpLocks/>
            </p:cNvCxnSpPr>
            <p:nvPr/>
          </p:nvCxnSpPr>
          <p:spPr>
            <a:xfrm>
              <a:off x="8519558" y="3353019"/>
              <a:ext cx="0" cy="1438921"/>
            </a:xfrm>
            <a:prstGeom prst="line">
              <a:avLst/>
            </a:prstGeom>
            <a:ln w="28575">
              <a:solidFill>
                <a:schemeClr val="accent6"/>
              </a:solidFill>
              <a:prstDash val="dash"/>
            </a:ln>
          </p:spPr>
          <p:style>
            <a:lnRef idx="2">
              <a:schemeClr val="accent1"/>
            </a:lnRef>
            <a:fillRef idx="0">
              <a:schemeClr val="accent1"/>
            </a:fillRef>
            <a:effectRef idx="1">
              <a:schemeClr val="accent1"/>
            </a:effectRef>
            <a:fontRef idx="minor">
              <a:schemeClr val="tx1"/>
            </a:fontRef>
          </p:style>
        </p:cxnSp>
        <p:sp>
          <p:nvSpPr>
            <p:cNvPr id="37" name="Right Brace 36">
              <a:extLst>
                <a:ext uri="{FF2B5EF4-FFF2-40B4-BE49-F238E27FC236}">
                  <a16:creationId xmlns:a16="http://schemas.microsoft.com/office/drawing/2014/main" id="{A5A3A9AE-6A29-A625-67FA-727C440A7D01}"/>
                </a:ext>
              </a:extLst>
            </p:cNvPr>
            <p:cNvSpPr/>
            <p:nvPr/>
          </p:nvSpPr>
          <p:spPr>
            <a:xfrm rot="16200000">
              <a:off x="7465293" y="673801"/>
              <a:ext cx="318779" cy="98381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CC100461-381C-C0D4-D975-FB9065995B21}"/>
                </a:ext>
              </a:extLst>
            </p:cNvPr>
            <p:cNvSpPr txBox="1"/>
            <p:nvPr/>
          </p:nvSpPr>
          <p:spPr>
            <a:xfrm>
              <a:off x="7116379" y="619810"/>
              <a:ext cx="1178854" cy="461665"/>
            </a:xfrm>
            <a:prstGeom prst="rect">
              <a:avLst/>
            </a:prstGeom>
            <a:noFill/>
          </p:spPr>
          <p:txBody>
            <a:bodyPr wrap="square" rtlCol="0">
              <a:spAutoFit/>
            </a:bodyPr>
            <a:lstStyle/>
            <a:p>
              <a:pPr algn="r"/>
              <a:r>
                <a:rPr lang="en-US" sz="1200" b="1"/>
                <a:t>~Therapeutic Range</a:t>
              </a:r>
            </a:p>
          </p:txBody>
        </p:sp>
        <p:cxnSp>
          <p:nvCxnSpPr>
            <p:cNvPr id="39" name="Straight Connector 38">
              <a:extLst>
                <a:ext uri="{FF2B5EF4-FFF2-40B4-BE49-F238E27FC236}">
                  <a16:creationId xmlns:a16="http://schemas.microsoft.com/office/drawing/2014/main" id="{286B43ED-A82F-DB9F-4F96-B5BB03350925}"/>
                </a:ext>
              </a:extLst>
            </p:cNvPr>
            <p:cNvCxnSpPr>
              <a:cxnSpLocks/>
            </p:cNvCxnSpPr>
            <p:nvPr/>
          </p:nvCxnSpPr>
          <p:spPr>
            <a:xfrm>
              <a:off x="7116379" y="3445973"/>
              <a:ext cx="3547" cy="1388293"/>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247FB2C1-2B99-9D9F-7905-DBE0DD285A4D}"/>
                </a:ext>
              </a:extLst>
            </p:cNvPr>
            <p:cNvSpPr txBox="1"/>
            <p:nvPr/>
          </p:nvSpPr>
          <p:spPr>
            <a:xfrm>
              <a:off x="6171102" y="3117527"/>
              <a:ext cx="1482985" cy="523220"/>
            </a:xfrm>
            <a:prstGeom prst="rect">
              <a:avLst/>
            </a:prstGeom>
            <a:noFill/>
          </p:spPr>
          <p:txBody>
            <a:bodyPr wrap="square" rtlCol="0">
              <a:spAutoFit/>
            </a:bodyPr>
            <a:lstStyle/>
            <a:p>
              <a:r>
                <a:rPr lang="en-US" sz="1400" b="1">
                  <a:solidFill>
                    <a:srgbClr val="C00000"/>
                  </a:solidFill>
                </a:rPr>
                <a:t>Non-supportive NOAEL</a:t>
              </a:r>
            </a:p>
          </p:txBody>
        </p:sp>
      </p:grpSp>
      <p:sp>
        <p:nvSpPr>
          <p:cNvPr id="47" name="Slide Number Placeholder 46">
            <a:extLst>
              <a:ext uri="{FF2B5EF4-FFF2-40B4-BE49-F238E27FC236}">
                <a16:creationId xmlns:a16="http://schemas.microsoft.com/office/drawing/2014/main" id="{527894FA-1AED-DA82-A52C-5059E81EC258}"/>
              </a:ext>
            </a:extLst>
          </p:cNvPr>
          <p:cNvSpPr>
            <a:spLocks noGrp="1"/>
          </p:cNvSpPr>
          <p:nvPr>
            <p:ph type="sldNum" sz="quarter" idx="12"/>
          </p:nvPr>
        </p:nvSpPr>
        <p:spPr/>
        <p:txBody>
          <a:bodyPr/>
          <a:lstStyle/>
          <a:p>
            <a:fld id="{8C9BEE26-CBC9-D24B-B62C-3600B65D4342}" type="slidenum">
              <a:rPr lang="en-US" smtClean="0"/>
              <a:t>90</a:t>
            </a:fld>
            <a:endParaRPr lang="en-US"/>
          </a:p>
        </p:txBody>
      </p:sp>
    </p:spTree>
    <p:extLst>
      <p:ext uri="{BB962C8B-B14F-4D97-AF65-F5344CB8AC3E}">
        <p14:creationId xmlns:p14="http://schemas.microsoft.com/office/powerpoint/2010/main" val="10839761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185F2-9ACE-70E5-F6B1-DFE5BAD8C06B}"/>
              </a:ext>
            </a:extLst>
          </p:cNvPr>
          <p:cNvSpPr>
            <a:spLocks noGrp="1"/>
          </p:cNvSpPr>
          <p:nvPr>
            <p:ph type="title"/>
          </p:nvPr>
        </p:nvSpPr>
        <p:spPr>
          <a:xfrm>
            <a:off x="1784405" y="480824"/>
            <a:ext cx="8297850" cy="453858"/>
          </a:xfrm>
        </p:spPr>
        <p:txBody>
          <a:bodyPr>
            <a:noAutofit/>
          </a:bodyPr>
          <a:lstStyle/>
          <a:p>
            <a:r>
              <a:rPr lang="en-US" sz="3600"/>
              <a:t>Some challenges with a poorly defined </a:t>
            </a:r>
            <a:r>
              <a:rPr lang="en-US" sz="3600" err="1"/>
              <a:t>MoA</a:t>
            </a:r>
            <a:endParaRPr lang="en-US" sz="3600"/>
          </a:p>
        </p:txBody>
      </p:sp>
      <p:sp>
        <p:nvSpPr>
          <p:cNvPr id="4" name="TextBox 3">
            <a:extLst>
              <a:ext uri="{FF2B5EF4-FFF2-40B4-BE49-F238E27FC236}">
                <a16:creationId xmlns:a16="http://schemas.microsoft.com/office/drawing/2014/main" id="{BB42D53B-89F8-2ED9-85C2-9E88CE2BECB9}"/>
              </a:ext>
            </a:extLst>
          </p:cNvPr>
          <p:cNvSpPr txBox="1"/>
          <p:nvPr/>
        </p:nvSpPr>
        <p:spPr>
          <a:xfrm>
            <a:off x="628153" y="1304014"/>
            <a:ext cx="10853530" cy="1477328"/>
          </a:xfrm>
          <a:prstGeom prst="rect">
            <a:avLst/>
          </a:prstGeom>
          <a:noFill/>
        </p:spPr>
        <p:txBody>
          <a:bodyPr wrap="square" rtlCol="0">
            <a:spAutoFit/>
          </a:bodyPr>
          <a:lstStyle/>
          <a:p>
            <a:r>
              <a:rPr lang="en-US"/>
              <a:t>‘</a:t>
            </a:r>
            <a:r>
              <a:rPr lang="en-US" i="1"/>
              <a:t>FDA’s nonclinical reviewers regulate on toxicology, not pharmacology</a:t>
            </a:r>
            <a:r>
              <a:rPr lang="en-US"/>
              <a:t>’…. this is partially true but an overgeneralization</a:t>
            </a:r>
          </a:p>
          <a:p>
            <a:endParaRPr lang="en-US"/>
          </a:p>
          <a:p>
            <a:r>
              <a:rPr lang="en-US"/>
              <a:t>GLP Toxicology data can define key toxicological thresholds that in most cases provides a ‘reasonably safe’ basis to initiate clinical trials, even if a drug’s mode of action is poorly defined. (21 CFR 312.23(a)(8)).</a:t>
            </a:r>
          </a:p>
        </p:txBody>
      </p:sp>
      <p:sp>
        <p:nvSpPr>
          <p:cNvPr id="14" name="TextBox 13">
            <a:extLst>
              <a:ext uri="{FF2B5EF4-FFF2-40B4-BE49-F238E27FC236}">
                <a16:creationId xmlns:a16="http://schemas.microsoft.com/office/drawing/2014/main" id="{7D48FA1E-44F1-2620-CF2C-5B4FEA173BCE}"/>
              </a:ext>
            </a:extLst>
          </p:cNvPr>
          <p:cNvSpPr txBox="1"/>
          <p:nvPr/>
        </p:nvSpPr>
        <p:spPr>
          <a:xfrm>
            <a:off x="544000" y="3059668"/>
            <a:ext cx="9403082" cy="400110"/>
          </a:xfrm>
          <a:prstGeom prst="rect">
            <a:avLst/>
          </a:prstGeom>
          <a:noFill/>
        </p:spPr>
        <p:txBody>
          <a:bodyPr wrap="square">
            <a:spAutoFit/>
          </a:bodyPr>
          <a:lstStyle/>
          <a:p>
            <a:r>
              <a:rPr lang="en-US" sz="2000"/>
              <a:t>However, poorly defined </a:t>
            </a:r>
            <a:r>
              <a:rPr lang="en-US" sz="2000" err="1"/>
              <a:t>MoA</a:t>
            </a:r>
            <a:r>
              <a:rPr lang="en-US" sz="2000"/>
              <a:t> raises several challenges for nonclinical programs:</a:t>
            </a:r>
          </a:p>
        </p:txBody>
      </p:sp>
      <p:sp>
        <p:nvSpPr>
          <p:cNvPr id="16" name="TextBox 15">
            <a:extLst>
              <a:ext uri="{FF2B5EF4-FFF2-40B4-BE49-F238E27FC236}">
                <a16:creationId xmlns:a16="http://schemas.microsoft.com/office/drawing/2014/main" id="{B26E85E9-0077-2B4E-6F34-83F287B2AF6F}"/>
              </a:ext>
            </a:extLst>
          </p:cNvPr>
          <p:cNvSpPr txBox="1"/>
          <p:nvPr/>
        </p:nvSpPr>
        <p:spPr>
          <a:xfrm>
            <a:off x="1232450" y="3429000"/>
            <a:ext cx="10654749" cy="923330"/>
          </a:xfrm>
          <a:prstGeom prst="rect">
            <a:avLst/>
          </a:prstGeom>
          <a:noFill/>
        </p:spPr>
        <p:txBody>
          <a:bodyPr wrap="square">
            <a:spAutoFit/>
          </a:bodyPr>
          <a:lstStyle/>
          <a:p>
            <a:pPr marL="285750" indent="-285750">
              <a:buFont typeface="Arial" panose="020B0604020202020204" pitchFamily="34" charset="0"/>
              <a:buChar char="•"/>
            </a:pPr>
            <a:r>
              <a:rPr lang="en-US"/>
              <a:t>Identifying an efficacious dose to support trials in pediatric and advanced cancer patient populations</a:t>
            </a:r>
          </a:p>
          <a:p>
            <a:pPr marL="285750" indent="-285750">
              <a:buFont typeface="Arial" panose="020B0604020202020204" pitchFamily="34" charset="0"/>
              <a:buChar char="•"/>
            </a:pPr>
            <a:r>
              <a:rPr lang="en-US"/>
              <a:t>Interpreting toxicity data as on- or off-target events, or as human relevant/irrelevant events</a:t>
            </a:r>
          </a:p>
          <a:p>
            <a:pPr marL="285750" indent="-285750">
              <a:buFont typeface="Arial" panose="020B0604020202020204" pitchFamily="34" charset="0"/>
              <a:buChar char="•"/>
            </a:pPr>
            <a:r>
              <a:rPr lang="en-US"/>
              <a:t>Assessing </a:t>
            </a:r>
            <a:r>
              <a:rPr lang="en-US" err="1"/>
              <a:t>WoE</a:t>
            </a:r>
            <a:r>
              <a:rPr lang="en-US"/>
              <a:t> endpoints where </a:t>
            </a:r>
            <a:r>
              <a:rPr lang="en-US" err="1"/>
              <a:t>MoA</a:t>
            </a:r>
            <a:r>
              <a:rPr lang="en-US"/>
              <a:t> is a primary factor (e.g., carcinogenicity, DART, Immunotoxicity)</a:t>
            </a:r>
          </a:p>
        </p:txBody>
      </p:sp>
      <p:sp>
        <p:nvSpPr>
          <p:cNvPr id="17" name="TextBox 16">
            <a:extLst>
              <a:ext uri="{FF2B5EF4-FFF2-40B4-BE49-F238E27FC236}">
                <a16:creationId xmlns:a16="http://schemas.microsoft.com/office/drawing/2014/main" id="{58F3F6FB-6227-B5D3-C0D1-7A5C14CD2645}"/>
              </a:ext>
            </a:extLst>
          </p:cNvPr>
          <p:cNvSpPr txBox="1"/>
          <p:nvPr/>
        </p:nvSpPr>
        <p:spPr>
          <a:xfrm>
            <a:off x="628152" y="4630656"/>
            <a:ext cx="8788446" cy="400110"/>
          </a:xfrm>
          <a:prstGeom prst="rect">
            <a:avLst/>
          </a:prstGeom>
          <a:noFill/>
        </p:spPr>
        <p:txBody>
          <a:bodyPr wrap="square" rtlCol="0">
            <a:spAutoFit/>
          </a:bodyPr>
          <a:lstStyle/>
          <a:p>
            <a:r>
              <a:rPr lang="en-US" sz="2000"/>
              <a:t>FDA’s nonclinical reviewers move to empirical assessment of safety:</a:t>
            </a:r>
          </a:p>
        </p:txBody>
      </p:sp>
      <p:sp>
        <p:nvSpPr>
          <p:cNvPr id="18" name="TextBox 17">
            <a:extLst>
              <a:ext uri="{FF2B5EF4-FFF2-40B4-BE49-F238E27FC236}">
                <a16:creationId xmlns:a16="http://schemas.microsoft.com/office/drawing/2014/main" id="{7D10B84F-77B6-0FC0-E1FD-FB6EFD7FC543}"/>
              </a:ext>
            </a:extLst>
          </p:cNvPr>
          <p:cNvSpPr txBox="1"/>
          <p:nvPr/>
        </p:nvSpPr>
        <p:spPr>
          <a:xfrm>
            <a:off x="1392504" y="4999988"/>
            <a:ext cx="9886361" cy="923330"/>
          </a:xfrm>
          <a:prstGeom prst="rect">
            <a:avLst/>
          </a:prstGeom>
          <a:noFill/>
        </p:spPr>
        <p:txBody>
          <a:bodyPr wrap="none" rtlCol="0">
            <a:spAutoFit/>
          </a:bodyPr>
          <a:lstStyle/>
          <a:p>
            <a:pPr marL="285750" indent="-285750">
              <a:buFont typeface="Arial" panose="020B0604020202020204" pitchFamily="34" charset="0"/>
              <a:buChar char="•"/>
            </a:pPr>
            <a:r>
              <a:rPr lang="en-US"/>
              <a:t>Conservatively assume observed toxicities are human-relevant unless otherwise demonstrated</a:t>
            </a:r>
          </a:p>
          <a:p>
            <a:pPr marL="285750" indent="-285750">
              <a:buFont typeface="Arial" panose="020B0604020202020204" pitchFamily="34" charset="0"/>
              <a:buChar char="•"/>
            </a:pPr>
            <a:r>
              <a:rPr lang="en-US"/>
              <a:t>Apply conservative safety margins scaled to NOAEL-defining toxicities</a:t>
            </a:r>
          </a:p>
          <a:p>
            <a:pPr marL="285750" indent="-285750">
              <a:buFont typeface="Arial" panose="020B0604020202020204" pitchFamily="34" charset="0"/>
              <a:buChar char="•"/>
            </a:pPr>
            <a:r>
              <a:rPr lang="en-US"/>
              <a:t>Expectation for extensive secondary screens and ’complete’ batteries of toxicology studies</a:t>
            </a:r>
          </a:p>
        </p:txBody>
      </p:sp>
      <p:sp>
        <p:nvSpPr>
          <p:cNvPr id="19" name="Slide Number Placeholder 18">
            <a:extLst>
              <a:ext uri="{FF2B5EF4-FFF2-40B4-BE49-F238E27FC236}">
                <a16:creationId xmlns:a16="http://schemas.microsoft.com/office/drawing/2014/main" id="{5B1A965A-DFAF-C186-FA0A-2CACBE2C70EA}"/>
              </a:ext>
            </a:extLst>
          </p:cNvPr>
          <p:cNvSpPr>
            <a:spLocks noGrp="1"/>
          </p:cNvSpPr>
          <p:nvPr>
            <p:ph type="sldNum" sz="quarter" idx="12"/>
          </p:nvPr>
        </p:nvSpPr>
        <p:spPr/>
        <p:txBody>
          <a:bodyPr/>
          <a:lstStyle/>
          <a:p>
            <a:fld id="{8C9BEE26-CBC9-D24B-B62C-3600B65D4342}" type="slidenum">
              <a:rPr lang="en-US" smtClean="0"/>
              <a:t>91</a:t>
            </a:fld>
            <a:endParaRPr lang="en-US"/>
          </a:p>
        </p:txBody>
      </p:sp>
    </p:spTree>
    <p:extLst>
      <p:ext uri="{BB962C8B-B14F-4D97-AF65-F5344CB8AC3E}">
        <p14:creationId xmlns:p14="http://schemas.microsoft.com/office/powerpoint/2010/main" val="36575596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4038-FA0A-1E86-DE05-2584AC067F12}"/>
              </a:ext>
            </a:extLst>
          </p:cNvPr>
          <p:cNvSpPr>
            <a:spLocks noGrp="1"/>
          </p:cNvSpPr>
          <p:nvPr>
            <p:ph type="title"/>
          </p:nvPr>
        </p:nvSpPr>
        <p:spPr/>
        <p:txBody>
          <a:bodyPr>
            <a:normAutofit/>
          </a:bodyPr>
          <a:lstStyle/>
          <a:p>
            <a:r>
              <a:rPr lang="en-US" sz="3600"/>
              <a:t>Strengthening program when MOA Is Poorly Defined</a:t>
            </a:r>
          </a:p>
        </p:txBody>
      </p:sp>
      <p:sp>
        <p:nvSpPr>
          <p:cNvPr id="4" name="TextBox 3">
            <a:extLst>
              <a:ext uri="{FF2B5EF4-FFF2-40B4-BE49-F238E27FC236}">
                <a16:creationId xmlns:a16="http://schemas.microsoft.com/office/drawing/2014/main" id="{4C76A2FB-1F73-7B9D-248C-38E326FE11B7}"/>
              </a:ext>
            </a:extLst>
          </p:cNvPr>
          <p:cNvSpPr txBox="1"/>
          <p:nvPr/>
        </p:nvSpPr>
        <p:spPr>
          <a:xfrm>
            <a:off x="1203629" y="1720840"/>
            <a:ext cx="10150171" cy="3416320"/>
          </a:xfrm>
          <a:prstGeom prst="rect">
            <a:avLst/>
          </a:prstGeom>
          <a:noFill/>
        </p:spPr>
        <p:txBody>
          <a:bodyPr wrap="square" rtlCol="0">
            <a:spAutoFit/>
          </a:bodyPr>
          <a:lstStyle/>
          <a:p>
            <a:pPr marL="342900" indent="-342900">
              <a:buFont typeface="Wingdings" pitchFamily="2" charset="2"/>
              <a:buChar char="Ø"/>
            </a:pPr>
            <a:r>
              <a:rPr lang="en-US" sz="2400"/>
              <a:t>Clearly identify toxicity thresholds and demonstrate robust relation between exposure and toxicity</a:t>
            </a:r>
          </a:p>
          <a:p>
            <a:pPr marL="342900" indent="-342900">
              <a:buFont typeface="Wingdings" pitchFamily="2" charset="2"/>
              <a:buChar char="Ø"/>
            </a:pPr>
            <a:r>
              <a:rPr lang="en-US" sz="2400"/>
              <a:t>Provide broad secondary pharmacology profiling beyond Bowes 44</a:t>
            </a:r>
          </a:p>
          <a:p>
            <a:pPr marL="342900" indent="-342900">
              <a:buFont typeface="Wingdings" pitchFamily="2" charset="2"/>
              <a:buChar char="Ø"/>
            </a:pPr>
            <a:r>
              <a:rPr lang="en-US" sz="2400"/>
              <a:t>Consider human-based NAMs directed by toxicities observed in rodents/non-rodents to aid translation</a:t>
            </a:r>
          </a:p>
          <a:p>
            <a:pPr marL="342900" indent="-342900">
              <a:buFont typeface="Wingdings" pitchFamily="2" charset="2"/>
              <a:buChar char="Ø"/>
            </a:pPr>
            <a:r>
              <a:rPr lang="en-US" sz="2400"/>
              <a:t>Identify biomarkers that reasonably correlate with target engagement or track with an observed toxicity</a:t>
            </a:r>
          </a:p>
          <a:p>
            <a:pPr marL="342900" indent="-342900">
              <a:buFont typeface="Wingdings" pitchFamily="2" charset="2"/>
              <a:buChar char="Ø"/>
            </a:pPr>
            <a:r>
              <a:rPr lang="en-US" sz="2400"/>
              <a:t>Introduce conservative elements into clinical protocols (e.g., small dose escalations, sentinel dosing, </a:t>
            </a:r>
            <a:r>
              <a:rPr lang="en-US" sz="2400" err="1"/>
              <a:t>etc</a:t>
            </a:r>
            <a:r>
              <a:rPr lang="en-US" sz="2400"/>
              <a:t>)</a:t>
            </a:r>
          </a:p>
        </p:txBody>
      </p:sp>
      <p:sp>
        <p:nvSpPr>
          <p:cNvPr id="5" name="TextBox 4">
            <a:extLst>
              <a:ext uri="{FF2B5EF4-FFF2-40B4-BE49-F238E27FC236}">
                <a16:creationId xmlns:a16="http://schemas.microsoft.com/office/drawing/2014/main" id="{2EE3CF02-6037-2700-8B98-097EC92E73AA}"/>
              </a:ext>
            </a:extLst>
          </p:cNvPr>
          <p:cNvSpPr txBox="1"/>
          <p:nvPr/>
        </p:nvSpPr>
        <p:spPr>
          <a:xfrm>
            <a:off x="5454596" y="5828305"/>
            <a:ext cx="6082050" cy="369332"/>
          </a:xfrm>
          <a:prstGeom prst="rect">
            <a:avLst/>
          </a:prstGeom>
          <a:noFill/>
        </p:spPr>
        <p:txBody>
          <a:bodyPr wrap="none" rtlCol="0">
            <a:spAutoFit/>
          </a:bodyPr>
          <a:lstStyle/>
          <a:p>
            <a:r>
              <a:rPr lang="en-US"/>
              <a:t>FDA reviews of WR &amp; PREA assessments publicly available</a:t>
            </a:r>
          </a:p>
        </p:txBody>
      </p:sp>
      <p:sp>
        <p:nvSpPr>
          <p:cNvPr id="7" name="TextBox 6">
            <a:extLst>
              <a:ext uri="{FF2B5EF4-FFF2-40B4-BE49-F238E27FC236}">
                <a16:creationId xmlns:a16="http://schemas.microsoft.com/office/drawing/2014/main" id="{890B2223-F220-034A-6697-5CBC0C5CAEEC}"/>
              </a:ext>
            </a:extLst>
          </p:cNvPr>
          <p:cNvSpPr txBox="1"/>
          <p:nvPr/>
        </p:nvSpPr>
        <p:spPr>
          <a:xfrm>
            <a:off x="5454596" y="6160151"/>
            <a:ext cx="1968644" cy="369332"/>
          </a:xfrm>
          <a:prstGeom prst="rect">
            <a:avLst/>
          </a:prstGeom>
          <a:noFill/>
        </p:spPr>
        <p:txBody>
          <a:bodyPr wrap="square">
            <a:spAutoFit/>
          </a:bodyPr>
          <a:lstStyle/>
          <a:p>
            <a:r>
              <a:rPr lang="en-US">
                <a:hlinkClick r:id="rId2"/>
              </a:rPr>
              <a:t>WR-PREA Access</a:t>
            </a:r>
            <a:endParaRPr lang="en-US"/>
          </a:p>
        </p:txBody>
      </p:sp>
      <p:sp>
        <p:nvSpPr>
          <p:cNvPr id="8" name="Slide Number Placeholder 7">
            <a:extLst>
              <a:ext uri="{FF2B5EF4-FFF2-40B4-BE49-F238E27FC236}">
                <a16:creationId xmlns:a16="http://schemas.microsoft.com/office/drawing/2014/main" id="{96CFEB6A-18EB-2C8E-E73C-3A26CC82B2A6}"/>
              </a:ext>
            </a:extLst>
          </p:cNvPr>
          <p:cNvSpPr>
            <a:spLocks noGrp="1"/>
          </p:cNvSpPr>
          <p:nvPr>
            <p:ph type="sldNum" sz="quarter" idx="12"/>
          </p:nvPr>
        </p:nvSpPr>
        <p:spPr/>
        <p:txBody>
          <a:bodyPr/>
          <a:lstStyle/>
          <a:p>
            <a:fld id="{8C9BEE26-CBC9-D24B-B62C-3600B65D4342}" type="slidenum">
              <a:rPr lang="en-US" smtClean="0"/>
              <a:t>92</a:t>
            </a:fld>
            <a:endParaRPr lang="en-US"/>
          </a:p>
        </p:txBody>
      </p:sp>
    </p:spTree>
    <p:extLst>
      <p:ext uri="{BB962C8B-B14F-4D97-AF65-F5344CB8AC3E}">
        <p14:creationId xmlns:p14="http://schemas.microsoft.com/office/powerpoint/2010/main" val="15014757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74E5E5-B557-D1D0-1CFC-1E043A20BC78}"/>
              </a:ext>
            </a:extLst>
          </p:cNvPr>
          <p:cNvSpPr>
            <a:spLocks noGrp="1"/>
          </p:cNvSpPr>
          <p:nvPr>
            <p:ph type="title"/>
          </p:nvPr>
        </p:nvSpPr>
        <p:spPr>
          <a:xfrm>
            <a:off x="499533" y="1745191"/>
            <a:ext cx="8043334" cy="2936875"/>
          </a:xfrm>
        </p:spPr>
        <p:txBody>
          <a:bodyPr anchor="ctr">
            <a:normAutofit fontScale="90000"/>
          </a:bodyPr>
          <a:lstStyle/>
          <a:p>
            <a:pPr marL="0" indent="0">
              <a:buNone/>
            </a:pPr>
            <a:r>
              <a:rPr lang="en-US" sz="5400"/>
              <a:t>Topic 3:</a:t>
            </a:r>
            <a:br>
              <a:rPr lang="en-US" sz="5400"/>
            </a:br>
            <a:r>
              <a:rPr lang="en-US" sz="5400"/>
              <a:t>Weighing Efficiencies and Flexibilities in Toxicology Programs</a:t>
            </a:r>
          </a:p>
        </p:txBody>
      </p:sp>
      <p:pic>
        <p:nvPicPr>
          <p:cNvPr id="18" name="Picture 17" descr="A person standing in a crossroad with different directions&#10;&#10;AI-generated content may be incorrect.">
            <a:extLst>
              <a:ext uri="{FF2B5EF4-FFF2-40B4-BE49-F238E27FC236}">
                <a16:creationId xmlns:a16="http://schemas.microsoft.com/office/drawing/2014/main" id="{E2CA2943-3B26-71FF-6218-59919309CE00}"/>
              </a:ext>
            </a:extLst>
          </p:cNvPr>
          <p:cNvPicPr>
            <a:picLocks noChangeAspect="1"/>
          </p:cNvPicPr>
          <p:nvPr/>
        </p:nvPicPr>
        <p:blipFill>
          <a:blip r:embed="rId2"/>
          <a:stretch>
            <a:fillRect/>
          </a:stretch>
        </p:blipFill>
        <p:spPr>
          <a:xfrm>
            <a:off x="7425266" y="2322688"/>
            <a:ext cx="4542367" cy="3028245"/>
          </a:xfrm>
          <a:prstGeom prst="rect">
            <a:avLst/>
          </a:prstGeom>
        </p:spPr>
      </p:pic>
      <p:sp>
        <p:nvSpPr>
          <p:cNvPr id="16" name="TextBox 15">
            <a:extLst>
              <a:ext uri="{FF2B5EF4-FFF2-40B4-BE49-F238E27FC236}">
                <a16:creationId xmlns:a16="http://schemas.microsoft.com/office/drawing/2014/main" id="{D8CFE773-7EF5-29D9-75B1-66264591FEAA}"/>
              </a:ext>
            </a:extLst>
          </p:cNvPr>
          <p:cNvSpPr txBox="1"/>
          <p:nvPr/>
        </p:nvSpPr>
        <p:spPr>
          <a:xfrm>
            <a:off x="8913799" y="2248089"/>
            <a:ext cx="1565300" cy="369332"/>
          </a:xfrm>
          <a:prstGeom prst="rect">
            <a:avLst/>
          </a:prstGeom>
          <a:noFill/>
        </p:spPr>
        <p:txBody>
          <a:bodyPr wrap="none" rtlCol="0">
            <a:spAutoFit/>
          </a:bodyPr>
          <a:lstStyle/>
          <a:p>
            <a:r>
              <a:rPr lang="en-US" i="1"/>
              <a:t>NDA Approval</a:t>
            </a:r>
          </a:p>
        </p:txBody>
      </p:sp>
      <p:sp>
        <p:nvSpPr>
          <p:cNvPr id="19" name="Slide Number Placeholder 18">
            <a:extLst>
              <a:ext uri="{FF2B5EF4-FFF2-40B4-BE49-F238E27FC236}">
                <a16:creationId xmlns:a16="http://schemas.microsoft.com/office/drawing/2014/main" id="{D31D7B12-B96E-0402-1255-6518CC873AD4}"/>
              </a:ext>
            </a:extLst>
          </p:cNvPr>
          <p:cNvSpPr>
            <a:spLocks noGrp="1"/>
          </p:cNvSpPr>
          <p:nvPr>
            <p:ph type="sldNum" sz="quarter" idx="12"/>
          </p:nvPr>
        </p:nvSpPr>
        <p:spPr/>
        <p:txBody>
          <a:bodyPr/>
          <a:lstStyle/>
          <a:p>
            <a:fld id="{8C9BEE26-CBC9-D24B-B62C-3600B65D4342}" type="slidenum">
              <a:rPr lang="en-US" smtClean="0"/>
              <a:t>93</a:t>
            </a:fld>
            <a:endParaRPr lang="en-US"/>
          </a:p>
        </p:txBody>
      </p:sp>
    </p:spTree>
    <p:extLst>
      <p:ext uri="{BB962C8B-B14F-4D97-AF65-F5344CB8AC3E}">
        <p14:creationId xmlns:p14="http://schemas.microsoft.com/office/powerpoint/2010/main" val="40170821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64824-3B0B-E072-4A1A-C17A6511C54C}"/>
              </a:ext>
            </a:extLst>
          </p:cNvPr>
          <p:cNvSpPr>
            <a:spLocks noGrp="1"/>
          </p:cNvSpPr>
          <p:nvPr>
            <p:ph type="title"/>
          </p:nvPr>
        </p:nvSpPr>
        <p:spPr>
          <a:xfrm>
            <a:off x="360689" y="116693"/>
            <a:ext cx="10515600" cy="1325563"/>
          </a:xfrm>
        </p:spPr>
        <p:txBody>
          <a:bodyPr>
            <a:normAutofit/>
          </a:bodyPr>
          <a:lstStyle/>
          <a:p>
            <a:r>
              <a:rPr lang="en-US" sz="4000"/>
              <a:t>Regulatory Framework for Nonclinical Programs</a:t>
            </a:r>
          </a:p>
        </p:txBody>
      </p:sp>
      <p:pic>
        <p:nvPicPr>
          <p:cNvPr id="4" name="Picture 3">
            <a:extLst>
              <a:ext uri="{FF2B5EF4-FFF2-40B4-BE49-F238E27FC236}">
                <a16:creationId xmlns:a16="http://schemas.microsoft.com/office/drawing/2014/main" id="{7D36109F-F191-296E-CCAF-4903CB455D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0589" y="1267326"/>
            <a:ext cx="1411400" cy="2249586"/>
          </a:xfrm>
          <a:prstGeom prst="rect">
            <a:avLst/>
          </a:prstGeom>
          <a:noFill/>
          <a:ln w="9525" algn="ctr">
            <a:solidFill>
              <a:schemeClr val="tx1"/>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5" name="Diagram 4">
            <a:extLst>
              <a:ext uri="{FF2B5EF4-FFF2-40B4-BE49-F238E27FC236}">
                <a16:creationId xmlns:a16="http://schemas.microsoft.com/office/drawing/2014/main" id="{BF336F22-CDDB-0A61-F39A-9B47EC9FCB0D}"/>
              </a:ext>
            </a:extLst>
          </p:cNvPr>
          <p:cNvGraphicFramePr/>
          <p:nvPr/>
        </p:nvGraphicFramePr>
        <p:xfrm>
          <a:off x="447001" y="3898630"/>
          <a:ext cx="4750641" cy="4620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6" name="Diagram 5">
            <a:extLst>
              <a:ext uri="{FF2B5EF4-FFF2-40B4-BE49-F238E27FC236}">
                <a16:creationId xmlns:a16="http://schemas.microsoft.com/office/drawing/2014/main" id="{E2C2CB26-DCF6-4BA9-BB74-8EE5010DBDEC}"/>
              </a:ext>
            </a:extLst>
          </p:cNvPr>
          <p:cNvGraphicFramePr/>
          <p:nvPr/>
        </p:nvGraphicFramePr>
        <p:xfrm>
          <a:off x="667582" y="4484396"/>
          <a:ext cx="4950907" cy="36933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7" name="TextBox 3">
            <a:extLst>
              <a:ext uri="{FF2B5EF4-FFF2-40B4-BE49-F238E27FC236}">
                <a16:creationId xmlns:a16="http://schemas.microsoft.com/office/drawing/2014/main" id="{B377258F-886D-5841-91F6-72D6442240B2}"/>
              </a:ext>
            </a:extLst>
          </p:cNvPr>
          <p:cNvSpPr txBox="1">
            <a:spLocks noChangeArrowheads="1"/>
          </p:cNvSpPr>
          <p:nvPr/>
        </p:nvSpPr>
        <p:spPr bwMode="auto">
          <a:xfrm>
            <a:off x="828003" y="4943389"/>
            <a:ext cx="54864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a:spAutoFit/>
          </a:bodyPr>
          <a:lstStyle>
            <a:lvl1pPr>
              <a:spcBef>
                <a:spcPct val="20000"/>
              </a:spcBef>
              <a:buChar char="•"/>
              <a:defRPr sz="2200">
                <a:solidFill>
                  <a:schemeClr val="tx1"/>
                </a:solidFill>
                <a:latin typeface="Cambria" panose="02040503050406030204" pitchFamily="18" charset="0"/>
                <a:ea typeface="+mj-ea"/>
                <a:cs typeface="Arial" panose="020B0604020202020204" pitchFamily="34" charset="0"/>
              </a:defRPr>
            </a:lvl1pPr>
            <a:lvl2pPr marL="742950" indent="-285750">
              <a:spcBef>
                <a:spcPct val="20000"/>
              </a:spcBef>
              <a:buChar char="–"/>
              <a:defRPr sz="2000">
                <a:solidFill>
                  <a:schemeClr val="tx1"/>
                </a:solidFill>
                <a:latin typeface="Cambria" panose="02040503050406030204" pitchFamily="18" charset="0"/>
                <a:ea typeface="+mj-ea"/>
                <a:cs typeface="Arial" panose="020B0604020202020204" pitchFamily="34" charset="0"/>
              </a:defRPr>
            </a:lvl2pPr>
            <a:lvl3pPr marL="1143000" indent="-228600">
              <a:spcBef>
                <a:spcPct val="20000"/>
              </a:spcBef>
              <a:buChar char="•"/>
              <a:defRPr>
                <a:solidFill>
                  <a:schemeClr val="tx1"/>
                </a:solidFill>
                <a:latin typeface="Cambria" panose="02040503050406030204" pitchFamily="18" charset="0"/>
                <a:ea typeface="+mj-ea"/>
                <a:cs typeface="Arial" panose="020B0604020202020204" pitchFamily="34" charset="0"/>
              </a:defRPr>
            </a:lvl3pPr>
            <a:lvl4pPr marL="1600200" indent="-228600">
              <a:spcBef>
                <a:spcPct val="20000"/>
              </a:spcBef>
              <a:buChar char="–"/>
              <a:defRPr sz="1600">
                <a:solidFill>
                  <a:schemeClr val="tx1"/>
                </a:solidFill>
                <a:latin typeface="Cambria" panose="02040503050406030204" pitchFamily="18" charset="0"/>
                <a:ea typeface="+mj-ea"/>
                <a:cs typeface="Arial" panose="020B0604020202020204" pitchFamily="34" charset="0"/>
              </a:defRPr>
            </a:lvl4pPr>
            <a:lvl5pPr marL="2057400" indent="-228600">
              <a:spcBef>
                <a:spcPct val="20000"/>
              </a:spcBef>
              <a:buChar char="»"/>
              <a:defRPr sz="1600">
                <a:solidFill>
                  <a:schemeClr val="tx1"/>
                </a:solidFill>
                <a:latin typeface="Cambria" panose="02040503050406030204" pitchFamily="18" charset="0"/>
                <a:ea typeface="+mj-ea"/>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9pPr>
          </a:lstStyle>
          <a:p>
            <a:pPr>
              <a:spcBef>
                <a:spcPct val="0"/>
              </a:spcBef>
              <a:buFontTx/>
              <a:buNone/>
            </a:pPr>
            <a:r>
              <a:rPr lang="en-US" altLang="en-US" sz="1800" i="1">
                <a:latin typeface="Arial" panose="020B0604020202020204" pitchFamily="34" charset="0"/>
              </a:rPr>
              <a:t>Adequate information about pharmacological and toxicological studies of the drug involving laboratory animals or in vitro, on the basis of which the sponsor has concluded that it is reasonably safe to conduct the proposed clinical investigations. </a:t>
            </a:r>
          </a:p>
        </p:txBody>
      </p:sp>
      <p:sp>
        <p:nvSpPr>
          <p:cNvPr id="10" name="TextBox 6">
            <a:extLst>
              <a:ext uri="{FF2B5EF4-FFF2-40B4-BE49-F238E27FC236}">
                <a16:creationId xmlns:a16="http://schemas.microsoft.com/office/drawing/2014/main" id="{EAFBFC3F-6BBC-E06D-67F0-750E2BD23261}"/>
              </a:ext>
            </a:extLst>
          </p:cNvPr>
          <p:cNvSpPr txBox="1">
            <a:spLocks noChangeArrowheads="1"/>
          </p:cNvSpPr>
          <p:nvPr/>
        </p:nvSpPr>
        <p:spPr bwMode="auto">
          <a:xfrm>
            <a:off x="6632536" y="4559244"/>
            <a:ext cx="5257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a:spAutoFit/>
          </a:bodyPr>
          <a:lstStyle>
            <a:lvl1pPr>
              <a:spcBef>
                <a:spcPct val="20000"/>
              </a:spcBef>
              <a:buChar char="•"/>
              <a:defRPr sz="2200">
                <a:solidFill>
                  <a:schemeClr val="tx1"/>
                </a:solidFill>
                <a:latin typeface="Cambria" panose="02040503050406030204" pitchFamily="18" charset="0"/>
                <a:ea typeface="+mj-ea"/>
                <a:cs typeface="Arial" panose="020B0604020202020204" pitchFamily="34" charset="0"/>
              </a:defRPr>
            </a:lvl1pPr>
            <a:lvl2pPr marL="742950" indent="-285750">
              <a:spcBef>
                <a:spcPct val="20000"/>
              </a:spcBef>
              <a:buChar char="–"/>
              <a:defRPr sz="2000">
                <a:solidFill>
                  <a:schemeClr val="tx1"/>
                </a:solidFill>
                <a:latin typeface="Cambria" panose="02040503050406030204" pitchFamily="18" charset="0"/>
                <a:ea typeface="+mj-ea"/>
                <a:cs typeface="Arial" panose="020B0604020202020204" pitchFamily="34" charset="0"/>
              </a:defRPr>
            </a:lvl2pPr>
            <a:lvl3pPr marL="1143000" indent="-228600">
              <a:spcBef>
                <a:spcPct val="20000"/>
              </a:spcBef>
              <a:buChar char="•"/>
              <a:defRPr>
                <a:solidFill>
                  <a:schemeClr val="tx1"/>
                </a:solidFill>
                <a:latin typeface="Cambria" panose="02040503050406030204" pitchFamily="18" charset="0"/>
                <a:ea typeface="+mj-ea"/>
                <a:cs typeface="Arial" panose="020B0604020202020204" pitchFamily="34" charset="0"/>
              </a:defRPr>
            </a:lvl3pPr>
            <a:lvl4pPr marL="1600200" indent="-228600">
              <a:spcBef>
                <a:spcPct val="20000"/>
              </a:spcBef>
              <a:buChar char="–"/>
              <a:defRPr sz="1600">
                <a:solidFill>
                  <a:schemeClr val="tx1"/>
                </a:solidFill>
                <a:latin typeface="Cambria" panose="02040503050406030204" pitchFamily="18" charset="0"/>
                <a:ea typeface="+mj-ea"/>
                <a:cs typeface="Arial" panose="020B0604020202020204" pitchFamily="34" charset="0"/>
              </a:defRPr>
            </a:lvl4pPr>
            <a:lvl5pPr marL="2057400" indent="-228600">
              <a:spcBef>
                <a:spcPct val="20000"/>
              </a:spcBef>
              <a:buChar char="»"/>
              <a:defRPr sz="1600">
                <a:solidFill>
                  <a:schemeClr val="tx1"/>
                </a:solidFill>
                <a:latin typeface="Cambria" panose="02040503050406030204" pitchFamily="18" charset="0"/>
                <a:ea typeface="+mj-ea"/>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9pPr>
          </a:lstStyle>
          <a:p>
            <a:pPr>
              <a:spcBef>
                <a:spcPct val="0"/>
              </a:spcBef>
              <a:buFontTx/>
              <a:buNone/>
            </a:pPr>
            <a:r>
              <a:rPr lang="en-US" altLang="en-US" sz="1800" b="1" i="1">
                <a:latin typeface="Arial" panose="020B0604020202020204" pitchFamily="34" charset="0"/>
              </a:rPr>
              <a:t>Depending on nature of the drug and phase of investigation: </a:t>
            </a:r>
          </a:p>
        </p:txBody>
      </p:sp>
      <p:sp>
        <p:nvSpPr>
          <p:cNvPr id="11" name="TextBox 8">
            <a:extLst>
              <a:ext uri="{FF2B5EF4-FFF2-40B4-BE49-F238E27FC236}">
                <a16:creationId xmlns:a16="http://schemas.microsoft.com/office/drawing/2014/main" id="{F5781516-47BD-E06A-9305-9E6952236332}"/>
              </a:ext>
            </a:extLst>
          </p:cNvPr>
          <p:cNvSpPr txBox="1">
            <a:spLocks noChangeArrowheads="1"/>
          </p:cNvSpPr>
          <p:nvPr/>
        </p:nvSpPr>
        <p:spPr bwMode="auto">
          <a:xfrm>
            <a:off x="6632536" y="5220388"/>
            <a:ext cx="519244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wrap="none">
            <a:spAutoFit/>
          </a:bodyPr>
          <a:lstStyle>
            <a:lvl1pPr marL="285750" indent="-285750">
              <a:spcBef>
                <a:spcPct val="20000"/>
              </a:spcBef>
              <a:buChar char="•"/>
              <a:defRPr sz="2200">
                <a:solidFill>
                  <a:schemeClr val="tx1"/>
                </a:solidFill>
                <a:latin typeface="Cambria" panose="02040503050406030204" pitchFamily="18" charset="0"/>
                <a:ea typeface="+mj-ea"/>
                <a:cs typeface="Arial" panose="020B0604020202020204" pitchFamily="34" charset="0"/>
              </a:defRPr>
            </a:lvl1pPr>
            <a:lvl2pPr marL="742950" indent="-285750">
              <a:spcBef>
                <a:spcPct val="20000"/>
              </a:spcBef>
              <a:buChar char="–"/>
              <a:defRPr sz="2000">
                <a:solidFill>
                  <a:schemeClr val="tx1"/>
                </a:solidFill>
                <a:latin typeface="Cambria" panose="02040503050406030204" pitchFamily="18" charset="0"/>
                <a:ea typeface="+mj-ea"/>
                <a:cs typeface="Arial" panose="020B0604020202020204" pitchFamily="34" charset="0"/>
              </a:defRPr>
            </a:lvl2pPr>
            <a:lvl3pPr marL="1143000" indent="-228600">
              <a:spcBef>
                <a:spcPct val="20000"/>
              </a:spcBef>
              <a:buChar char="•"/>
              <a:defRPr>
                <a:solidFill>
                  <a:schemeClr val="tx1"/>
                </a:solidFill>
                <a:latin typeface="Cambria" panose="02040503050406030204" pitchFamily="18" charset="0"/>
                <a:ea typeface="+mj-ea"/>
                <a:cs typeface="Arial" panose="020B0604020202020204" pitchFamily="34" charset="0"/>
              </a:defRPr>
            </a:lvl3pPr>
            <a:lvl4pPr marL="1600200" indent="-228600">
              <a:spcBef>
                <a:spcPct val="20000"/>
              </a:spcBef>
              <a:buChar char="–"/>
              <a:defRPr sz="1600">
                <a:solidFill>
                  <a:schemeClr val="tx1"/>
                </a:solidFill>
                <a:latin typeface="Cambria" panose="02040503050406030204" pitchFamily="18" charset="0"/>
                <a:ea typeface="+mj-ea"/>
                <a:cs typeface="Arial" panose="020B0604020202020204" pitchFamily="34" charset="0"/>
              </a:defRPr>
            </a:lvl4pPr>
            <a:lvl5pPr marL="2057400" indent="-228600">
              <a:spcBef>
                <a:spcPct val="20000"/>
              </a:spcBef>
              <a:buChar char="»"/>
              <a:defRPr sz="1600">
                <a:solidFill>
                  <a:schemeClr val="tx1"/>
                </a:solidFill>
                <a:latin typeface="Cambria" panose="02040503050406030204" pitchFamily="18" charset="0"/>
                <a:ea typeface="+mj-ea"/>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Cambria" panose="02040503050406030204" pitchFamily="18" charset="0"/>
                <a:ea typeface="+mj-ea"/>
                <a:cs typeface="Arial" panose="020B0604020202020204" pitchFamily="34" charset="0"/>
              </a:defRPr>
            </a:lvl9pPr>
          </a:lstStyle>
          <a:p>
            <a:pPr>
              <a:spcBef>
                <a:spcPct val="0"/>
              </a:spcBef>
              <a:buFont typeface="Wingdings" pitchFamily="2" charset="2"/>
              <a:buChar char="Ø"/>
            </a:pPr>
            <a:r>
              <a:rPr lang="en-US" altLang="en-US" sz="1800">
                <a:latin typeface="Arial" panose="020B0604020202020204" pitchFamily="34" charset="0"/>
              </a:rPr>
              <a:t>Absorption, distribution, metabolism, excretion</a:t>
            </a:r>
          </a:p>
          <a:p>
            <a:pPr>
              <a:spcBef>
                <a:spcPct val="0"/>
              </a:spcBef>
              <a:buFont typeface="Wingdings" pitchFamily="2" charset="2"/>
              <a:buChar char="Ø"/>
            </a:pPr>
            <a:r>
              <a:rPr lang="en-US" altLang="en-US" sz="1800">
                <a:latin typeface="Arial" panose="020B0604020202020204" pitchFamily="34" charset="0"/>
              </a:rPr>
              <a:t>Acute, subacute, chronic toxicity tests</a:t>
            </a:r>
          </a:p>
          <a:p>
            <a:pPr>
              <a:spcBef>
                <a:spcPct val="0"/>
              </a:spcBef>
              <a:buFont typeface="Wingdings" pitchFamily="2" charset="2"/>
              <a:buChar char="Ø"/>
            </a:pPr>
            <a:r>
              <a:rPr lang="en-US" altLang="en-US" sz="1800">
                <a:latin typeface="Arial" panose="020B0604020202020204" pitchFamily="34" charset="0"/>
              </a:rPr>
              <a:t>Reproduction, fetal development</a:t>
            </a:r>
          </a:p>
          <a:p>
            <a:pPr>
              <a:spcBef>
                <a:spcPct val="0"/>
              </a:spcBef>
              <a:buFont typeface="Wingdings" pitchFamily="2" charset="2"/>
              <a:buChar char="Ø"/>
            </a:pPr>
            <a:r>
              <a:rPr lang="en-US" altLang="en-US" sz="1800">
                <a:latin typeface="Arial" panose="020B0604020202020204" pitchFamily="34" charset="0"/>
              </a:rPr>
              <a:t>Special toxicity, in vitro tests (case-specific)</a:t>
            </a:r>
          </a:p>
        </p:txBody>
      </p:sp>
      <p:graphicFrame>
        <p:nvGraphicFramePr>
          <p:cNvPr id="12" name="Diagram 11">
            <a:extLst>
              <a:ext uri="{FF2B5EF4-FFF2-40B4-BE49-F238E27FC236}">
                <a16:creationId xmlns:a16="http://schemas.microsoft.com/office/drawing/2014/main" id="{60C65F3B-DD27-E40B-D7C4-53B90189A8EF}"/>
              </a:ext>
            </a:extLst>
          </p:cNvPr>
          <p:cNvGraphicFramePr/>
          <p:nvPr/>
        </p:nvGraphicFramePr>
        <p:xfrm>
          <a:off x="6632536" y="4143746"/>
          <a:ext cx="5486400" cy="369332"/>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
        <p:nvSpPr>
          <p:cNvPr id="16" name="Freeform 15">
            <a:extLst>
              <a:ext uri="{FF2B5EF4-FFF2-40B4-BE49-F238E27FC236}">
                <a16:creationId xmlns:a16="http://schemas.microsoft.com/office/drawing/2014/main" id="{E8525947-5F13-0D90-EB77-7CCA73F6C5EF}"/>
              </a:ext>
            </a:extLst>
          </p:cNvPr>
          <p:cNvSpPr/>
          <p:nvPr/>
        </p:nvSpPr>
        <p:spPr>
          <a:xfrm>
            <a:off x="360689" y="1257590"/>
            <a:ext cx="5030147" cy="461848"/>
          </a:xfrm>
          <a:custGeom>
            <a:avLst/>
            <a:gdLst>
              <a:gd name="csX0" fmla="*/ 0 w 4655124"/>
              <a:gd name="csY0" fmla="*/ 68331 h 409975"/>
              <a:gd name="csX1" fmla="*/ 68331 w 4655124"/>
              <a:gd name="csY1" fmla="*/ 0 h 409975"/>
              <a:gd name="csX2" fmla="*/ 4586793 w 4655124"/>
              <a:gd name="csY2" fmla="*/ 0 h 409975"/>
              <a:gd name="csX3" fmla="*/ 4655124 w 4655124"/>
              <a:gd name="csY3" fmla="*/ 68331 h 409975"/>
              <a:gd name="csX4" fmla="*/ 4655124 w 4655124"/>
              <a:gd name="csY4" fmla="*/ 341644 h 409975"/>
              <a:gd name="csX5" fmla="*/ 4586793 w 4655124"/>
              <a:gd name="csY5" fmla="*/ 409975 h 409975"/>
              <a:gd name="csX6" fmla="*/ 68331 w 4655124"/>
              <a:gd name="csY6" fmla="*/ 409975 h 409975"/>
              <a:gd name="csX7" fmla="*/ 0 w 4655124"/>
              <a:gd name="csY7" fmla="*/ 341644 h 409975"/>
              <a:gd name="csX8" fmla="*/ 0 w 4655124"/>
              <a:gd name="csY8" fmla="*/ 68331 h 409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55124" h="409975">
                <a:moveTo>
                  <a:pt x="0" y="68331"/>
                </a:moveTo>
                <a:cubicBezTo>
                  <a:pt x="0" y="30593"/>
                  <a:pt x="30593" y="0"/>
                  <a:pt x="68331" y="0"/>
                </a:cubicBezTo>
                <a:lnTo>
                  <a:pt x="4586793" y="0"/>
                </a:lnTo>
                <a:cubicBezTo>
                  <a:pt x="4624531" y="0"/>
                  <a:pt x="4655124" y="30593"/>
                  <a:pt x="4655124" y="68331"/>
                </a:cubicBezTo>
                <a:lnTo>
                  <a:pt x="4655124" y="341644"/>
                </a:lnTo>
                <a:cubicBezTo>
                  <a:pt x="4655124" y="379382"/>
                  <a:pt x="4624531" y="409975"/>
                  <a:pt x="4586793" y="409975"/>
                </a:cubicBezTo>
                <a:lnTo>
                  <a:pt x="68331" y="409975"/>
                </a:lnTo>
                <a:cubicBezTo>
                  <a:pt x="30593" y="409975"/>
                  <a:pt x="0" y="379382"/>
                  <a:pt x="0" y="341644"/>
                </a:cubicBezTo>
                <a:lnTo>
                  <a:pt x="0" y="68331"/>
                </a:lnTo>
                <a:close/>
              </a:path>
            </a:pathLst>
          </a:custGeom>
        </p:spPr>
        <p:style>
          <a:lnRef idx="0">
            <a:schemeClr val="lt1">
              <a:hueOff val="0"/>
              <a:satOff val="0"/>
              <a:lumOff val="0"/>
              <a:alphaOff val="0"/>
            </a:schemeClr>
          </a:lnRef>
          <a:fillRef idx="3">
            <a:schemeClr val="accent2">
              <a:shade val="50000"/>
              <a:hueOff val="0"/>
              <a:satOff val="0"/>
              <a:lumOff val="0"/>
              <a:alphaOff val="0"/>
            </a:schemeClr>
          </a:fillRef>
          <a:effectRef idx="2">
            <a:schemeClr val="accent2">
              <a:shade val="50000"/>
              <a:hueOff val="0"/>
              <a:satOff val="0"/>
              <a:lumOff val="0"/>
              <a:alphaOff val="0"/>
            </a:schemeClr>
          </a:effectRef>
          <a:fontRef idx="minor">
            <a:schemeClr val="lt1"/>
          </a:fontRef>
        </p:style>
        <p:txBody>
          <a:bodyPr spcFirstLastPara="0" vert="horz" wrap="square" lIns="96213" tIns="96213" rIns="96213" bIns="96213" numCol="1" spcCol="1270" anchor="ctr" anchorCtr="0">
            <a:noAutofit/>
          </a:bodyPr>
          <a:lstStyle/>
          <a:p>
            <a:pPr lvl="0" defTabSz="889000">
              <a:lnSpc>
                <a:spcPct val="90000"/>
              </a:lnSpc>
              <a:spcBef>
                <a:spcPct val="0"/>
              </a:spcBef>
              <a:spcAft>
                <a:spcPct val="35000"/>
              </a:spcAft>
            </a:pPr>
            <a:r>
              <a:rPr lang="en-US" sz="2000" b="1"/>
              <a:t>FD&amp;C ACT, Section 505 [</a:t>
            </a:r>
            <a:r>
              <a:rPr lang="en-US" sz="2000" b="1" kern="1200"/>
              <a:t>21 USC 355(</a:t>
            </a:r>
            <a:r>
              <a:rPr lang="en-US" sz="2000" b="1" kern="1200" err="1"/>
              <a:t>i</a:t>
            </a:r>
            <a:r>
              <a:rPr lang="en-US" sz="2000" b="1" kern="1200"/>
              <a:t>)(1)]</a:t>
            </a:r>
          </a:p>
        </p:txBody>
      </p:sp>
      <p:sp>
        <p:nvSpPr>
          <p:cNvPr id="20" name="TextBox 19">
            <a:extLst>
              <a:ext uri="{FF2B5EF4-FFF2-40B4-BE49-F238E27FC236}">
                <a16:creationId xmlns:a16="http://schemas.microsoft.com/office/drawing/2014/main" id="{B350149F-AA75-BD47-3BD8-F6DDB200905D}"/>
              </a:ext>
            </a:extLst>
          </p:cNvPr>
          <p:cNvSpPr txBox="1"/>
          <p:nvPr/>
        </p:nvSpPr>
        <p:spPr>
          <a:xfrm>
            <a:off x="690500" y="1797648"/>
            <a:ext cx="8574505" cy="923330"/>
          </a:xfrm>
          <a:prstGeom prst="rect">
            <a:avLst/>
          </a:prstGeom>
          <a:noFill/>
        </p:spPr>
        <p:txBody>
          <a:bodyPr wrap="square">
            <a:spAutoFit/>
          </a:bodyPr>
          <a:lstStyle/>
          <a:p>
            <a:r>
              <a:rPr lang="en-US" b="0" i="0" u="none" strike="noStrike">
                <a:solidFill>
                  <a:srgbClr val="000000"/>
                </a:solidFill>
                <a:effectLst/>
                <a:latin typeface="-webkit-standard"/>
              </a:rPr>
              <a:t>(A) the submission to the Secretary, before any clinical testing of a new drug is undertaken, of reports, by the manufacturer or the sponsor of the investigation of such drug, of </a:t>
            </a:r>
            <a:r>
              <a:rPr lang="en-US" b="0" i="1" u="none" strike="noStrike">
                <a:solidFill>
                  <a:srgbClr val="C00000"/>
                </a:solidFill>
                <a:effectLst/>
                <a:latin typeface="-webkit-standard"/>
              </a:rPr>
              <a:t>nonclinical tests </a:t>
            </a:r>
            <a:r>
              <a:rPr lang="en-US" b="0" i="0" u="none" strike="noStrike">
                <a:solidFill>
                  <a:srgbClr val="000000"/>
                </a:solidFill>
                <a:effectLst/>
                <a:latin typeface="-webkit-standard"/>
              </a:rPr>
              <a:t>of such drug adequate to justify the proposed clinical testing</a:t>
            </a:r>
            <a:endParaRPr lang="en-US"/>
          </a:p>
        </p:txBody>
      </p:sp>
      <p:sp>
        <p:nvSpPr>
          <p:cNvPr id="21" name="TextBox 20">
            <a:extLst>
              <a:ext uri="{FF2B5EF4-FFF2-40B4-BE49-F238E27FC236}">
                <a16:creationId xmlns:a16="http://schemas.microsoft.com/office/drawing/2014/main" id="{254893C4-008B-D026-E92A-FE2AA241D8F2}"/>
              </a:ext>
            </a:extLst>
          </p:cNvPr>
          <p:cNvSpPr txBox="1"/>
          <p:nvPr/>
        </p:nvSpPr>
        <p:spPr>
          <a:xfrm>
            <a:off x="3134330" y="2782475"/>
            <a:ext cx="6282430" cy="646331"/>
          </a:xfrm>
          <a:prstGeom prst="rect">
            <a:avLst/>
          </a:prstGeom>
          <a:noFill/>
          <a:ln>
            <a:solidFill>
              <a:schemeClr val="tx1"/>
            </a:solidFill>
          </a:ln>
        </p:spPr>
        <p:txBody>
          <a:bodyPr wrap="square" rtlCol="0">
            <a:spAutoFit/>
          </a:bodyPr>
          <a:lstStyle/>
          <a:p>
            <a:r>
              <a:rPr lang="en-US" i="1"/>
              <a:t>‘....cell-based assays, organ chips/MPS, modeling, other nonhuman/human-based methods, </a:t>
            </a:r>
            <a:r>
              <a:rPr lang="en-US" b="1" i="1"/>
              <a:t>animal tests</a:t>
            </a:r>
            <a:r>
              <a:rPr lang="en-US" i="1"/>
              <a:t>’</a:t>
            </a:r>
          </a:p>
        </p:txBody>
      </p:sp>
      <p:sp>
        <p:nvSpPr>
          <p:cNvPr id="22" name="Bent Arrow 21">
            <a:extLst>
              <a:ext uri="{FF2B5EF4-FFF2-40B4-BE49-F238E27FC236}">
                <a16:creationId xmlns:a16="http://schemas.microsoft.com/office/drawing/2014/main" id="{73FD0FD6-EA8A-6916-743C-126B446BF8B4}"/>
              </a:ext>
            </a:extLst>
          </p:cNvPr>
          <p:cNvSpPr/>
          <p:nvPr/>
        </p:nvSpPr>
        <p:spPr>
          <a:xfrm flipV="1">
            <a:off x="2281836" y="2705028"/>
            <a:ext cx="770021" cy="419447"/>
          </a:xfrm>
          <a:prstGeom prst="bentArrow">
            <a:avLst>
              <a:gd name="adj1" fmla="val 11175"/>
              <a:gd name="adj2" fmla="val 13940"/>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Slide Number Placeholder 22">
            <a:extLst>
              <a:ext uri="{FF2B5EF4-FFF2-40B4-BE49-F238E27FC236}">
                <a16:creationId xmlns:a16="http://schemas.microsoft.com/office/drawing/2014/main" id="{45CDC14B-A487-9771-6511-D08851A449C0}"/>
              </a:ext>
            </a:extLst>
          </p:cNvPr>
          <p:cNvSpPr>
            <a:spLocks noGrp="1"/>
          </p:cNvSpPr>
          <p:nvPr>
            <p:ph type="sldNum" sz="quarter" idx="12"/>
          </p:nvPr>
        </p:nvSpPr>
        <p:spPr/>
        <p:txBody>
          <a:bodyPr/>
          <a:lstStyle/>
          <a:p>
            <a:fld id="{8C9BEE26-CBC9-D24B-B62C-3600B65D4342}" type="slidenum">
              <a:rPr lang="en-US" smtClean="0"/>
              <a:t>94</a:t>
            </a:fld>
            <a:endParaRPr lang="en-US"/>
          </a:p>
        </p:txBody>
      </p:sp>
    </p:spTree>
    <p:extLst>
      <p:ext uri="{BB962C8B-B14F-4D97-AF65-F5344CB8AC3E}">
        <p14:creationId xmlns:p14="http://schemas.microsoft.com/office/powerpoint/2010/main" val="42828121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a:extLst>
              <a:ext uri="{FF2B5EF4-FFF2-40B4-BE49-F238E27FC236}">
                <a16:creationId xmlns:a16="http://schemas.microsoft.com/office/drawing/2014/main" id="{5263198C-7549-2AA7-2F87-C821AF86892D}"/>
              </a:ext>
            </a:extLst>
          </p:cNvPr>
          <p:cNvSpPr txBox="1">
            <a:spLocks noChangeArrowheads="1"/>
          </p:cNvSpPr>
          <p:nvPr/>
        </p:nvSpPr>
        <p:spPr bwMode="auto">
          <a:xfrm>
            <a:off x="1071365" y="431908"/>
            <a:ext cx="9761402" cy="107721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sz="3200"/>
              <a:t>FDA and ICH </a:t>
            </a:r>
            <a:r>
              <a:rPr lang="en-US" sz="3200" err="1"/>
              <a:t>Guidances</a:t>
            </a:r>
            <a:r>
              <a:rPr lang="en-US" sz="3200"/>
              <a:t> articulate current thinking on how to meet those scientific and regulatory expectations     </a:t>
            </a:r>
          </a:p>
        </p:txBody>
      </p:sp>
      <p:sp>
        <p:nvSpPr>
          <p:cNvPr id="5" name="Text Box 9">
            <a:extLst>
              <a:ext uri="{FF2B5EF4-FFF2-40B4-BE49-F238E27FC236}">
                <a16:creationId xmlns:a16="http://schemas.microsoft.com/office/drawing/2014/main" id="{62CF587B-26B8-F533-CFF0-9A814688252E}"/>
              </a:ext>
            </a:extLst>
          </p:cNvPr>
          <p:cNvSpPr txBox="1">
            <a:spLocks noChangeArrowheads="1"/>
          </p:cNvSpPr>
          <p:nvPr/>
        </p:nvSpPr>
        <p:spPr bwMode="auto">
          <a:xfrm>
            <a:off x="7123279" y="806450"/>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non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en-US" altLang="en-US" sz="1800"/>
          </a:p>
        </p:txBody>
      </p:sp>
      <p:sp>
        <p:nvSpPr>
          <p:cNvPr id="6" name="Text Box 12">
            <a:extLst>
              <a:ext uri="{FF2B5EF4-FFF2-40B4-BE49-F238E27FC236}">
                <a16:creationId xmlns:a16="http://schemas.microsoft.com/office/drawing/2014/main" id="{42BFC010-4AA0-1390-106A-E41E37582EC9}"/>
              </a:ext>
            </a:extLst>
          </p:cNvPr>
          <p:cNvSpPr txBox="1">
            <a:spLocks noChangeArrowheads="1"/>
          </p:cNvSpPr>
          <p:nvPr/>
        </p:nvSpPr>
        <p:spPr bwMode="auto">
          <a:xfrm>
            <a:off x="1297414" y="5526042"/>
            <a:ext cx="90199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en-US" sz="1600"/>
              <a:t>*Not shown are Special Tox studies which vary by drug and profile (e.g., mechanistic studies, </a:t>
            </a:r>
            <a:r>
              <a:rPr lang="en-US" altLang="en-US" sz="1600" err="1"/>
              <a:t>photosafety</a:t>
            </a:r>
            <a:r>
              <a:rPr lang="en-US" altLang="en-US" sz="1600"/>
              <a:t>, local tolerance, </a:t>
            </a:r>
            <a:r>
              <a:rPr lang="en-US" altLang="en-US" sz="1600" err="1"/>
              <a:t>immunotox</a:t>
            </a:r>
            <a:r>
              <a:rPr lang="en-US" altLang="en-US" sz="1600"/>
              <a:t>, abuse potential, impurity/metabolite testing, etc.)</a:t>
            </a:r>
          </a:p>
        </p:txBody>
      </p:sp>
      <p:sp>
        <p:nvSpPr>
          <p:cNvPr id="7" name="Rectangle 6">
            <a:extLst>
              <a:ext uri="{FF2B5EF4-FFF2-40B4-BE49-F238E27FC236}">
                <a16:creationId xmlns:a16="http://schemas.microsoft.com/office/drawing/2014/main" id="{703110FF-22A3-FB29-2413-3EDA268DFAD7}"/>
              </a:ext>
            </a:extLst>
          </p:cNvPr>
          <p:cNvSpPr>
            <a:spLocks noChangeArrowheads="1"/>
          </p:cNvSpPr>
          <p:nvPr/>
        </p:nvSpPr>
        <p:spPr bwMode="auto">
          <a:xfrm>
            <a:off x="1292840" y="4754207"/>
            <a:ext cx="9599195" cy="724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none" anchor="ct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endParaRPr lang="en-US" altLang="en-US" sz="1800">
              <a:solidFill>
                <a:schemeClr val="tx1"/>
              </a:solidFill>
            </a:endParaRPr>
          </a:p>
        </p:txBody>
      </p:sp>
      <p:sp>
        <p:nvSpPr>
          <p:cNvPr id="8" name="Text Box 14">
            <a:extLst>
              <a:ext uri="{FF2B5EF4-FFF2-40B4-BE49-F238E27FC236}">
                <a16:creationId xmlns:a16="http://schemas.microsoft.com/office/drawing/2014/main" id="{5FA6D63C-9A24-D03C-1A3B-A226DA522E03}"/>
              </a:ext>
            </a:extLst>
          </p:cNvPr>
          <p:cNvSpPr txBox="1">
            <a:spLocks noChangeArrowheads="1"/>
          </p:cNvSpPr>
          <p:nvPr/>
        </p:nvSpPr>
        <p:spPr bwMode="auto">
          <a:xfrm>
            <a:off x="1999901" y="4771225"/>
            <a:ext cx="12915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non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en-US" sz="2000" b="1">
                <a:solidFill>
                  <a:schemeClr val="bg1"/>
                </a:solidFill>
              </a:rPr>
              <a:t>FIH, Ph1</a:t>
            </a:r>
          </a:p>
          <a:p>
            <a:r>
              <a:rPr lang="en-US" altLang="en-US" sz="2000" b="1">
                <a:solidFill>
                  <a:schemeClr val="bg1"/>
                </a:solidFill>
              </a:rPr>
              <a:t>SAD/MAD</a:t>
            </a:r>
          </a:p>
        </p:txBody>
      </p:sp>
      <p:sp>
        <p:nvSpPr>
          <p:cNvPr id="9" name="Text Box 15">
            <a:extLst>
              <a:ext uri="{FF2B5EF4-FFF2-40B4-BE49-F238E27FC236}">
                <a16:creationId xmlns:a16="http://schemas.microsoft.com/office/drawing/2014/main" id="{AED768C8-AB56-3F1B-14B0-D3EF47AFFF2B}"/>
              </a:ext>
            </a:extLst>
          </p:cNvPr>
          <p:cNvSpPr txBox="1">
            <a:spLocks noChangeArrowheads="1"/>
          </p:cNvSpPr>
          <p:nvPr/>
        </p:nvSpPr>
        <p:spPr bwMode="auto">
          <a:xfrm>
            <a:off x="4377537" y="4882584"/>
            <a:ext cx="1163725" cy="482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non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en-US" sz="2000" b="1">
                <a:solidFill>
                  <a:schemeClr val="bg1"/>
                </a:solidFill>
              </a:rPr>
              <a:t>Phase 2</a:t>
            </a:r>
          </a:p>
        </p:txBody>
      </p:sp>
      <p:sp>
        <p:nvSpPr>
          <p:cNvPr id="10" name="Text Box 16">
            <a:extLst>
              <a:ext uri="{FF2B5EF4-FFF2-40B4-BE49-F238E27FC236}">
                <a16:creationId xmlns:a16="http://schemas.microsoft.com/office/drawing/2014/main" id="{E2F25D40-4BFE-B756-8FEE-16A8CFDC1CE8}"/>
              </a:ext>
            </a:extLst>
          </p:cNvPr>
          <p:cNvSpPr txBox="1">
            <a:spLocks noChangeArrowheads="1"/>
          </p:cNvSpPr>
          <p:nvPr/>
        </p:nvSpPr>
        <p:spPr bwMode="auto">
          <a:xfrm>
            <a:off x="6419843" y="4884499"/>
            <a:ext cx="1163725" cy="482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non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en-US" sz="2000" b="1">
                <a:solidFill>
                  <a:schemeClr val="bg1"/>
                </a:solidFill>
              </a:rPr>
              <a:t>Phase 3</a:t>
            </a:r>
          </a:p>
        </p:txBody>
      </p:sp>
      <p:sp>
        <p:nvSpPr>
          <p:cNvPr id="11" name="Text Box 17">
            <a:extLst>
              <a:ext uri="{FF2B5EF4-FFF2-40B4-BE49-F238E27FC236}">
                <a16:creationId xmlns:a16="http://schemas.microsoft.com/office/drawing/2014/main" id="{D7B5E9BF-7CA3-84B5-9599-3B70A4F36FDF}"/>
              </a:ext>
            </a:extLst>
          </p:cNvPr>
          <p:cNvSpPr txBox="1">
            <a:spLocks noChangeArrowheads="1"/>
          </p:cNvSpPr>
          <p:nvPr/>
        </p:nvSpPr>
        <p:spPr bwMode="auto">
          <a:xfrm>
            <a:off x="8460381" y="4884499"/>
            <a:ext cx="766644" cy="482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non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en-US" sz="2000" b="1">
                <a:solidFill>
                  <a:schemeClr val="bg1"/>
                </a:solidFill>
              </a:rPr>
              <a:t>NDA</a:t>
            </a:r>
          </a:p>
        </p:txBody>
      </p:sp>
      <p:sp>
        <p:nvSpPr>
          <p:cNvPr id="23" name="Text Box 8">
            <a:extLst>
              <a:ext uri="{FF2B5EF4-FFF2-40B4-BE49-F238E27FC236}">
                <a16:creationId xmlns:a16="http://schemas.microsoft.com/office/drawing/2014/main" id="{E98567E4-A5DA-A384-555E-4039C5F3E60C}"/>
              </a:ext>
            </a:extLst>
          </p:cNvPr>
          <p:cNvSpPr txBox="1">
            <a:spLocks noChangeArrowheads="1"/>
          </p:cNvSpPr>
          <p:nvPr/>
        </p:nvSpPr>
        <p:spPr bwMode="auto">
          <a:xfrm>
            <a:off x="3978800" y="2776688"/>
            <a:ext cx="327888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a:t>Sub-chronic/ Chronic Tox </a:t>
            </a:r>
          </a:p>
          <a:p>
            <a:r>
              <a:rPr lang="en-US" altLang="en-US" sz="1600"/>
              <a:t>Completion of genetic tox battery</a:t>
            </a:r>
          </a:p>
          <a:p>
            <a:r>
              <a:rPr lang="en-US" altLang="en-US" sz="1600" err="1"/>
              <a:t>Carci</a:t>
            </a:r>
            <a:r>
              <a:rPr lang="en-US" altLang="en-US" sz="1600"/>
              <a:t> SX protocols (if needed)</a:t>
            </a:r>
          </a:p>
          <a:p>
            <a:r>
              <a:rPr lang="en-US" altLang="en-US" sz="1600"/>
              <a:t>Repro Tox Studies Segs 1, 2, (3)</a:t>
            </a:r>
          </a:p>
          <a:p>
            <a:r>
              <a:rPr lang="en-US" altLang="en-US" sz="1600"/>
              <a:t>ADME, in vivo metabolites</a:t>
            </a:r>
          </a:p>
        </p:txBody>
      </p:sp>
      <p:sp>
        <p:nvSpPr>
          <p:cNvPr id="24" name="AutoShape 21">
            <a:extLst>
              <a:ext uri="{FF2B5EF4-FFF2-40B4-BE49-F238E27FC236}">
                <a16:creationId xmlns:a16="http://schemas.microsoft.com/office/drawing/2014/main" id="{3E54A61D-23AC-FEDE-815E-72338344DD4F}"/>
              </a:ext>
            </a:extLst>
          </p:cNvPr>
          <p:cNvSpPr>
            <a:spLocks noChangeArrowheads="1"/>
          </p:cNvSpPr>
          <p:nvPr/>
        </p:nvSpPr>
        <p:spPr bwMode="auto">
          <a:xfrm>
            <a:off x="3959873" y="4231120"/>
            <a:ext cx="345104" cy="1036592"/>
          </a:xfrm>
          <a:prstGeom prst="downArrow">
            <a:avLst>
              <a:gd name="adj1" fmla="val 50000"/>
              <a:gd name="adj2" fmla="val 69359"/>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en-US" altLang="en-US" sz="1800">
              <a:solidFill>
                <a:srgbClr val="00FF00"/>
              </a:solidFill>
            </a:endParaRPr>
          </a:p>
        </p:txBody>
      </p:sp>
      <p:sp>
        <p:nvSpPr>
          <p:cNvPr id="25" name="AutoShape 22">
            <a:extLst>
              <a:ext uri="{FF2B5EF4-FFF2-40B4-BE49-F238E27FC236}">
                <a16:creationId xmlns:a16="http://schemas.microsoft.com/office/drawing/2014/main" id="{5FA4D973-46B7-3255-8209-131534AC2AA0}"/>
              </a:ext>
            </a:extLst>
          </p:cNvPr>
          <p:cNvSpPr>
            <a:spLocks noChangeArrowheads="1"/>
          </p:cNvSpPr>
          <p:nvPr/>
        </p:nvSpPr>
        <p:spPr bwMode="auto">
          <a:xfrm rot="16200000">
            <a:off x="5321051" y="3261207"/>
            <a:ext cx="272082" cy="2447583"/>
          </a:xfrm>
          <a:prstGeom prst="downArrow">
            <a:avLst>
              <a:gd name="adj1" fmla="val 36417"/>
              <a:gd name="adj2" fmla="val 210660"/>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en-US" altLang="en-US" sz="1800">
              <a:solidFill>
                <a:srgbClr val="00FF00"/>
              </a:solidFill>
            </a:endParaRPr>
          </a:p>
        </p:txBody>
      </p:sp>
      <p:sp>
        <p:nvSpPr>
          <p:cNvPr id="20" name="Text Box 7">
            <a:extLst>
              <a:ext uri="{FF2B5EF4-FFF2-40B4-BE49-F238E27FC236}">
                <a16:creationId xmlns:a16="http://schemas.microsoft.com/office/drawing/2014/main" id="{8537D641-C21C-A113-8DC5-39ABD9001788}"/>
              </a:ext>
            </a:extLst>
          </p:cNvPr>
          <p:cNvSpPr txBox="1">
            <a:spLocks noChangeArrowheads="1"/>
          </p:cNvSpPr>
          <p:nvPr/>
        </p:nvSpPr>
        <p:spPr bwMode="auto">
          <a:xfrm>
            <a:off x="1292840" y="2814314"/>
            <a:ext cx="246535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Pharmacology</a:t>
            </a:r>
          </a:p>
          <a:p>
            <a:r>
              <a:rPr lang="en-US" altLang="en-US" sz="1600"/>
              <a:t>Safety Pharm core battery</a:t>
            </a:r>
          </a:p>
          <a:p>
            <a:r>
              <a:rPr lang="en-US" altLang="en-US" sz="1600"/>
              <a:t>Short Term Tox</a:t>
            </a:r>
          </a:p>
          <a:p>
            <a:r>
              <a:rPr lang="en-US" altLang="en-US" sz="1600"/>
              <a:t>Genetic Tox</a:t>
            </a:r>
          </a:p>
          <a:p>
            <a:r>
              <a:rPr lang="en-US" altLang="en-US" sz="1600"/>
              <a:t>Limited ADME</a:t>
            </a:r>
          </a:p>
        </p:txBody>
      </p:sp>
      <p:sp>
        <p:nvSpPr>
          <p:cNvPr id="21" name="AutoShape 20">
            <a:extLst>
              <a:ext uri="{FF2B5EF4-FFF2-40B4-BE49-F238E27FC236}">
                <a16:creationId xmlns:a16="http://schemas.microsoft.com/office/drawing/2014/main" id="{DB90E0D7-EC0B-C29D-7674-558F8B22311A}"/>
              </a:ext>
            </a:extLst>
          </p:cNvPr>
          <p:cNvSpPr>
            <a:spLocks noChangeArrowheads="1"/>
          </p:cNvSpPr>
          <p:nvPr/>
        </p:nvSpPr>
        <p:spPr bwMode="auto">
          <a:xfrm>
            <a:off x="1468046" y="4231121"/>
            <a:ext cx="345104" cy="1036593"/>
          </a:xfrm>
          <a:prstGeom prst="downArrow">
            <a:avLst>
              <a:gd name="adj1" fmla="val 50000"/>
              <a:gd name="adj2" fmla="val 69359"/>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en-US" altLang="en-US" sz="1800">
              <a:solidFill>
                <a:srgbClr val="00FF00"/>
              </a:solidFill>
            </a:endParaRPr>
          </a:p>
        </p:txBody>
      </p:sp>
      <p:sp>
        <p:nvSpPr>
          <p:cNvPr id="22" name="AutoShape 23">
            <a:extLst>
              <a:ext uri="{FF2B5EF4-FFF2-40B4-BE49-F238E27FC236}">
                <a16:creationId xmlns:a16="http://schemas.microsoft.com/office/drawing/2014/main" id="{94F08071-3C67-EB99-6E5F-4F565AA7AC30}"/>
              </a:ext>
            </a:extLst>
          </p:cNvPr>
          <p:cNvSpPr>
            <a:spLocks noChangeArrowheads="1"/>
          </p:cNvSpPr>
          <p:nvPr/>
        </p:nvSpPr>
        <p:spPr bwMode="auto">
          <a:xfrm rot="16200000">
            <a:off x="2480128" y="3636326"/>
            <a:ext cx="237592" cy="1695432"/>
          </a:xfrm>
          <a:prstGeom prst="downArrow">
            <a:avLst>
              <a:gd name="adj1" fmla="val 36417"/>
              <a:gd name="adj2" fmla="val 167106"/>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en-US" altLang="en-US" sz="1800">
              <a:solidFill>
                <a:srgbClr val="00FF00"/>
              </a:solidFill>
            </a:endParaRPr>
          </a:p>
        </p:txBody>
      </p:sp>
      <p:sp>
        <p:nvSpPr>
          <p:cNvPr id="17" name="Text Box 10">
            <a:extLst>
              <a:ext uri="{FF2B5EF4-FFF2-40B4-BE49-F238E27FC236}">
                <a16:creationId xmlns:a16="http://schemas.microsoft.com/office/drawing/2014/main" id="{1AFD1E1B-AE8B-DBC0-E97C-6A753270D62A}"/>
              </a:ext>
            </a:extLst>
          </p:cNvPr>
          <p:cNvSpPr txBox="1">
            <a:spLocks noChangeArrowheads="1"/>
          </p:cNvSpPr>
          <p:nvPr/>
        </p:nvSpPr>
        <p:spPr bwMode="auto">
          <a:xfrm>
            <a:off x="7872819" y="3219359"/>
            <a:ext cx="228190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Carcinogenicity Studies</a:t>
            </a:r>
          </a:p>
          <a:p>
            <a:r>
              <a:rPr lang="en-US" altLang="en-US" sz="1600"/>
              <a:t>Seg 3 repro tox (PPND)</a:t>
            </a:r>
          </a:p>
        </p:txBody>
      </p:sp>
      <p:sp>
        <p:nvSpPr>
          <p:cNvPr id="18" name="Text Box 18">
            <a:extLst>
              <a:ext uri="{FF2B5EF4-FFF2-40B4-BE49-F238E27FC236}">
                <a16:creationId xmlns:a16="http://schemas.microsoft.com/office/drawing/2014/main" id="{E331F5EA-7261-C03C-97F6-800DE1972CD3}"/>
              </a:ext>
            </a:extLst>
          </p:cNvPr>
          <p:cNvSpPr txBox="1">
            <a:spLocks noChangeArrowheads="1"/>
          </p:cNvSpPr>
          <p:nvPr/>
        </p:nvSpPr>
        <p:spPr bwMode="auto">
          <a:xfrm>
            <a:off x="7888747" y="3891899"/>
            <a:ext cx="2598012" cy="406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Integration of all studies</a:t>
            </a:r>
          </a:p>
        </p:txBody>
      </p:sp>
      <p:sp>
        <p:nvSpPr>
          <p:cNvPr id="19" name="AutoShape 24">
            <a:extLst>
              <a:ext uri="{FF2B5EF4-FFF2-40B4-BE49-F238E27FC236}">
                <a16:creationId xmlns:a16="http://schemas.microsoft.com/office/drawing/2014/main" id="{32CDCC86-128E-90BB-15C0-351F59560DB8}"/>
              </a:ext>
            </a:extLst>
          </p:cNvPr>
          <p:cNvSpPr>
            <a:spLocks noChangeArrowheads="1"/>
          </p:cNvSpPr>
          <p:nvPr/>
        </p:nvSpPr>
        <p:spPr bwMode="auto">
          <a:xfrm>
            <a:off x="8002012" y="4231125"/>
            <a:ext cx="345104" cy="1036593"/>
          </a:xfrm>
          <a:prstGeom prst="downArrow">
            <a:avLst>
              <a:gd name="adj1" fmla="val 50000"/>
              <a:gd name="adj2" fmla="val 69359"/>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en-US" altLang="en-US" sz="1800">
              <a:solidFill>
                <a:srgbClr val="00FF00"/>
              </a:solidFill>
            </a:endParaRPr>
          </a:p>
        </p:txBody>
      </p:sp>
      <p:sp>
        <p:nvSpPr>
          <p:cNvPr id="15" name="Text Box 25">
            <a:extLst>
              <a:ext uri="{FF2B5EF4-FFF2-40B4-BE49-F238E27FC236}">
                <a16:creationId xmlns:a16="http://schemas.microsoft.com/office/drawing/2014/main" id="{A71C553A-263E-7210-76C5-538F80FAF8EA}"/>
              </a:ext>
            </a:extLst>
          </p:cNvPr>
          <p:cNvSpPr txBox="1">
            <a:spLocks noChangeArrowheads="1"/>
          </p:cNvSpPr>
          <p:nvPr/>
        </p:nvSpPr>
        <p:spPr bwMode="auto">
          <a:xfrm>
            <a:off x="1179209" y="1721773"/>
            <a:ext cx="72811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en-US" sz="2400" b="1"/>
              <a:t>General scope for a ‘traditional’ nonclinical program for a small molecule NME:</a:t>
            </a:r>
          </a:p>
        </p:txBody>
      </p:sp>
      <p:sp>
        <p:nvSpPr>
          <p:cNvPr id="31" name="Slide Number Placeholder 30">
            <a:extLst>
              <a:ext uri="{FF2B5EF4-FFF2-40B4-BE49-F238E27FC236}">
                <a16:creationId xmlns:a16="http://schemas.microsoft.com/office/drawing/2014/main" id="{FEC90394-CDDA-201C-9917-7F2EE031DD06}"/>
              </a:ext>
            </a:extLst>
          </p:cNvPr>
          <p:cNvSpPr>
            <a:spLocks noGrp="1"/>
          </p:cNvSpPr>
          <p:nvPr>
            <p:ph type="sldNum" sz="quarter" idx="12"/>
          </p:nvPr>
        </p:nvSpPr>
        <p:spPr/>
        <p:txBody>
          <a:bodyPr/>
          <a:lstStyle/>
          <a:p>
            <a:fld id="{8C9BEE26-CBC9-D24B-B62C-3600B65D4342}" type="slidenum">
              <a:rPr lang="en-US" smtClean="0"/>
              <a:t>95</a:t>
            </a:fld>
            <a:endParaRPr lang="en-US"/>
          </a:p>
        </p:txBody>
      </p:sp>
    </p:spTree>
    <p:extLst>
      <p:ext uri="{BB962C8B-B14F-4D97-AF65-F5344CB8AC3E}">
        <p14:creationId xmlns:p14="http://schemas.microsoft.com/office/powerpoint/2010/main" val="31769053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DBD15-E35B-5FAF-F793-E53A6B77FBED}"/>
              </a:ext>
            </a:extLst>
          </p:cNvPr>
          <p:cNvSpPr>
            <a:spLocks noGrp="1"/>
          </p:cNvSpPr>
          <p:nvPr>
            <p:ph type="title"/>
          </p:nvPr>
        </p:nvSpPr>
        <p:spPr>
          <a:xfrm>
            <a:off x="838200" y="365125"/>
            <a:ext cx="10371416" cy="762339"/>
          </a:xfrm>
        </p:spPr>
        <p:txBody>
          <a:bodyPr>
            <a:normAutofit/>
          </a:bodyPr>
          <a:lstStyle/>
          <a:p>
            <a:r>
              <a:rPr lang="en-US" sz="3600"/>
              <a:t>Opportunity for Regulatory Flexibility…. with some risks</a:t>
            </a:r>
          </a:p>
        </p:txBody>
      </p:sp>
      <p:sp>
        <p:nvSpPr>
          <p:cNvPr id="6" name="TextBox 5">
            <a:extLst>
              <a:ext uri="{FF2B5EF4-FFF2-40B4-BE49-F238E27FC236}">
                <a16:creationId xmlns:a16="http://schemas.microsoft.com/office/drawing/2014/main" id="{12BBDB4B-87B7-E981-29DB-FAB84C7E69E1}"/>
              </a:ext>
            </a:extLst>
          </p:cNvPr>
          <p:cNvSpPr txBox="1"/>
          <p:nvPr/>
        </p:nvSpPr>
        <p:spPr>
          <a:xfrm>
            <a:off x="951469" y="1227783"/>
            <a:ext cx="10725338" cy="830997"/>
          </a:xfrm>
          <a:prstGeom prst="rect">
            <a:avLst/>
          </a:prstGeom>
          <a:noFill/>
        </p:spPr>
        <p:txBody>
          <a:bodyPr wrap="square" rtlCol="0">
            <a:spAutoFit/>
          </a:bodyPr>
          <a:lstStyle/>
          <a:p>
            <a:pPr marL="342900" indent="-342900">
              <a:buFont typeface="Wingdings" pitchFamily="2" charset="2"/>
              <a:buChar char="Ø"/>
            </a:pPr>
            <a:r>
              <a:rPr lang="en-US" sz="2400" b="1" i="1"/>
              <a:t>Every guidance includes language that allows risk- and science-based justifications for alternative or case-by-case assessment strategies…</a:t>
            </a:r>
          </a:p>
        </p:txBody>
      </p:sp>
      <p:sp>
        <p:nvSpPr>
          <p:cNvPr id="7" name="TextBox 6">
            <a:extLst>
              <a:ext uri="{FF2B5EF4-FFF2-40B4-BE49-F238E27FC236}">
                <a16:creationId xmlns:a16="http://schemas.microsoft.com/office/drawing/2014/main" id="{1DDF22B2-8D18-83FD-058E-664829CE8E3F}"/>
              </a:ext>
            </a:extLst>
          </p:cNvPr>
          <p:cNvSpPr txBox="1"/>
          <p:nvPr/>
        </p:nvSpPr>
        <p:spPr>
          <a:xfrm>
            <a:off x="951469" y="4209474"/>
            <a:ext cx="10104319" cy="830997"/>
          </a:xfrm>
          <a:prstGeom prst="rect">
            <a:avLst/>
          </a:prstGeom>
          <a:noFill/>
        </p:spPr>
        <p:txBody>
          <a:bodyPr wrap="square" rtlCol="0">
            <a:spAutoFit/>
          </a:bodyPr>
          <a:lstStyle/>
          <a:p>
            <a:pPr marL="342900" indent="-342900">
              <a:buFont typeface="Wingdings" pitchFamily="2" charset="2"/>
              <a:buChar char="Ø"/>
            </a:pPr>
            <a:r>
              <a:rPr lang="en-US" sz="2400"/>
              <a:t>As a generalization, regulatory risk increases as the nonclinical program deviates further and further from the ‘traditional’ program </a:t>
            </a:r>
          </a:p>
        </p:txBody>
      </p:sp>
      <p:sp>
        <p:nvSpPr>
          <p:cNvPr id="8" name="TextBox 7">
            <a:extLst>
              <a:ext uri="{FF2B5EF4-FFF2-40B4-BE49-F238E27FC236}">
                <a16:creationId xmlns:a16="http://schemas.microsoft.com/office/drawing/2014/main" id="{AEFA9DA9-B074-A521-D35C-D4D7A702E836}"/>
              </a:ext>
            </a:extLst>
          </p:cNvPr>
          <p:cNvSpPr txBox="1"/>
          <p:nvPr/>
        </p:nvSpPr>
        <p:spPr>
          <a:xfrm>
            <a:off x="951469" y="3215577"/>
            <a:ext cx="10358679" cy="830997"/>
          </a:xfrm>
          <a:prstGeom prst="rect">
            <a:avLst/>
          </a:prstGeom>
          <a:noFill/>
        </p:spPr>
        <p:txBody>
          <a:bodyPr wrap="square" rtlCol="0">
            <a:spAutoFit/>
          </a:bodyPr>
          <a:lstStyle/>
          <a:p>
            <a:pPr marL="342900" indent="-342900">
              <a:buFont typeface="Wingdings" pitchFamily="2" charset="2"/>
              <a:buChar char="Ø"/>
            </a:pPr>
            <a:r>
              <a:rPr lang="en-US" sz="2400"/>
              <a:t>Alternatives to ‘the norm’ can entail substantial scientific judgement, therein lies opportunity but also risk </a:t>
            </a:r>
          </a:p>
        </p:txBody>
      </p:sp>
      <p:sp>
        <p:nvSpPr>
          <p:cNvPr id="10" name="TextBox 9">
            <a:extLst>
              <a:ext uri="{FF2B5EF4-FFF2-40B4-BE49-F238E27FC236}">
                <a16:creationId xmlns:a16="http://schemas.microsoft.com/office/drawing/2014/main" id="{2C20E019-9DEC-97A0-B699-0B79A81ACBC2}"/>
              </a:ext>
            </a:extLst>
          </p:cNvPr>
          <p:cNvSpPr txBox="1"/>
          <p:nvPr/>
        </p:nvSpPr>
        <p:spPr>
          <a:xfrm>
            <a:off x="951469" y="2221680"/>
            <a:ext cx="10515600" cy="830997"/>
          </a:xfrm>
          <a:prstGeom prst="rect">
            <a:avLst/>
          </a:prstGeom>
          <a:noFill/>
        </p:spPr>
        <p:txBody>
          <a:bodyPr wrap="square">
            <a:spAutoFit/>
          </a:bodyPr>
          <a:lstStyle/>
          <a:p>
            <a:pPr marL="342900" indent="-342900">
              <a:buFont typeface="Wingdings" pitchFamily="2" charset="2"/>
              <a:buChar char="Ø"/>
            </a:pPr>
            <a:r>
              <a:rPr lang="en-US" sz="2400" i="1"/>
              <a:t>This is regulatory flexibility-  which is necessary and appropriate when interpreting and applying scientific data, but has its limits</a:t>
            </a:r>
            <a:endParaRPr lang="en-US" sz="2400"/>
          </a:p>
        </p:txBody>
      </p:sp>
      <p:sp>
        <p:nvSpPr>
          <p:cNvPr id="11" name="Slide Number Placeholder 10">
            <a:extLst>
              <a:ext uri="{FF2B5EF4-FFF2-40B4-BE49-F238E27FC236}">
                <a16:creationId xmlns:a16="http://schemas.microsoft.com/office/drawing/2014/main" id="{4687FF98-1000-2E6D-9C03-DE319A4A45E0}"/>
              </a:ext>
            </a:extLst>
          </p:cNvPr>
          <p:cNvSpPr>
            <a:spLocks noGrp="1"/>
          </p:cNvSpPr>
          <p:nvPr>
            <p:ph type="sldNum" sz="quarter" idx="12"/>
          </p:nvPr>
        </p:nvSpPr>
        <p:spPr/>
        <p:txBody>
          <a:bodyPr/>
          <a:lstStyle/>
          <a:p>
            <a:fld id="{8C9BEE26-CBC9-D24B-B62C-3600B65D4342}" type="slidenum">
              <a:rPr lang="en-US" smtClean="0"/>
              <a:t>96</a:t>
            </a:fld>
            <a:endParaRPr lang="en-US"/>
          </a:p>
        </p:txBody>
      </p:sp>
      <p:sp>
        <p:nvSpPr>
          <p:cNvPr id="12" name="Rectangle 11">
            <a:extLst>
              <a:ext uri="{FF2B5EF4-FFF2-40B4-BE49-F238E27FC236}">
                <a16:creationId xmlns:a16="http://schemas.microsoft.com/office/drawing/2014/main" id="{9B84E1C1-0EE9-A624-FE0A-B818F1137C4A}"/>
              </a:ext>
            </a:extLst>
          </p:cNvPr>
          <p:cNvSpPr/>
          <p:nvPr/>
        </p:nvSpPr>
        <p:spPr>
          <a:xfrm>
            <a:off x="2337971" y="5450888"/>
            <a:ext cx="2286000" cy="405479"/>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2817A98-EBBB-82FE-B84A-EFA99350A375}"/>
              </a:ext>
            </a:extLst>
          </p:cNvPr>
          <p:cNvSpPr txBox="1"/>
          <p:nvPr/>
        </p:nvSpPr>
        <p:spPr>
          <a:xfrm>
            <a:off x="2283978" y="5856367"/>
            <a:ext cx="2576867" cy="523220"/>
          </a:xfrm>
          <a:prstGeom prst="rect">
            <a:avLst/>
          </a:prstGeom>
          <a:noFill/>
        </p:spPr>
        <p:txBody>
          <a:bodyPr wrap="square">
            <a:spAutoFit/>
          </a:bodyPr>
          <a:lstStyle/>
          <a:p>
            <a:pPr>
              <a:defRPr sz="1400"/>
            </a:pPr>
            <a:r>
              <a:t>Traditional Program</a:t>
            </a:r>
            <a:r>
              <a:rPr lang="en-US"/>
              <a:t> &amp; commonly applied efficiencies</a:t>
            </a:r>
            <a:endParaRPr/>
          </a:p>
        </p:txBody>
      </p:sp>
      <p:sp>
        <p:nvSpPr>
          <p:cNvPr id="14" name="Rectangle 13">
            <a:extLst>
              <a:ext uri="{FF2B5EF4-FFF2-40B4-BE49-F238E27FC236}">
                <a16:creationId xmlns:a16="http://schemas.microsoft.com/office/drawing/2014/main" id="{A3379D6F-1565-F48F-291D-9F10B854ACA1}"/>
              </a:ext>
            </a:extLst>
          </p:cNvPr>
          <p:cNvSpPr/>
          <p:nvPr/>
        </p:nvSpPr>
        <p:spPr>
          <a:xfrm>
            <a:off x="4809595" y="5450888"/>
            <a:ext cx="2286000" cy="405479"/>
          </a:xfrm>
          <a:prstGeom prst="rect">
            <a:avLst/>
          </a:prstGeom>
          <a:solidFill>
            <a:srgbClr val="FFC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B430C254-CF84-2DAD-39B4-1A69DF798059}"/>
              </a:ext>
            </a:extLst>
          </p:cNvPr>
          <p:cNvSpPr txBox="1"/>
          <p:nvPr/>
        </p:nvSpPr>
        <p:spPr>
          <a:xfrm>
            <a:off x="4860845" y="5956686"/>
            <a:ext cx="2310825" cy="523220"/>
          </a:xfrm>
          <a:prstGeom prst="rect">
            <a:avLst/>
          </a:prstGeom>
          <a:noFill/>
        </p:spPr>
        <p:txBody>
          <a:bodyPr wrap="none">
            <a:spAutoFit/>
          </a:bodyPr>
          <a:lstStyle/>
          <a:p>
            <a:pPr>
              <a:defRPr sz="1400"/>
            </a:pPr>
            <a:r>
              <a:t>Science-Based Alternatives</a:t>
            </a:r>
            <a:endParaRPr lang="en-US"/>
          </a:p>
          <a:p>
            <a:pPr>
              <a:defRPr sz="1400"/>
            </a:pPr>
            <a:r>
              <a:rPr lang="en-US"/>
              <a:t>(mutually recognized)</a:t>
            </a:r>
            <a:endParaRPr/>
          </a:p>
        </p:txBody>
      </p:sp>
      <p:sp>
        <p:nvSpPr>
          <p:cNvPr id="16" name="Rectangle 15">
            <a:extLst>
              <a:ext uri="{FF2B5EF4-FFF2-40B4-BE49-F238E27FC236}">
                <a16:creationId xmlns:a16="http://schemas.microsoft.com/office/drawing/2014/main" id="{AD9D95AF-195B-31AA-EB7E-DBA91C8BABA5}"/>
              </a:ext>
            </a:extLst>
          </p:cNvPr>
          <p:cNvSpPr/>
          <p:nvPr/>
        </p:nvSpPr>
        <p:spPr>
          <a:xfrm>
            <a:off x="7238285" y="5450888"/>
            <a:ext cx="2286000" cy="405479"/>
          </a:xfrm>
          <a:prstGeom prst="rect">
            <a:avLst/>
          </a:prstGeom>
          <a:solidFill>
            <a:srgbClr val="C00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196827E8-1C7A-FAC5-CBAE-BDE0735E656B}"/>
              </a:ext>
            </a:extLst>
          </p:cNvPr>
          <p:cNvSpPr txBox="1"/>
          <p:nvPr/>
        </p:nvSpPr>
        <p:spPr>
          <a:xfrm>
            <a:off x="7238285" y="5956686"/>
            <a:ext cx="2286000" cy="274320"/>
          </a:xfrm>
          <a:prstGeom prst="rect">
            <a:avLst/>
          </a:prstGeom>
          <a:noFill/>
        </p:spPr>
        <p:txBody>
          <a:bodyPr wrap="none">
            <a:spAutoFit/>
          </a:bodyPr>
          <a:lstStyle/>
          <a:p>
            <a:pPr>
              <a:defRPr sz="1400"/>
            </a:pPr>
            <a:r>
              <a:t>High Deviation / High Risk</a:t>
            </a:r>
          </a:p>
        </p:txBody>
      </p:sp>
    </p:spTree>
    <p:extLst>
      <p:ext uri="{BB962C8B-B14F-4D97-AF65-F5344CB8AC3E}">
        <p14:creationId xmlns:p14="http://schemas.microsoft.com/office/powerpoint/2010/main" val="11019596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64837-13DF-85A7-5B73-55C319F69316}"/>
              </a:ext>
            </a:extLst>
          </p:cNvPr>
          <p:cNvSpPr>
            <a:spLocks noGrp="1"/>
          </p:cNvSpPr>
          <p:nvPr>
            <p:ph type="title"/>
          </p:nvPr>
        </p:nvSpPr>
        <p:spPr>
          <a:xfrm>
            <a:off x="756172" y="124281"/>
            <a:ext cx="10515600" cy="1325563"/>
          </a:xfrm>
        </p:spPr>
        <p:txBody>
          <a:bodyPr>
            <a:normAutofit/>
          </a:bodyPr>
          <a:lstStyle/>
          <a:p>
            <a:r>
              <a:rPr lang="en-US" sz="4000"/>
              <a:t>Traditional Programs: Pro’s and Con’s</a:t>
            </a:r>
          </a:p>
        </p:txBody>
      </p:sp>
      <p:sp>
        <p:nvSpPr>
          <p:cNvPr id="4" name="Slide Number Placeholder 3">
            <a:extLst>
              <a:ext uri="{FF2B5EF4-FFF2-40B4-BE49-F238E27FC236}">
                <a16:creationId xmlns:a16="http://schemas.microsoft.com/office/drawing/2014/main" id="{84F83DD7-1D5C-4900-C61F-0A8BC04EF32F}"/>
              </a:ext>
            </a:extLst>
          </p:cNvPr>
          <p:cNvSpPr>
            <a:spLocks noGrp="1"/>
          </p:cNvSpPr>
          <p:nvPr>
            <p:ph type="sldNum" sz="quarter" idx="12"/>
          </p:nvPr>
        </p:nvSpPr>
        <p:spPr/>
        <p:txBody>
          <a:bodyPr/>
          <a:lstStyle/>
          <a:p>
            <a:fld id="{8C9BEE26-CBC9-D24B-B62C-3600B65D4342}" type="slidenum">
              <a:rPr lang="en-US" smtClean="0"/>
              <a:t>97</a:t>
            </a:fld>
            <a:endParaRPr lang="en-US"/>
          </a:p>
        </p:txBody>
      </p:sp>
      <p:sp>
        <p:nvSpPr>
          <p:cNvPr id="5" name="Rectangle 4">
            <a:extLst>
              <a:ext uri="{FF2B5EF4-FFF2-40B4-BE49-F238E27FC236}">
                <a16:creationId xmlns:a16="http://schemas.microsoft.com/office/drawing/2014/main" id="{60F17BDC-E65D-5EC3-C512-A5D8D3EF2A39}"/>
              </a:ext>
            </a:extLst>
          </p:cNvPr>
          <p:cNvSpPr/>
          <p:nvPr/>
        </p:nvSpPr>
        <p:spPr>
          <a:xfrm>
            <a:off x="8669648" y="582875"/>
            <a:ext cx="1413892" cy="408374"/>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a:extLst>
              <a:ext uri="{FF2B5EF4-FFF2-40B4-BE49-F238E27FC236}">
                <a16:creationId xmlns:a16="http://schemas.microsoft.com/office/drawing/2014/main" id="{5BF02633-53D3-DB6C-7723-6EFD5A7C80D4}"/>
              </a:ext>
            </a:extLst>
          </p:cNvPr>
          <p:cNvGraphicFramePr>
            <a:graphicFrameLocks noGrp="1"/>
          </p:cNvGraphicFramePr>
          <p:nvPr/>
        </p:nvGraphicFramePr>
        <p:xfrm>
          <a:off x="756172" y="1168062"/>
          <a:ext cx="10710898" cy="5188287"/>
        </p:xfrm>
        <a:graphic>
          <a:graphicData uri="http://schemas.openxmlformats.org/drawingml/2006/table">
            <a:tbl>
              <a:tblPr firstRow="1" bandRow="1">
                <a:tableStyleId>{5C22544A-7EE6-4342-B048-85BDC9FD1C3A}</a:tableStyleId>
              </a:tblPr>
              <a:tblGrid>
                <a:gridCol w="5355449">
                  <a:extLst>
                    <a:ext uri="{9D8B030D-6E8A-4147-A177-3AD203B41FA5}">
                      <a16:colId xmlns:a16="http://schemas.microsoft.com/office/drawing/2014/main" val="4062983585"/>
                    </a:ext>
                  </a:extLst>
                </a:gridCol>
                <a:gridCol w="5355449">
                  <a:extLst>
                    <a:ext uri="{9D8B030D-6E8A-4147-A177-3AD203B41FA5}">
                      <a16:colId xmlns:a16="http://schemas.microsoft.com/office/drawing/2014/main" val="3126859933"/>
                    </a:ext>
                  </a:extLst>
                </a:gridCol>
              </a:tblGrid>
              <a:tr h="707727">
                <a:tc>
                  <a:txBody>
                    <a:bodyPr/>
                    <a:lstStyle/>
                    <a:p>
                      <a:r>
                        <a:rPr lang="en-US"/>
                        <a:t>ADVANTAGES</a:t>
                      </a:r>
                    </a:p>
                  </a:txBody>
                  <a:tcPr anchor="ctr"/>
                </a:tc>
                <a:tc>
                  <a:txBody>
                    <a:bodyPr/>
                    <a:lstStyle/>
                    <a:p>
                      <a:r>
                        <a:rPr lang="en-US"/>
                        <a:t>DISADVANTAGES</a:t>
                      </a:r>
                    </a:p>
                  </a:txBody>
                  <a:tcPr anchor="ctr"/>
                </a:tc>
                <a:extLst>
                  <a:ext uri="{0D108BD9-81ED-4DB2-BD59-A6C34878D82A}">
                    <a16:rowId xmlns:a16="http://schemas.microsoft.com/office/drawing/2014/main" val="3560951269"/>
                  </a:ext>
                </a:extLst>
              </a:tr>
              <a:tr h="3133515">
                <a:tc>
                  <a:txBody>
                    <a:bodyPr/>
                    <a:lstStyle/>
                    <a:p>
                      <a:r>
                        <a:rPr lang="en-US"/>
                        <a:t>Clear &amp; mutually recognized battery of studies submitted in a mutually understood timeline</a:t>
                      </a:r>
                    </a:p>
                    <a:p>
                      <a:endParaRPr lang="en-US"/>
                    </a:p>
                    <a:p>
                      <a:r>
                        <a:rPr lang="en-US"/>
                        <a:t>‘Standard’ study designs and CRO resources, with well-honed and familiar endpoints</a:t>
                      </a:r>
                    </a:p>
                    <a:p>
                      <a:endParaRPr lang="en-US"/>
                    </a:p>
                    <a:p>
                      <a:r>
                        <a:rPr lang="en-US"/>
                        <a:t>Reasonable prediction of DRA’s interpretation and application of results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Low regulatory risk </a:t>
                      </a:r>
                      <a:r>
                        <a:rPr lang="en-US" sz="1800" i="1"/>
                        <a:t>(assuming proper species selection &amp; well-conducted studies)</a:t>
                      </a:r>
                    </a:p>
                    <a:p>
                      <a:endParaRPr lang="en-US"/>
                    </a:p>
                    <a:p>
                      <a:r>
                        <a:rPr lang="en-US"/>
                        <a:t>Less need for:</a:t>
                      </a:r>
                    </a:p>
                    <a:p>
                      <a:pPr marL="285750" indent="-285750">
                        <a:buFont typeface="Arial" panose="020B0604020202020204" pitchFamily="34" charset="0"/>
                        <a:buChar char="•"/>
                      </a:pPr>
                      <a:r>
                        <a:rPr lang="en-US"/>
                        <a:t>Interaction with DRAs</a:t>
                      </a:r>
                    </a:p>
                    <a:p>
                      <a:pPr marL="285750" indent="-285750">
                        <a:buFont typeface="Arial" panose="020B0604020202020204" pitchFamily="34" charset="0"/>
                        <a:buChar char="•"/>
                      </a:pPr>
                      <a:r>
                        <a:rPr lang="en-US"/>
                        <a:t>Resources to develop </a:t>
                      </a:r>
                      <a:r>
                        <a:rPr lang="en-US" err="1"/>
                        <a:t>WoE</a:t>
                      </a:r>
                      <a:r>
                        <a:rPr lang="en-US"/>
                        <a:t> and justification for alternative approaches </a:t>
                      </a:r>
                    </a:p>
                  </a:txBody>
                  <a:tcPr/>
                </a:tc>
                <a:tc>
                  <a:txBody>
                    <a:bodyPr/>
                    <a:lstStyle/>
                    <a:p>
                      <a:r>
                        <a:rPr lang="en-US"/>
                        <a:t>With reasonable rationale, some studies are not warranted or have little scientific value </a:t>
                      </a:r>
                      <a:r>
                        <a:rPr lang="en-US" i="1"/>
                        <a:t>(e.g., in vitro </a:t>
                      </a:r>
                      <a:r>
                        <a:rPr lang="en-US" i="1" err="1"/>
                        <a:t>genetox</a:t>
                      </a:r>
                      <a:r>
                        <a:rPr lang="en-US" i="1"/>
                        <a:t> with peptides)</a:t>
                      </a:r>
                    </a:p>
                    <a:p>
                      <a:endParaRPr lang="en-US"/>
                    </a:p>
                    <a:p>
                      <a:r>
                        <a:rPr lang="en-US"/>
                        <a:t>Data generated from non-essential or studies with a poor basis can lead one astray (e.g., false negatives &amp; false positives)</a:t>
                      </a:r>
                    </a:p>
                    <a:p>
                      <a:endParaRPr lang="en-US"/>
                    </a:p>
                    <a:p>
                      <a:r>
                        <a:rPr lang="en-US"/>
                        <a:t>Opportunity cost of not exploring reasonably justified efficiencies (savings in time, money, animals, innovation) </a:t>
                      </a:r>
                    </a:p>
                  </a:txBody>
                  <a:tcPr/>
                </a:tc>
                <a:extLst>
                  <a:ext uri="{0D108BD9-81ED-4DB2-BD59-A6C34878D82A}">
                    <a16:rowId xmlns:a16="http://schemas.microsoft.com/office/drawing/2014/main" val="3605963758"/>
                  </a:ext>
                </a:extLst>
              </a:tr>
            </a:tbl>
          </a:graphicData>
        </a:graphic>
      </p:graphicFrame>
    </p:spTree>
    <p:extLst>
      <p:ext uri="{BB962C8B-B14F-4D97-AF65-F5344CB8AC3E}">
        <p14:creationId xmlns:p14="http://schemas.microsoft.com/office/powerpoint/2010/main" val="26162952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AC720-4BE9-3DF2-0E8A-BCB769B66EFF}"/>
              </a:ext>
            </a:extLst>
          </p:cNvPr>
          <p:cNvSpPr>
            <a:spLocks noGrp="1"/>
          </p:cNvSpPr>
          <p:nvPr>
            <p:ph type="title"/>
          </p:nvPr>
        </p:nvSpPr>
        <p:spPr>
          <a:xfrm>
            <a:off x="798864" y="275489"/>
            <a:ext cx="7972902" cy="606544"/>
          </a:xfrm>
        </p:spPr>
        <p:txBody>
          <a:bodyPr>
            <a:normAutofit fontScale="90000"/>
          </a:bodyPr>
          <a:lstStyle/>
          <a:p>
            <a:r>
              <a:rPr lang="en-US" sz="4000"/>
              <a:t>Areas of efficiency: Safety Pharmacology</a:t>
            </a:r>
          </a:p>
        </p:txBody>
      </p:sp>
      <p:sp>
        <p:nvSpPr>
          <p:cNvPr id="4" name="Slide Number Placeholder 3">
            <a:extLst>
              <a:ext uri="{FF2B5EF4-FFF2-40B4-BE49-F238E27FC236}">
                <a16:creationId xmlns:a16="http://schemas.microsoft.com/office/drawing/2014/main" id="{734C8256-127E-52AC-52A3-899E179F966D}"/>
              </a:ext>
            </a:extLst>
          </p:cNvPr>
          <p:cNvSpPr>
            <a:spLocks noGrp="1"/>
          </p:cNvSpPr>
          <p:nvPr>
            <p:ph type="sldNum" sz="quarter" idx="12"/>
          </p:nvPr>
        </p:nvSpPr>
        <p:spPr/>
        <p:txBody>
          <a:bodyPr/>
          <a:lstStyle/>
          <a:p>
            <a:fld id="{8C9BEE26-CBC9-D24B-B62C-3600B65D4342}" type="slidenum">
              <a:rPr lang="en-US" smtClean="0"/>
              <a:t>98</a:t>
            </a:fld>
            <a:endParaRPr lang="en-US"/>
          </a:p>
        </p:txBody>
      </p:sp>
      <p:graphicFrame>
        <p:nvGraphicFramePr>
          <p:cNvPr id="10" name="Table 9">
            <a:extLst>
              <a:ext uri="{FF2B5EF4-FFF2-40B4-BE49-F238E27FC236}">
                <a16:creationId xmlns:a16="http://schemas.microsoft.com/office/drawing/2014/main" id="{39F3C9F2-8570-A92B-0800-44491DD8A7D7}"/>
              </a:ext>
            </a:extLst>
          </p:cNvPr>
          <p:cNvGraphicFramePr>
            <a:graphicFrameLocks noGrp="1"/>
          </p:cNvGraphicFramePr>
          <p:nvPr/>
        </p:nvGraphicFramePr>
        <p:xfrm>
          <a:off x="798864" y="943854"/>
          <a:ext cx="10215071" cy="5334429"/>
        </p:xfrm>
        <a:graphic>
          <a:graphicData uri="http://schemas.openxmlformats.org/drawingml/2006/table">
            <a:tbl>
              <a:tblPr firstRow="1" bandRow="1">
                <a:tableStyleId>{5C22544A-7EE6-4342-B048-85BDC9FD1C3A}</a:tableStyleId>
              </a:tblPr>
              <a:tblGrid>
                <a:gridCol w="10215071">
                  <a:extLst>
                    <a:ext uri="{9D8B030D-6E8A-4147-A177-3AD203B41FA5}">
                      <a16:colId xmlns:a16="http://schemas.microsoft.com/office/drawing/2014/main" val="1994804871"/>
                    </a:ext>
                  </a:extLst>
                </a:gridCol>
              </a:tblGrid>
              <a:tr h="434622">
                <a:tc>
                  <a:txBody>
                    <a:bodyPr/>
                    <a:lstStyle/>
                    <a:p>
                      <a:r>
                        <a:rPr lang="en-US" b="1">
                          <a:solidFill>
                            <a:schemeClr val="bg1"/>
                          </a:solidFill>
                        </a:rPr>
                        <a:t>Safety Pharmacology (ICH S7A/S7B)</a:t>
                      </a:r>
                      <a:endParaRPr lang="en-US">
                        <a:solidFill>
                          <a:schemeClr val="bg1"/>
                        </a:solidFill>
                      </a:endParaRPr>
                    </a:p>
                  </a:txBody>
                  <a:tcPr/>
                </a:tc>
                <a:extLst>
                  <a:ext uri="{0D108BD9-81ED-4DB2-BD59-A6C34878D82A}">
                    <a16:rowId xmlns:a16="http://schemas.microsoft.com/office/drawing/2014/main" val="3780658371"/>
                  </a:ext>
                </a:extLst>
              </a:tr>
              <a:tr h="1315105">
                <a:tc>
                  <a:txBody>
                    <a:bodyPr/>
                    <a:lstStyle/>
                    <a:p>
                      <a:r>
                        <a:rPr lang="en-US" b="1"/>
                        <a:t>Core Battery ‘Traditional’ Approach</a:t>
                      </a:r>
                    </a:p>
                    <a:p>
                      <a:pPr marL="742950" lvl="1" indent="-285750">
                        <a:buFont typeface="Arial" panose="020B0604020202020204" pitchFamily="34" charset="0"/>
                        <a:buChar char="•"/>
                      </a:pPr>
                      <a:r>
                        <a:rPr lang="en-US"/>
                        <a:t>Cardiovascular Safety (Standalone, non-rodent, telemetric, acute exposure)</a:t>
                      </a:r>
                    </a:p>
                    <a:p>
                      <a:pPr marL="742950" lvl="1" indent="-285750">
                        <a:buFont typeface="Arial" panose="020B0604020202020204" pitchFamily="34" charset="0"/>
                        <a:buChar char="•"/>
                      </a:pPr>
                      <a:r>
                        <a:rPr lang="en-US"/>
                        <a:t>CNS Safety (Standalone, rodent, FOB, acute exposure)</a:t>
                      </a:r>
                    </a:p>
                    <a:p>
                      <a:pPr marL="742950" lvl="1" indent="-285750">
                        <a:buFont typeface="Arial" panose="020B0604020202020204" pitchFamily="34" charset="0"/>
                        <a:buChar char="•"/>
                      </a:pPr>
                      <a:r>
                        <a:rPr lang="en-US"/>
                        <a:t>Respiratory (Standalone, rodent, whole body plethysmography)</a:t>
                      </a:r>
                    </a:p>
                  </a:txBody>
                  <a:tcPr/>
                </a:tc>
                <a:extLst>
                  <a:ext uri="{0D108BD9-81ED-4DB2-BD59-A6C34878D82A}">
                    <a16:rowId xmlns:a16="http://schemas.microsoft.com/office/drawing/2014/main" val="3201641846"/>
                  </a:ext>
                </a:extLst>
              </a:tr>
              <a:tr h="1439619">
                <a:tc>
                  <a:txBody>
                    <a:bodyPr/>
                    <a:lstStyle/>
                    <a:p>
                      <a:r>
                        <a:rPr lang="en-US" b="1">
                          <a:solidFill>
                            <a:schemeClr val="tx1"/>
                          </a:solidFill>
                        </a:rPr>
                        <a:t>Commonly Applied Efficiency:  Integrate into toxicology and avoid stand-alone studies</a:t>
                      </a:r>
                    </a:p>
                    <a:p>
                      <a:pPr marL="742950" lvl="1" indent="-285750">
                        <a:buFont typeface="Arial" panose="020B0604020202020204" pitchFamily="34" charset="0"/>
                        <a:buChar char="•"/>
                      </a:pPr>
                      <a:r>
                        <a:rPr lang="en-US" b="0">
                          <a:solidFill>
                            <a:schemeClr val="tx1"/>
                          </a:solidFill>
                        </a:rPr>
                        <a:t>Cardiovascular:  Telemetric assessment in 1 month non-rodent study </a:t>
                      </a:r>
                    </a:p>
                    <a:p>
                      <a:pPr marL="742950" lvl="1" indent="-285750">
                        <a:buFont typeface="Arial" panose="020B0604020202020204" pitchFamily="34" charset="0"/>
                        <a:buChar char="•"/>
                      </a:pPr>
                      <a:r>
                        <a:rPr lang="en-US" b="0">
                          <a:solidFill>
                            <a:schemeClr val="tx1"/>
                          </a:solidFill>
                        </a:rPr>
                        <a:t>CNS: FOB assessment in 1 month rodent study </a:t>
                      </a:r>
                    </a:p>
                    <a:p>
                      <a:pPr marL="742950" lvl="1" indent="-285750">
                        <a:buFont typeface="Arial" panose="020B0604020202020204" pitchFamily="34" charset="0"/>
                        <a:buChar char="•"/>
                      </a:pPr>
                      <a:r>
                        <a:rPr lang="en-US" b="0">
                          <a:solidFill>
                            <a:schemeClr val="tx1"/>
                          </a:solidFill>
                        </a:rPr>
                        <a:t>Respiratory: Quantitative or qualitative (with rationale) assessment in 1 month non-rodent study</a:t>
                      </a:r>
                    </a:p>
                  </a:txBody>
                  <a:tcPr/>
                </a:tc>
                <a:extLst>
                  <a:ext uri="{0D108BD9-81ED-4DB2-BD59-A6C34878D82A}">
                    <a16:rowId xmlns:a16="http://schemas.microsoft.com/office/drawing/2014/main" val="2370347970"/>
                  </a:ext>
                </a:extLst>
              </a:tr>
              <a:tr h="2121662">
                <a:tc>
                  <a:txBody>
                    <a:bodyPr/>
                    <a:lstStyle/>
                    <a:p>
                      <a:r>
                        <a:rPr lang="en-US" b="1"/>
                        <a:t>Science-based rationale/high deviation: Omit telemetry in CV assessment</a:t>
                      </a:r>
                    </a:p>
                    <a:p>
                      <a:r>
                        <a:rPr lang="en-US"/>
                        <a:t>Cardiovascular battery: </a:t>
                      </a:r>
                    </a:p>
                    <a:p>
                      <a:pPr marL="742950" lvl="1" indent="-285750">
                        <a:buFont typeface="Arial" panose="020B0604020202020204" pitchFamily="34" charset="0"/>
                        <a:buChar char="•"/>
                      </a:pPr>
                      <a:r>
                        <a:rPr lang="en-US"/>
                        <a:t>CIPA, including </a:t>
                      </a:r>
                      <a:r>
                        <a:rPr lang="en-US" err="1"/>
                        <a:t>hERG</a:t>
                      </a:r>
                      <a:endParaRPr lang="en-US"/>
                    </a:p>
                    <a:p>
                      <a:pPr marL="742950" lvl="1" indent="-285750">
                        <a:buFont typeface="Arial" panose="020B0604020202020204" pitchFamily="34" charset="0"/>
                        <a:buChar char="•"/>
                      </a:pPr>
                      <a:r>
                        <a:rPr lang="en-US"/>
                        <a:t>Human iPSC-Cardiomyocyte MEA study (arrhythmic potential)</a:t>
                      </a:r>
                    </a:p>
                    <a:p>
                      <a:pPr marL="742950" lvl="1" indent="-285750">
                        <a:buFont typeface="Arial" panose="020B0604020202020204" pitchFamily="34" charset="0"/>
                        <a:buChar char="•"/>
                      </a:pPr>
                      <a:r>
                        <a:rPr lang="en-US"/>
                        <a:t>Snap-shot ECG in non-rodent GLP toxicology study (no telemetric methods)</a:t>
                      </a:r>
                    </a:p>
                    <a:p>
                      <a:pPr marL="742950" lvl="1" indent="-285750">
                        <a:buFont typeface="Arial" panose="020B0604020202020204" pitchFamily="34" charset="0"/>
                        <a:buChar char="•"/>
                      </a:pPr>
                      <a:r>
                        <a:rPr lang="en-US"/>
                        <a:t>Accompanied by risk-based rationale, e.g., class precedent, low/no systemic exposure</a:t>
                      </a:r>
                    </a:p>
                    <a:p>
                      <a:pPr marL="742950" lvl="1" indent="-285750">
                        <a:buFont typeface="Arial" panose="020B0604020202020204" pitchFamily="34" charset="0"/>
                        <a:buChar char="•"/>
                      </a:pPr>
                      <a:r>
                        <a:rPr lang="en-US"/>
                        <a:t>*active area of discussion for S7A revision</a:t>
                      </a:r>
                    </a:p>
                  </a:txBody>
                  <a:tcPr/>
                </a:tc>
                <a:extLst>
                  <a:ext uri="{0D108BD9-81ED-4DB2-BD59-A6C34878D82A}">
                    <a16:rowId xmlns:a16="http://schemas.microsoft.com/office/drawing/2014/main" val="4019078594"/>
                  </a:ext>
                </a:extLst>
              </a:tr>
            </a:tbl>
          </a:graphicData>
        </a:graphic>
      </p:graphicFrame>
      <p:grpSp>
        <p:nvGrpSpPr>
          <p:cNvPr id="15" name="Group 14">
            <a:extLst>
              <a:ext uri="{FF2B5EF4-FFF2-40B4-BE49-F238E27FC236}">
                <a16:creationId xmlns:a16="http://schemas.microsoft.com/office/drawing/2014/main" id="{B5002383-217F-571D-1F40-3557F3ACACC1}"/>
              </a:ext>
            </a:extLst>
          </p:cNvPr>
          <p:cNvGrpSpPr/>
          <p:nvPr/>
        </p:nvGrpSpPr>
        <p:grpSpPr>
          <a:xfrm>
            <a:off x="9854658" y="1414892"/>
            <a:ext cx="1152790" cy="3074880"/>
            <a:chOff x="9854658" y="1414892"/>
            <a:chExt cx="1152790" cy="3074880"/>
          </a:xfrm>
        </p:grpSpPr>
        <p:sp>
          <p:nvSpPr>
            <p:cNvPr id="5" name="Rectangle 4">
              <a:extLst>
                <a:ext uri="{FF2B5EF4-FFF2-40B4-BE49-F238E27FC236}">
                  <a16:creationId xmlns:a16="http://schemas.microsoft.com/office/drawing/2014/main" id="{39EA47F8-4254-B796-D736-196E14386136}"/>
                </a:ext>
              </a:extLst>
            </p:cNvPr>
            <p:cNvSpPr/>
            <p:nvPr/>
          </p:nvSpPr>
          <p:spPr>
            <a:xfrm>
              <a:off x="10340079" y="1414892"/>
              <a:ext cx="639899" cy="307778"/>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FA69D69B-8CE7-C4D4-5592-1C9E1939E21D}"/>
                </a:ext>
              </a:extLst>
            </p:cNvPr>
            <p:cNvSpPr/>
            <p:nvPr/>
          </p:nvSpPr>
          <p:spPr>
            <a:xfrm>
              <a:off x="10345208" y="2701261"/>
              <a:ext cx="639899" cy="307778"/>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DED3EC60-07F8-C6A1-089E-BDDDBAB55592}"/>
                </a:ext>
              </a:extLst>
            </p:cNvPr>
            <p:cNvSpPr/>
            <p:nvPr/>
          </p:nvSpPr>
          <p:spPr>
            <a:xfrm>
              <a:off x="9854658" y="4181994"/>
              <a:ext cx="578621" cy="307778"/>
            </a:xfrm>
            <a:prstGeom prst="rect">
              <a:avLst/>
            </a:prstGeom>
            <a:solidFill>
              <a:srgbClr val="FFC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C4AC776E-8518-39D4-55D4-A0D36E31C93D}"/>
                </a:ext>
              </a:extLst>
            </p:cNvPr>
            <p:cNvSpPr/>
            <p:nvPr/>
          </p:nvSpPr>
          <p:spPr>
            <a:xfrm>
              <a:off x="10428827" y="4181994"/>
              <a:ext cx="578621" cy="307778"/>
            </a:xfrm>
            <a:prstGeom prst="rect">
              <a:avLst/>
            </a:prstGeom>
            <a:solidFill>
              <a:srgbClr val="C00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4022604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CE14C-33CF-97A5-8577-37CB1F2CBF94}"/>
              </a:ext>
            </a:extLst>
          </p:cNvPr>
          <p:cNvSpPr>
            <a:spLocks noGrp="1"/>
          </p:cNvSpPr>
          <p:nvPr>
            <p:ph type="title"/>
          </p:nvPr>
        </p:nvSpPr>
        <p:spPr>
          <a:xfrm>
            <a:off x="838200" y="286672"/>
            <a:ext cx="10515600" cy="570540"/>
          </a:xfrm>
        </p:spPr>
        <p:txBody>
          <a:bodyPr>
            <a:normAutofit fontScale="90000"/>
          </a:bodyPr>
          <a:lstStyle/>
          <a:p>
            <a:r>
              <a:rPr lang="en-US" sz="3600"/>
              <a:t>Areas of efficiency: General Toxicology</a:t>
            </a:r>
          </a:p>
        </p:txBody>
      </p:sp>
      <p:sp>
        <p:nvSpPr>
          <p:cNvPr id="4" name="Slide Number Placeholder 3">
            <a:extLst>
              <a:ext uri="{FF2B5EF4-FFF2-40B4-BE49-F238E27FC236}">
                <a16:creationId xmlns:a16="http://schemas.microsoft.com/office/drawing/2014/main" id="{462295B7-3423-6DDB-4324-04DB6990C57F}"/>
              </a:ext>
            </a:extLst>
          </p:cNvPr>
          <p:cNvSpPr>
            <a:spLocks noGrp="1"/>
          </p:cNvSpPr>
          <p:nvPr>
            <p:ph type="sldNum" sz="quarter" idx="12"/>
          </p:nvPr>
        </p:nvSpPr>
        <p:spPr/>
        <p:txBody>
          <a:bodyPr/>
          <a:lstStyle/>
          <a:p>
            <a:fld id="{8C9BEE26-CBC9-D24B-B62C-3600B65D4342}" type="slidenum">
              <a:rPr lang="en-US" smtClean="0"/>
              <a:t>99</a:t>
            </a:fld>
            <a:endParaRPr lang="en-US"/>
          </a:p>
        </p:txBody>
      </p:sp>
      <p:graphicFrame>
        <p:nvGraphicFramePr>
          <p:cNvPr id="5" name="Table 4">
            <a:extLst>
              <a:ext uri="{FF2B5EF4-FFF2-40B4-BE49-F238E27FC236}">
                <a16:creationId xmlns:a16="http://schemas.microsoft.com/office/drawing/2014/main" id="{AF5501C0-75E9-9112-7DB4-15003D8D00A4}"/>
              </a:ext>
            </a:extLst>
          </p:cNvPr>
          <p:cNvGraphicFramePr>
            <a:graphicFrameLocks noGrp="1"/>
          </p:cNvGraphicFramePr>
          <p:nvPr/>
        </p:nvGraphicFramePr>
        <p:xfrm>
          <a:off x="966315" y="928576"/>
          <a:ext cx="10215071" cy="5278748"/>
        </p:xfrm>
        <a:graphic>
          <a:graphicData uri="http://schemas.openxmlformats.org/drawingml/2006/table">
            <a:tbl>
              <a:tblPr firstRow="1" bandRow="1">
                <a:tableStyleId>{5C22544A-7EE6-4342-B048-85BDC9FD1C3A}</a:tableStyleId>
              </a:tblPr>
              <a:tblGrid>
                <a:gridCol w="10215071">
                  <a:extLst>
                    <a:ext uri="{9D8B030D-6E8A-4147-A177-3AD203B41FA5}">
                      <a16:colId xmlns:a16="http://schemas.microsoft.com/office/drawing/2014/main" val="1994804871"/>
                    </a:ext>
                  </a:extLst>
                </a:gridCol>
              </a:tblGrid>
              <a:tr h="634591">
                <a:tc>
                  <a:txBody>
                    <a:bodyPr/>
                    <a:lstStyle/>
                    <a:p>
                      <a:r>
                        <a:rPr lang="en-US" sz="2000" b="1">
                          <a:solidFill>
                            <a:schemeClr val="bg1"/>
                          </a:solidFill>
                        </a:rPr>
                        <a:t>GLP Toxicology Study Duration   ICH M3(R2)</a:t>
                      </a:r>
                      <a:endParaRPr lang="en-US" sz="2000">
                        <a:solidFill>
                          <a:schemeClr val="bg1"/>
                        </a:solidFill>
                      </a:endParaRPr>
                    </a:p>
                  </a:txBody>
                  <a:tcPr anchor="ctr"/>
                </a:tc>
                <a:extLst>
                  <a:ext uri="{0D108BD9-81ED-4DB2-BD59-A6C34878D82A}">
                    <a16:rowId xmlns:a16="http://schemas.microsoft.com/office/drawing/2014/main" val="3780658371"/>
                  </a:ext>
                </a:extLst>
              </a:tr>
              <a:tr h="1343065">
                <a:tc>
                  <a:txBody>
                    <a:bodyPr/>
                    <a:lstStyle/>
                    <a:p>
                      <a:r>
                        <a:rPr lang="en-US" b="1"/>
                        <a:t>‘Traditional’ Approach, small molecules</a:t>
                      </a:r>
                    </a:p>
                    <a:p>
                      <a:pPr marL="742950" lvl="1" indent="-285750">
                        <a:buFont typeface="Arial" panose="020B0604020202020204" pitchFamily="34" charset="0"/>
                        <a:buChar char="•"/>
                      </a:pPr>
                      <a:r>
                        <a:rPr lang="en-US" b="0"/>
                        <a:t>2wk/1 month to support SAD/MAD</a:t>
                      </a:r>
                    </a:p>
                    <a:p>
                      <a:pPr marL="742950" lvl="1" indent="-285750">
                        <a:buFont typeface="Arial" panose="020B0604020202020204" pitchFamily="34" charset="0"/>
                        <a:buChar char="•"/>
                      </a:pPr>
                      <a:r>
                        <a:rPr lang="en-US" b="0"/>
                        <a:t>3 month tox for ≤3 month clinical trials</a:t>
                      </a:r>
                    </a:p>
                    <a:p>
                      <a:pPr marL="742950" lvl="1" indent="-285750">
                        <a:buFont typeface="Arial" panose="020B0604020202020204" pitchFamily="34" charset="0"/>
                        <a:buChar char="•"/>
                      </a:pPr>
                      <a:r>
                        <a:rPr lang="en-US" b="0"/>
                        <a:t>6/9 month for &gt;3 month clinical trials</a:t>
                      </a:r>
                    </a:p>
                  </a:txBody>
                  <a:tcPr/>
                </a:tc>
                <a:extLst>
                  <a:ext uri="{0D108BD9-81ED-4DB2-BD59-A6C34878D82A}">
                    <a16:rowId xmlns:a16="http://schemas.microsoft.com/office/drawing/2014/main" val="3201641846"/>
                  </a:ext>
                </a:extLst>
              </a:tr>
              <a:tr h="3301092">
                <a:tc>
                  <a:txBody>
                    <a:bodyPr/>
                    <a:lstStyle/>
                    <a:p>
                      <a:r>
                        <a:rPr lang="en-US" b="1">
                          <a:solidFill>
                            <a:schemeClr val="tx1"/>
                          </a:solidFill>
                        </a:rPr>
                        <a:t>(Semi)Common Applied Efficiency:  Omit 3m or consolidate into fewer stand-alone studies</a:t>
                      </a:r>
                    </a:p>
                    <a:p>
                      <a:endParaRPr lang="en-US" b="1">
                        <a:solidFill>
                          <a:schemeClr val="tx1"/>
                        </a:solidFill>
                      </a:endParaRPr>
                    </a:p>
                    <a:p>
                      <a:pPr marL="285750" indent="-285750">
                        <a:buFont typeface="Wingdings" pitchFamily="2" charset="2"/>
                        <a:buChar char="Ø"/>
                      </a:pPr>
                      <a:r>
                        <a:rPr lang="en-US" b="0">
                          <a:solidFill>
                            <a:schemeClr val="tx1"/>
                          </a:solidFill>
                        </a:rPr>
                        <a:t>One month supports SAD/MAD, 6/9 month supports rest of clinical program</a:t>
                      </a:r>
                    </a:p>
                    <a:p>
                      <a:pPr marL="742950" lvl="1" indent="-285750">
                        <a:buFont typeface="Arial" panose="020B0604020202020204" pitchFamily="34" charset="0"/>
                        <a:buChar char="•"/>
                      </a:pPr>
                      <a:r>
                        <a:rPr lang="en-US" b="0" i="1">
                          <a:solidFill>
                            <a:schemeClr val="tx1"/>
                          </a:solidFill>
                        </a:rPr>
                        <a:t>Acceptable to FDA </a:t>
                      </a:r>
                      <a:r>
                        <a:rPr lang="en-US" b="0">
                          <a:solidFill>
                            <a:schemeClr val="tx1"/>
                          </a:solidFill>
                        </a:rPr>
                        <a:t>but carries risk for sponsor</a:t>
                      </a:r>
                    </a:p>
                    <a:p>
                      <a:pPr marL="742950" lvl="1" indent="-285750">
                        <a:buFont typeface="Arial" panose="020B0604020202020204" pitchFamily="34" charset="0"/>
                        <a:buChar char="•"/>
                      </a:pPr>
                      <a:r>
                        <a:rPr lang="en-US" b="0">
                          <a:solidFill>
                            <a:schemeClr val="tx1"/>
                          </a:solidFill>
                        </a:rPr>
                        <a:t>Less information on toxicological dose-response and progression of findings</a:t>
                      </a:r>
                    </a:p>
                    <a:p>
                      <a:pPr marL="742950" lvl="1" indent="-285750">
                        <a:buFont typeface="Arial" panose="020B0604020202020204" pitchFamily="34" charset="0"/>
                        <a:buChar char="•"/>
                      </a:pPr>
                      <a:r>
                        <a:rPr lang="en-US" b="0">
                          <a:solidFill>
                            <a:schemeClr val="tx1"/>
                          </a:solidFill>
                        </a:rPr>
                        <a:t>NOAEL may decrease with duration, and fall below LD of chronic study</a:t>
                      </a:r>
                    </a:p>
                    <a:p>
                      <a:pPr marL="742950" lvl="1" indent="-285750">
                        <a:buFont typeface="Arial" panose="020B0604020202020204" pitchFamily="34" charset="0"/>
                        <a:buChar char="•"/>
                      </a:pPr>
                      <a:r>
                        <a:rPr lang="en-US" b="0">
                          <a:solidFill>
                            <a:schemeClr val="tx1"/>
                          </a:solidFill>
                        </a:rPr>
                        <a:t>Targeted clinical dose/exposure may change, risking nonclinical coverage</a:t>
                      </a:r>
                    </a:p>
                    <a:p>
                      <a:pPr marL="742950" lvl="1" indent="-285750">
                        <a:buFont typeface="Arial" panose="020B0604020202020204" pitchFamily="34" charset="0"/>
                        <a:buChar char="•"/>
                      </a:pPr>
                      <a:r>
                        <a:rPr lang="en-US" b="0">
                          <a:solidFill>
                            <a:schemeClr val="tx1"/>
                          </a:solidFill>
                        </a:rPr>
                        <a:t>Recovery period best done in the 1 month study</a:t>
                      </a:r>
                    </a:p>
                    <a:p>
                      <a:pPr marL="742950" lvl="1" indent="-285750">
                        <a:buFont typeface="Arial" panose="020B0604020202020204" pitchFamily="34" charset="0"/>
                        <a:buChar char="•"/>
                      </a:pPr>
                      <a:endParaRPr lang="en-US" b="0">
                        <a:solidFill>
                          <a:schemeClr val="tx1"/>
                        </a:solidFill>
                      </a:endParaRPr>
                    </a:p>
                    <a:p>
                      <a:pPr marL="292100" lvl="1" indent="-285750">
                        <a:buFont typeface="Wingdings" pitchFamily="2" charset="2"/>
                        <a:buChar char="Ø"/>
                        <a:tabLst/>
                      </a:pPr>
                      <a:r>
                        <a:rPr lang="en-US" b="0">
                          <a:solidFill>
                            <a:schemeClr val="tx1"/>
                          </a:solidFill>
                        </a:rPr>
                        <a:t>One month supports SAD/MAD, 6/9 month includes a 3 month interim sac</a:t>
                      </a:r>
                    </a:p>
                    <a:p>
                      <a:pPr marL="749300" lvl="2" indent="-285750">
                        <a:buFont typeface="Arial" panose="020B0604020202020204" pitchFamily="34" charset="0"/>
                        <a:buChar char="•"/>
                        <a:tabLst/>
                      </a:pPr>
                      <a:r>
                        <a:rPr lang="en-US" b="0">
                          <a:solidFill>
                            <a:schemeClr val="tx1"/>
                          </a:solidFill>
                        </a:rPr>
                        <a:t>Complicates study design (e.g., #/sex/group) and still locked into chosen doses</a:t>
                      </a:r>
                    </a:p>
                  </a:txBody>
                  <a:tcPr/>
                </a:tc>
                <a:extLst>
                  <a:ext uri="{0D108BD9-81ED-4DB2-BD59-A6C34878D82A}">
                    <a16:rowId xmlns:a16="http://schemas.microsoft.com/office/drawing/2014/main" val="2370347970"/>
                  </a:ext>
                </a:extLst>
              </a:tr>
            </a:tbl>
          </a:graphicData>
        </a:graphic>
      </p:graphicFrame>
      <p:sp>
        <p:nvSpPr>
          <p:cNvPr id="7" name="Rectangle 6">
            <a:extLst>
              <a:ext uri="{FF2B5EF4-FFF2-40B4-BE49-F238E27FC236}">
                <a16:creationId xmlns:a16="http://schemas.microsoft.com/office/drawing/2014/main" id="{9A033E4D-C935-CD42-61E5-400CCCA48BA4}"/>
              </a:ext>
            </a:extLst>
          </p:cNvPr>
          <p:cNvSpPr/>
          <p:nvPr/>
        </p:nvSpPr>
        <p:spPr>
          <a:xfrm>
            <a:off x="10519338" y="1567786"/>
            <a:ext cx="639899" cy="307778"/>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432D162D-CD46-E76B-409C-8C91A9585481}"/>
              </a:ext>
            </a:extLst>
          </p:cNvPr>
          <p:cNvSpPr/>
          <p:nvPr/>
        </p:nvSpPr>
        <p:spPr>
          <a:xfrm>
            <a:off x="10602765" y="2920265"/>
            <a:ext cx="578621" cy="307778"/>
          </a:xfrm>
          <a:prstGeom prst="rect">
            <a:avLst/>
          </a:prstGeom>
          <a:solidFill>
            <a:srgbClr val="FFC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34911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8C40-2C34-A539-4CF6-A2052CA8A640}"/>
              </a:ext>
            </a:extLst>
          </p:cNvPr>
          <p:cNvSpPr>
            <a:spLocks noGrp="1"/>
          </p:cNvSpPr>
          <p:nvPr>
            <p:ph type="title"/>
          </p:nvPr>
        </p:nvSpPr>
        <p:spPr>
          <a:xfrm>
            <a:off x="838200" y="365125"/>
            <a:ext cx="10515600" cy="542187"/>
          </a:xfrm>
        </p:spPr>
        <p:txBody>
          <a:bodyPr>
            <a:normAutofit fontScale="90000"/>
          </a:bodyPr>
          <a:lstStyle/>
          <a:p>
            <a:r>
              <a:rPr lang="en-US" sz="3600"/>
              <a:t>Areas of efficiency: General Toxicology</a:t>
            </a:r>
          </a:p>
        </p:txBody>
      </p:sp>
      <p:sp>
        <p:nvSpPr>
          <p:cNvPr id="4" name="Slide Number Placeholder 3">
            <a:extLst>
              <a:ext uri="{FF2B5EF4-FFF2-40B4-BE49-F238E27FC236}">
                <a16:creationId xmlns:a16="http://schemas.microsoft.com/office/drawing/2014/main" id="{3016764C-1D00-781E-15A2-9343E9044021}"/>
              </a:ext>
            </a:extLst>
          </p:cNvPr>
          <p:cNvSpPr>
            <a:spLocks noGrp="1"/>
          </p:cNvSpPr>
          <p:nvPr>
            <p:ph type="sldNum" sz="quarter" idx="12"/>
          </p:nvPr>
        </p:nvSpPr>
        <p:spPr/>
        <p:txBody>
          <a:bodyPr/>
          <a:lstStyle/>
          <a:p>
            <a:fld id="{8C9BEE26-CBC9-D24B-B62C-3600B65D4342}" type="slidenum">
              <a:rPr lang="en-US" smtClean="0"/>
              <a:t>100</a:t>
            </a:fld>
            <a:endParaRPr lang="en-US"/>
          </a:p>
        </p:txBody>
      </p:sp>
      <p:graphicFrame>
        <p:nvGraphicFramePr>
          <p:cNvPr id="5" name="Table 4">
            <a:extLst>
              <a:ext uri="{FF2B5EF4-FFF2-40B4-BE49-F238E27FC236}">
                <a16:creationId xmlns:a16="http://schemas.microsoft.com/office/drawing/2014/main" id="{50A23ABF-1086-4318-F679-2DC2285A068C}"/>
              </a:ext>
            </a:extLst>
          </p:cNvPr>
          <p:cNvGraphicFramePr>
            <a:graphicFrameLocks noGrp="1"/>
          </p:cNvGraphicFramePr>
          <p:nvPr/>
        </p:nvGraphicFramePr>
        <p:xfrm>
          <a:off x="924669" y="1020725"/>
          <a:ext cx="10215071" cy="4886015"/>
        </p:xfrm>
        <a:graphic>
          <a:graphicData uri="http://schemas.openxmlformats.org/drawingml/2006/table">
            <a:tbl>
              <a:tblPr firstRow="1" bandRow="1">
                <a:tableStyleId>{5C22544A-7EE6-4342-B048-85BDC9FD1C3A}</a:tableStyleId>
              </a:tblPr>
              <a:tblGrid>
                <a:gridCol w="10215071">
                  <a:extLst>
                    <a:ext uri="{9D8B030D-6E8A-4147-A177-3AD203B41FA5}">
                      <a16:colId xmlns:a16="http://schemas.microsoft.com/office/drawing/2014/main" val="1994804871"/>
                    </a:ext>
                  </a:extLst>
                </a:gridCol>
              </a:tblGrid>
              <a:tr h="634591">
                <a:tc>
                  <a:txBody>
                    <a:bodyPr/>
                    <a:lstStyle/>
                    <a:p>
                      <a:r>
                        <a:rPr lang="en-US" sz="2000" b="1">
                          <a:solidFill>
                            <a:schemeClr val="bg1"/>
                          </a:solidFill>
                        </a:rPr>
                        <a:t>GLP Toxicology Study Scope   ICH M3(R2)</a:t>
                      </a:r>
                      <a:endParaRPr lang="en-US" sz="2000">
                        <a:solidFill>
                          <a:schemeClr val="bg1"/>
                        </a:solidFill>
                      </a:endParaRPr>
                    </a:p>
                  </a:txBody>
                  <a:tcPr anchor="ctr"/>
                </a:tc>
                <a:extLst>
                  <a:ext uri="{0D108BD9-81ED-4DB2-BD59-A6C34878D82A}">
                    <a16:rowId xmlns:a16="http://schemas.microsoft.com/office/drawing/2014/main" val="3780658371"/>
                  </a:ext>
                </a:extLst>
              </a:tr>
              <a:tr h="868144">
                <a:tc>
                  <a:txBody>
                    <a:bodyPr/>
                    <a:lstStyle/>
                    <a:p>
                      <a:r>
                        <a:rPr lang="en-US" b="1"/>
                        <a:t>‘Traditional’ Approach for small molecules</a:t>
                      </a:r>
                    </a:p>
                    <a:p>
                      <a:pPr marL="742950" lvl="1" indent="-285750">
                        <a:buFont typeface="Arial" panose="020B0604020202020204" pitchFamily="34" charset="0"/>
                        <a:buChar char="•"/>
                      </a:pPr>
                      <a:r>
                        <a:rPr lang="en-US" b="0"/>
                        <a:t>2 species, rodent and non-rodent</a:t>
                      </a:r>
                    </a:p>
                  </a:txBody>
                  <a:tcPr/>
                </a:tc>
                <a:extLst>
                  <a:ext uri="{0D108BD9-81ED-4DB2-BD59-A6C34878D82A}">
                    <a16:rowId xmlns:a16="http://schemas.microsoft.com/office/drawing/2014/main" val="3201641846"/>
                  </a:ext>
                </a:extLst>
              </a:tr>
              <a:tr h="3301092">
                <a:tc>
                  <a:txBody>
                    <a:bodyPr/>
                    <a:lstStyle/>
                    <a:p>
                      <a:r>
                        <a:rPr lang="en-US" b="1">
                          <a:solidFill>
                            <a:schemeClr val="tx1"/>
                          </a:solidFill>
                        </a:rPr>
                        <a:t>High Deviation / High Risk</a:t>
                      </a:r>
                    </a:p>
                    <a:p>
                      <a:endParaRPr lang="en-US" b="1">
                        <a:solidFill>
                          <a:schemeClr val="tx1"/>
                        </a:solidFill>
                      </a:endParaRPr>
                    </a:p>
                    <a:p>
                      <a:r>
                        <a:rPr lang="en-US" b="0">
                          <a:solidFill>
                            <a:schemeClr val="tx1"/>
                          </a:solidFill>
                        </a:rPr>
                        <a:t>Two species toxicology remains a foundational expectation for small molecules, even if both species are not pharmacologically relevant (rare)</a:t>
                      </a:r>
                    </a:p>
                    <a:p>
                      <a:endParaRPr lang="en-US" b="0">
                        <a:solidFill>
                          <a:schemeClr val="tx1"/>
                        </a:solidFill>
                      </a:endParaRPr>
                    </a:p>
                    <a:p>
                      <a:r>
                        <a:rPr lang="en-US" b="0">
                          <a:solidFill>
                            <a:schemeClr val="tx1"/>
                          </a:solidFill>
                        </a:rPr>
                        <a:t>Potential scenarios for one species tox:</a:t>
                      </a:r>
                    </a:p>
                    <a:p>
                      <a:pPr marL="742950" lvl="1" indent="-285750">
                        <a:buFont typeface="Arial" panose="020B0604020202020204" pitchFamily="34" charset="0"/>
                        <a:buChar char="•"/>
                      </a:pPr>
                      <a:r>
                        <a:rPr lang="en-US" b="0">
                          <a:solidFill>
                            <a:schemeClr val="tx1"/>
                          </a:solidFill>
                        </a:rPr>
                        <a:t>Cytotoxic drugs with known </a:t>
                      </a:r>
                      <a:r>
                        <a:rPr lang="en-US" b="0" err="1">
                          <a:solidFill>
                            <a:schemeClr val="tx1"/>
                          </a:solidFill>
                        </a:rPr>
                        <a:t>MoA</a:t>
                      </a:r>
                      <a:endParaRPr lang="en-US" b="0">
                        <a:solidFill>
                          <a:schemeClr val="tx1"/>
                        </a:solidFill>
                      </a:endParaRPr>
                    </a:p>
                    <a:p>
                      <a:pPr marL="742950" lvl="1" indent="-285750">
                        <a:buFont typeface="Arial" panose="020B0604020202020204" pitchFamily="34" charset="0"/>
                        <a:buChar char="•"/>
                      </a:pPr>
                      <a:r>
                        <a:rPr lang="en-US" b="0">
                          <a:solidFill>
                            <a:schemeClr val="tx1"/>
                          </a:solidFill>
                        </a:rPr>
                        <a:t>Dose-limiting, species-specific intolerance in rodent or non-rodent</a:t>
                      </a:r>
                    </a:p>
                    <a:p>
                      <a:pPr marL="742950" lvl="1" indent="-285750">
                        <a:buFont typeface="Arial" panose="020B0604020202020204" pitchFamily="34" charset="0"/>
                        <a:buChar char="•"/>
                      </a:pPr>
                      <a:r>
                        <a:rPr lang="en-US" b="0">
                          <a:solidFill>
                            <a:schemeClr val="tx1"/>
                          </a:solidFill>
                        </a:rPr>
                        <a:t>Minor modifications to a well-characterized drug</a:t>
                      </a:r>
                    </a:p>
                    <a:p>
                      <a:pPr marL="742950" lvl="1" indent="-285750">
                        <a:buFont typeface="Arial" panose="020B0604020202020204" pitchFamily="34" charset="0"/>
                        <a:buChar char="•"/>
                      </a:pPr>
                      <a:r>
                        <a:rPr lang="en-US" b="0">
                          <a:solidFill>
                            <a:schemeClr val="tx1"/>
                          </a:solidFill>
                        </a:rPr>
                        <a:t>Bridging-type product changes (e.g., </a:t>
                      </a:r>
                      <a:r>
                        <a:rPr lang="en-US" b="0" err="1">
                          <a:solidFill>
                            <a:schemeClr val="tx1"/>
                          </a:solidFill>
                        </a:rPr>
                        <a:t>RoA</a:t>
                      </a:r>
                      <a:r>
                        <a:rPr lang="en-US" b="0">
                          <a:solidFill>
                            <a:schemeClr val="tx1"/>
                          </a:solidFill>
                        </a:rPr>
                        <a:t>, formulation)</a:t>
                      </a:r>
                    </a:p>
                    <a:p>
                      <a:pPr marL="742950" lvl="1" indent="-285750">
                        <a:buFont typeface="Arial" panose="020B0604020202020204" pitchFamily="34" charset="0"/>
                        <a:buChar char="•"/>
                      </a:pPr>
                      <a:r>
                        <a:rPr lang="en-US" b="0">
                          <a:solidFill>
                            <a:schemeClr val="tx1"/>
                          </a:solidFill>
                        </a:rPr>
                        <a:t>‘Legacy’ or DESI drug re-introduced into development</a:t>
                      </a:r>
                    </a:p>
                    <a:p>
                      <a:endParaRPr lang="en-US" b="0">
                        <a:solidFill>
                          <a:schemeClr val="tx1"/>
                        </a:solidFill>
                      </a:endParaRPr>
                    </a:p>
                  </a:txBody>
                  <a:tcPr/>
                </a:tc>
                <a:extLst>
                  <a:ext uri="{0D108BD9-81ED-4DB2-BD59-A6C34878D82A}">
                    <a16:rowId xmlns:a16="http://schemas.microsoft.com/office/drawing/2014/main" val="2370347970"/>
                  </a:ext>
                </a:extLst>
              </a:tr>
            </a:tbl>
          </a:graphicData>
        </a:graphic>
      </p:graphicFrame>
      <p:sp>
        <p:nvSpPr>
          <p:cNvPr id="9" name="Rectangle 8">
            <a:extLst>
              <a:ext uri="{FF2B5EF4-FFF2-40B4-BE49-F238E27FC236}">
                <a16:creationId xmlns:a16="http://schemas.microsoft.com/office/drawing/2014/main" id="{04CF75C5-F9B7-342B-55E1-254CDBF43E23}"/>
              </a:ext>
            </a:extLst>
          </p:cNvPr>
          <p:cNvSpPr/>
          <p:nvPr/>
        </p:nvSpPr>
        <p:spPr>
          <a:xfrm>
            <a:off x="10472371" y="1641720"/>
            <a:ext cx="639899" cy="307778"/>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059F3699-9EA6-4F32-ADF8-4D36233A466C}"/>
              </a:ext>
            </a:extLst>
          </p:cNvPr>
          <p:cNvSpPr/>
          <p:nvPr/>
        </p:nvSpPr>
        <p:spPr>
          <a:xfrm>
            <a:off x="10533649" y="2516227"/>
            <a:ext cx="578621" cy="307778"/>
          </a:xfrm>
          <a:prstGeom prst="rect">
            <a:avLst/>
          </a:prstGeom>
          <a:solidFill>
            <a:srgbClr val="C00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903197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E68FD9-6B25-13F6-4FD6-D0B247A1EFAD}"/>
              </a:ext>
            </a:extLst>
          </p:cNvPr>
          <p:cNvSpPr>
            <a:spLocks noGrp="1"/>
          </p:cNvSpPr>
          <p:nvPr>
            <p:ph type="sldNum" sz="quarter" idx="12"/>
          </p:nvPr>
        </p:nvSpPr>
        <p:spPr/>
        <p:txBody>
          <a:bodyPr/>
          <a:lstStyle/>
          <a:p>
            <a:fld id="{8C9BEE26-CBC9-D24B-B62C-3600B65D4342}" type="slidenum">
              <a:rPr lang="en-US" smtClean="0"/>
              <a:t>101</a:t>
            </a:fld>
            <a:endParaRPr lang="en-US"/>
          </a:p>
        </p:txBody>
      </p:sp>
      <p:sp>
        <p:nvSpPr>
          <p:cNvPr id="5" name="Title 1">
            <a:extLst>
              <a:ext uri="{FF2B5EF4-FFF2-40B4-BE49-F238E27FC236}">
                <a16:creationId xmlns:a16="http://schemas.microsoft.com/office/drawing/2014/main" id="{0696B776-2F3C-B4E6-2382-66F71E528C2C}"/>
              </a:ext>
            </a:extLst>
          </p:cNvPr>
          <p:cNvSpPr>
            <a:spLocks noGrp="1"/>
          </p:cNvSpPr>
          <p:nvPr>
            <p:ph type="title"/>
          </p:nvPr>
        </p:nvSpPr>
        <p:spPr>
          <a:xfrm>
            <a:off x="838200" y="365125"/>
            <a:ext cx="10515600" cy="542187"/>
          </a:xfrm>
        </p:spPr>
        <p:txBody>
          <a:bodyPr>
            <a:normAutofit fontScale="90000"/>
          </a:bodyPr>
          <a:lstStyle/>
          <a:p>
            <a:r>
              <a:rPr lang="en-US" sz="3600"/>
              <a:t>Areas of efficiency: Developmental &amp; Repro Toxicology (DART) </a:t>
            </a:r>
          </a:p>
        </p:txBody>
      </p:sp>
      <p:graphicFrame>
        <p:nvGraphicFramePr>
          <p:cNvPr id="6" name="Table 5">
            <a:extLst>
              <a:ext uri="{FF2B5EF4-FFF2-40B4-BE49-F238E27FC236}">
                <a16:creationId xmlns:a16="http://schemas.microsoft.com/office/drawing/2014/main" id="{4981881E-850E-B426-AD28-F58A9C425EFF}"/>
              </a:ext>
            </a:extLst>
          </p:cNvPr>
          <p:cNvGraphicFramePr>
            <a:graphicFrameLocks noGrp="1"/>
          </p:cNvGraphicFramePr>
          <p:nvPr/>
        </p:nvGraphicFramePr>
        <p:xfrm>
          <a:off x="924669" y="1020725"/>
          <a:ext cx="10215071" cy="5124403"/>
        </p:xfrm>
        <a:graphic>
          <a:graphicData uri="http://schemas.openxmlformats.org/drawingml/2006/table">
            <a:tbl>
              <a:tblPr firstRow="1" bandRow="1">
                <a:tableStyleId>{5C22544A-7EE6-4342-B048-85BDC9FD1C3A}</a:tableStyleId>
              </a:tblPr>
              <a:tblGrid>
                <a:gridCol w="10215071">
                  <a:extLst>
                    <a:ext uri="{9D8B030D-6E8A-4147-A177-3AD203B41FA5}">
                      <a16:colId xmlns:a16="http://schemas.microsoft.com/office/drawing/2014/main" val="1994804871"/>
                    </a:ext>
                  </a:extLst>
                </a:gridCol>
              </a:tblGrid>
              <a:tr h="634591">
                <a:tc>
                  <a:txBody>
                    <a:bodyPr/>
                    <a:lstStyle/>
                    <a:p>
                      <a:r>
                        <a:rPr lang="en-US" sz="2000" b="1">
                          <a:solidFill>
                            <a:schemeClr val="bg1"/>
                          </a:solidFill>
                        </a:rPr>
                        <a:t>DART Timing   ICH S5(R3)</a:t>
                      </a:r>
                      <a:endParaRPr lang="en-US" sz="2000">
                        <a:solidFill>
                          <a:schemeClr val="bg1"/>
                        </a:solidFill>
                      </a:endParaRPr>
                    </a:p>
                  </a:txBody>
                  <a:tcPr anchor="ctr"/>
                </a:tc>
                <a:extLst>
                  <a:ext uri="{0D108BD9-81ED-4DB2-BD59-A6C34878D82A}">
                    <a16:rowId xmlns:a16="http://schemas.microsoft.com/office/drawing/2014/main" val="3780658371"/>
                  </a:ext>
                </a:extLst>
              </a:tr>
              <a:tr h="868144">
                <a:tc>
                  <a:txBody>
                    <a:bodyPr/>
                    <a:lstStyle/>
                    <a:p>
                      <a:r>
                        <a:rPr lang="en-US" b="1"/>
                        <a:t>‘Traditional’ Approach for small molecules</a:t>
                      </a:r>
                    </a:p>
                    <a:p>
                      <a:pPr marL="742950" lvl="1" indent="-285750">
                        <a:buFont typeface="Arial" panose="020B0604020202020204" pitchFamily="34" charset="0"/>
                        <a:buChar char="•"/>
                      </a:pPr>
                      <a:r>
                        <a:rPr lang="en-US" b="0"/>
                        <a:t>2 species, rodent and non-rodent</a:t>
                      </a:r>
                    </a:p>
                    <a:p>
                      <a:pPr marL="742950" lvl="1" indent="-285750">
                        <a:buFont typeface="Arial" panose="020B0604020202020204" pitchFamily="34" charset="0"/>
                        <a:buChar char="•"/>
                      </a:pPr>
                      <a:r>
                        <a:rPr lang="en-US" b="0"/>
                        <a:t>FEED/EFD to support Phase III</a:t>
                      </a:r>
                    </a:p>
                    <a:p>
                      <a:pPr marL="742950" lvl="1" indent="-285750">
                        <a:buFont typeface="Arial" panose="020B0604020202020204" pitchFamily="34" charset="0"/>
                        <a:buChar char="•"/>
                      </a:pPr>
                      <a:r>
                        <a:rPr lang="en-US" b="0"/>
                        <a:t>PPND to support NDA submission</a:t>
                      </a:r>
                    </a:p>
                  </a:txBody>
                  <a:tcPr/>
                </a:tc>
                <a:extLst>
                  <a:ext uri="{0D108BD9-81ED-4DB2-BD59-A6C34878D82A}">
                    <a16:rowId xmlns:a16="http://schemas.microsoft.com/office/drawing/2014/main" val="3201641846"/>
                  </a:ext>
                </a:extLst>
              </a:tr>
              <a:tr h="3301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Science-Based Rationale to defer/waive studies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Definitive EFD may be waived or deferred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EFD toxicity is anticipated based on class/mechanism and positive prediction from alternative assay (e.g., WEC)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Positive and relevant outcome in a preliminary EFD</a:t>
                      </a:r>
                      <a:endParaRPr lang="en-US" b="0">
                        <a:solidFill>
                          <a:schemeClr val="tx1"/>
                        </a:solidFill>
                      </a:endParaRPr>
                    </a:p>
                    <a:p>
                      <a:endParaRPr lang="en-US" b="1">
                        <a:solidFill>
                          <a:schemeClr val="tx1"/>
                        </a:solidFill>
                      </a:endParaRPr>
                    </a:p>
                    <a:p>
                      <a:r>
                        <a:rPr lang="en-US" b="0">
                          <a:solidFill>
                            <a:schemeClr val="tx1"/>
                          </a:solidFill>
                        </a:rPr>
                        <a:t>Patient population attributes can influence timing or need for conducting the complete battery</a:t>
                      </a:r>
                    </a:p>
                    <a:p>
                      <a:pPr marL="742950" lvl="1" indent="-285750">
                        <a:buFont typeface="Arial" panose="020B0604020202020204" pitchFamily="34" charset="0"/>
                        <a:buChar char="•"/>
                      </a:pPr>
                      <a:r>
                        <a:rPr lang="en-US" b="0">
                          <a:solidFill>
                            <a:schemeClr val="tx1"/>
                          </a:solidFill>
                        </a:rPr>
                        <a:t>Pediatrics, post-menopausal women, hospitalized settings, some SDLT and most S9 indications</a:t>
                      </a:r>
                    </a:p>
                  </a:txBody>
                  <a:tcPr/>
                </a:tc>
                <a:extLst>
                  <a:ext uri="{0D108BD9-81ED-4DB2-BD59-A6C34878D82A}">
                    <a16:rowId xmlns:a16="http://schemas.microsoft.com/office/drawing/2014/main" val="2370347970"/>
                  </a:ext>
                </a:extLst>
              </a:tr>
            </a:tbl>
          </a:graphicData>
        </a:graphic>
      </p:graphicFrame>
      <p:sp>
        <p:nvSpPr>
          <p:cNvPr id="7" name="Rectangle 6">
            <a:extLst>
              <a:ext uri="{FF2B5EF4-FFF2-40B4-BE49-F238E27FC236}">
                <a16:creationId xmlns:a16="http://schemas.microsoft.com/office/drawing/2014/main" id="{9D394D9C-4A4B-BB91-38CE-4DD966AF2E7A}"/>
              </a:ext>
            </a:extLst>
          </p:cNvPr>
          <p:cNvSpPr/>
          <p:nvPr/>
        </p:nvSpPr>
        <p:spPr>
          <a:xfrm>
            <a:off x="10472371" y="1641720"/>
            <a:ext cx="639899" cy="307778"/>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DBC50F24-AE1D-254E-5691-4A35DF84C3F8}"/>
              </a:ext>
            </a:extLst>
          </p:cNvPr>
          <p:cNvSpPr/>
          <p:nvPr/>
        </p:nvSpPr>
        <p:spPr>
          <a:xfrm>
            <a:off x="10561119" y="2851238"/>
            <a:ext cx="578621" cy="307778"/>
          </a:xfrm>
          <a:prstGeom prst="rect">
            <a:avLst/>
          </a:prstGeom>
          <a:solidFill>
            <a:srgbClr val="FFC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30164555-F635-C855-78DB-DC6FC1FD07EF}"/>
              </a:ext>
            </a:extLst>
          </p:cNvPr>
          <p:cNvSpPr/>
          <p:nvPr/>
        </p:nvSpPr>
        <p:spPr>
          <a:xfrm>
            <a:off x="9921220" y="2851238"/>
            <a:ext cx="639899" cy="307778"/>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51190750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377CDA-1A65-7549-8825-53FB32948627}"/>
              </a:ext>
            </a:extLst>
          </p:cNvPr>
          <p:cNvSpPr>
            <a:spLocks noGrp="1"/>
          </p:cNvSpPr>
          <p:nvPr>
            <p:ph type="sldNum" sz="quarter" idx="12"/>
          </p:nvPr>
        </p:nvSpPr>
        <p:spPr>
          <a:xfrm>
            <a:off x="11587571" y="6441409"/>
            <a:ext cx="446903" cy="365125"/>
          </a:xfrm>
        </p:spPr>
        <p:txBody>
          <a:bodyPr/>
          <a:lstStyle/>
          <a:p>
            <a:fld id="{8C9BEE26-CBC9-D24B-B62C-3600B65D4342}" type="slidenum">
              <a:rPr lang="en-US" smtClean="0"/>
              <a:t>102</a:t>
            </a:fld>
            <a:endParaRPr lang="en-US"/>
          </a:p>
        </p:txBody>
      </p:sp>
      <p:graphicFrame>
        <p:nvGraphicFramePr>
          <p:cNvPr id="5" name="Table 4">
            <a:extLst>
              <a:ext uri="{FF2B5EF4-FFF2-40B4-BE49-F238E27FC236}">
                <a16:creationId xmlns:a16="http://schemas.microsoft.com/office/drawing/2014/main" id="{2B529EE5-A2BF-FD95-E4F4-644421649357}"/>
              </a:ext>
            </a:extLst>
          </p:cNvPr>
          <p:cNvGraphicFramePr>
            <a:graphicFrameLocks noGrp="1"/>
          </p:cNvGraphicFramePr>
          <p:nvPr/>
        </p:nvGraphicFramePr>
        <p:xfrm>
          <a:off x="924669" y="869947"/>
          <a:ext cx="10215071" cy="5571461"/>
        </p:xfrm>
        <a:graphic>
          <a:graphicData uri="http://schemas.openxmlformats.org/drawingml/2006/table">
            <a:tbl>
              <a:tblPr firstRow="1" bandRow="1">
                <a:tableStyleId>{5C22544A-7EE6-4342-B048-85BDC9FD1C3A}</a:tableStyleId>
              </a:tblPr>
              <a:tblGrid>
                <a:gridCol w="10215071">
                  <a:extLst>
                    <a:ext uri="{9D8B030D-6E8A-4147-A177-3AD203B41FA5}">
                      <a16:colId xmlns:a16="http://schemas.microsoft.com/office/drawing/2014/main" val="1994804871"/>
                    </a:ext>
                  </a:extLst>
                </a:gridCol>
              </a:tblGrid>
              <a:tr h="725508">
                <a:tc>
                  <a:txBody>
                    <a:bodyPr/>
                    <a:lstStyle/>
                    <a:p>
                      <a:r>
                        <a:rPr lang="en-US" sz="2000" b="1">
                          <a:solidFill>
                            <a:schemeClr val="bg1"/>
                          </a:solidFill>
                        </a:rPr>
                        <a:t>Carcinogenicity Assessments ICH S1A, S1B(R1)</a:t>
                      </a:r>
                      <a:endParaRPr lang="en-US" sz="2000">
                        <a:solidFill>
                          <a:schemeClr val="bg1"/>
                        </a:solidFill>
                      </a:endParaRPr>
                    </a:p>
                  </a:txBody>
                  <a:tcPr anchor="ctr"/>
                </a:tc>
                <a:extLst>
                  <a:ext uri="{0D108BD9-81ED-4DB2-BD59-A6C34878D82A}">
                    <a16:rowId xmlns:a16="http://schemas.microsoft.com/office/drawing/2014/main" val="3780658371"/>
                  </a:ext>
                </a:extLst>
              </a:tr>
              <a:tr h="1059593">
                <a:tc>
                  <a:txBody>
                    <a:bodyPr/>
                    <a:lstStyle/>
                    <a:p>
                      <a:r>
                        <a:rPr lang="en-US" b="1"/>
                        <a:t>‘Traditional’ Approach for small molecules</a:t>
                      </a:r>
                    </a:p>
                    <a:p>
                      <a:pPr marL="742950" lvl="1" indent="-285750">
                        <a:buFont typeface="Arial" panose="020B0604020202020204" pitchFamily="34" charset="0"/>
                        <a:buChar char="•"/>
                      </a:pPr>
                      <a:r>
                        <a:rPr lang="en-US" b="0"/>
                        <a:t>One long term study in a rodent (2yr rat default)</a:t>
                      </a:r>
                    </a:p>
                    <a:p>
                      <a:pPr marL="742950" lvl="1" indent="-285750">
                        <a:buFont typeface="Arial" panose="020B0604020202020204" pitchFamily="34" charset="0"/>
                        <a:buChar char="•"/>
                      </a:pPr>
                      <a:r>
                        <a:rPr lang="en-US" b="0"/>
                        <a:t>One supplemental in vivo study (i.e., 6m </a:t>
                      </a:r>
                      <a:r>
                        <a:rPr lang="en-US" b="0" err="1"/>
                        <a:t>TgRas</a:t>
                      </a:r>
                      <a:r>
                        <a:rPr lang="en-US" b="0"/>
                        <a:t> or 2yr mouse) </a:t>
                      </a:r>
                    </a:p>
                  </a:txBody>
                  <a:tcPr/>
                </a:tc>
                <a:extLst>
                  <a:ext uri="{0D108BD9-81ED-4DB2-BD59-A6C34878D82A}">
                    <a16:rowId xmlns:a16="http://schemas.microsoft.com/office/drawing/2014/main" val="3201641846"/>
                  </a:ext>
                </a:extLst>
              </a:tr>
              <a:tr h="3786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Science-Based Rationale, </a:t>
                      </a:r>
                      <a:r>
                        <a:rPr lang="en-US" b="1" err="1"/>
                        <a:t>WoE</a:t>
                      </a:r>
                      <a:r>
                        <a:rPr lang="en-US" b="1"/>
                        <a:t> S1BR1 Addendum</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err="1"/>
                        <a:t>WoE</a:t>
                      </a:r>
                      <a:r>
                        <a:rPr lang="en-US"/>
                        <a:t> assessment argument that 2yr rat study would not add value to assessing </a:t>
                      </a:r>
                      <a:r>
                        <a:rPr lang="en-US" err="1"/>
                        <a:t>carci</a:t>
                      </a:r>
                      <a:r>
                        <a:rPr lang="en-US"/>
                        <a:t> potential based on currently available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1"/>
                        <a:t>When successful, the 2yr rat study is waived. In some cases, the mouse study is also waived.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Requires 6 month chronic rat toxicology data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Benefits from building </a:t>
                      </a:r>
                      <a:r>
                        <a:rPr lang="en-US" err="1"/>
                        <a:t>WoE</a:t>
                      </a:r>
                      <a:r>
                        <a:rPr lang="en-US"/>
                        <a:t> early in program (e.g., secondary screening, target safety assessment, metabolite profiling, </a:t>
                      </a:r>
                      <a:r>
                        <a:rPr lang="en-US" err="1"/>
                        <a:t>etc</a:t>
                      </a:r>
                      <a:r>
                        <a:rPr lang="en-US"/>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Requires DRA concurrence on proposal, currently successful in half of cases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t>Patient population and medical need considerations can warrant proposals to conduct </a:t>
                      </a:r>
                      <a:r>
                        <a:rPr lang="en-US" b="1" err="1"/>
                        <a:t>carci</a:t>
                      </a:r>
                      <a:r>
                        <a:rPr lang="en-US" b="1"/>
                        <a:t> assessments as a PMR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Rare diseases with unmet medical need a common situation</a:t>
                      </a:r>
                    </a:p>
                  </a:txBody>
                  <a:tcPr/>
                </a:tc>
                <a:extLst>
                  <a:ext uri="{0D108BD9-81ED-4DB2-BD59-A6C34878D82A}">
                    <a16:rowId xmlns:a16="http://schemas.microsoft.com/office/drawing/2014/main" val="2370347970"/>
                  </a:ext>
                </a:extLst>
              </a:tr>
            </a:tbl>
          </a:graphicData>
        </a:graphic>
      </p:graphicFrame>
      <p:sp>
        <p:nvSpPr>
          <p:cNvPr id="6" name="Rectangle 5">
            <a:extLst>
              <a:ext uri="{FF2B5EF4-FFF2-40B4-BE49-F238E27FC236}">
                <a16:creationId xmlns:a16="http://schemas.microsoft.com/office/drawing/2014/main" id="{79171FA2-8A45-B8C4-AEED-C6CEAE30E894}"/>
              </a:ext>
            </a:extLst>
          </p:cNvPr>
          <p:cNvSpPr/>
          <p:nvPr/>
        </p:nvSpPr>
        <p:spPr>
          <a:xfrm>
            <a:off x="10561119" y="2666940"/>
            <a:ext cx="578621" cy="307778"/>
          </a:xfrm>
          <a:prstGeom prst="rect">
            <a:avLst/>
          </a:prstGeom>
          <a:solidFill>
            <a:srgbClr val="FFC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D3DC2F89-8E61-8A8E-7AD4-37691DD5A4FF}"/>
              </a:ext>
            </a:extLst>
          </p:cNvPr>
          <p:cNvSpPr/>
          <p:nvPr/>
        </p:nvSpPr>
        <p:spPr>
          <a:xfrm>
            <a:off x="9921220" y="2666940"/>
            <a:ext cx="639899" cy="307778"/>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DD88D572-F674-110B-2841-A17A70255B43}"/>
              </a:ext>
            </a:extLst>
          </p:cNvPr>
          <p:cNvSpPr/>
          <p:nvPr/>
        </p:nvSpPr>
        <p:spPr>
          <a:xfrm>
            <a:off x="10499841" y="1656847"/>
            <a:ext cx="639899" cy="307778"/>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1">
            <a:extLst>
              <a:ext uri="{FF2B5EF4-FFF2-40B4-BE49-F238E27FC236}">
                <a16:creationId xmlns:a16="http://schemas.microsoft.com/office/drawing/2014/main" id="{1E7E68C3-3158-68E8-1939-C215D2640DDD}"/>
              </a:ext>
            </a:extLst>
          </p:cNvPr>
          <p:cNvSpPr>
            <a:spLocks noGrp="1"/>
          </p:cNvSpPr>
          <p:nvPr>
            <p:ph type="title"/>
          </p:nvPr>
        </p:nvSpPr>
        <p:spPr>
          <a:xfrm>
            <a:off x="1050851" y="244623"/>
            <a:ext cx="6179288" cy="542187"/>
          </a:xfrm>
        </p:spPr>
        <p:txBody>
          <a:bodyPr>
            <a:normAutofit fontScale="90000"/>
          </a:bodyPr>
          <a:lstStyle/>
          <a:p>
            <a:r>
              <a:rPr lang="en-US" sz="3600"/>
              <a:t>Areas of efficiency: Carcinogenicity</a:t>
            </a:r>
          </a:p>
        </p:txBody>
      </p:sp>
    </p:spTree>
    <p:extLst>
      <p:ext uri="{BB962C8B-B14F-4D97-AF65-F5344CB8AC3E}">
        <p14:creationId xmlns:p14="http://schemas.microsoft.com/office/powerpoint/2010/main" val="16719499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411E3-0EBD-5305-77FC-3371FB54F9D8}"/>
              </a:ext>
            </a:extLst>
          </p:cNvPr>
          <p:cNvSpPr>
            <a:spLocks noGrp="1"/>
          </p:cNvSpPr>
          <p:nvPr>
            <p:ph type="title"/>
          </p:nvPr>
        </p:nvSpPr>
        <p:spPr>
          <a:xfrm>
            <a:off x="1635574" y="86264"/>
            <a:ext cx="9085726" cy="1325563"/>
          </a:xfrm>
        </p:spPr>
        <p:txBody>
          <a:bodyPr>
            <a:normAutofit/>
          </a:bodyPr>
          <a:lstStyle/>
          <a:p>
            <a:r>
              <a:rPr lang="en-US" sz="3200"/>
              <a:t>Perspective: Weighing Efficiencies and Flexibilities in Toxicology Programs</a:t>
            </a:r>
          </a:p>
        </p:txBody>
      </p:sp>
      <p:sp>
        <p:nvSpPr>
          <p:cNvPr id="4" name="Slide Number Placeholder 3">
            <a:extLst>
              <a:ext uri="{FF2B5EF4-FFF2-40B4-BE49-F238E27FC236}">
                <a16:creationId xmlns:a16="http://schemas.microsoft.com/office/drawing/2014/main" id="{8EADBC85-6050-F2D8-9250-7274ED680A02}"/>
              </a:ext>
            </a:extLst>
          </p:cNvPr>
          <p:cNvSpPr>
            <a:spLocks noGrp="1"/>
          </p:cNvSpPr>
          <p:nvPr>
            <p:ph type="sldNum" sz="quarter" idx="12"/>
          </p:nvPr>
        </p:nvSpPr>
        <p:spPr/>
        <p:txBody>
          <a:bodyPr/>
          <a:lstStyle/>
          <a:p>
            <a:fld id="{8C9BEE26-CBC9-D24B-B62C-3600B65D4342}" type="slidenum">
              <a:rPr lang="en-US" smtClean="0"/>
              <a:t>103</a:t>
            </a:fld>
            <a:endParaRPr lang="en-US"/>
          </a:p>
        </p:txBody>
      </p:sp>
      <p:sp>
        <p:nvSpPr>
          <p:cNvPr id="5" name="Rectangle 4">
            <a:extLst>
              <a:ext uri="{FF2B5EF4-FFF2-40B4-BE49-F238E27FC236}">
                <a16:creationId xmlns:a16="http://schemas.microsoft.com/office/drawing/2014/main" id="{63ADBF07-0514-EE0F-398D-F9E910CA902A}"/>
              </a:ext>
            </a:extLst>
          </p:cNvPr>
          <p:cNvSpPr/>
          <p:nvPr/>
        </p:nvSpPr>
        <p:spPr>
          <a:xfrm>
            <a:off x="1392672" y="2104984"/>
            <a:ext cx="2286000" cy="405479"/>
          </a:xfrm>
          <a:prstGeom prst="rect">
            <a:avLst/>
          </a:prstGeom>
          <a:solidFill>
            <a:srgbClr val="00B05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1E704A3-9F19-200F-B271-A8C052820300}"/>
              </a:ext>
            </a:extLst>
          </p:cNvPr>
          <p:cNvSpPr txBox="1"/>
          <p:nvPr/>
        </p:nvSpPr>
        <p:spPr>
          <a:xfrm>
            <a:off x="1348122" y="2510462"/>
            <a:ext cx="2588469" cy="707886"/>
          </a:xfrm>
          <a:prstGeom prst="rect">
            <a:avLst/>
          </a:prstGeom>
          <a:noFill/>
        </p:spPr>
        <p:txBody>
          <a:bodyPr wrap="square">
            <a:spAutoFit/>
          </a:bodyPr>
          <a:lstStyle/>
          <a:p>
            <a:pPr>
              <a:defRPr sz="1400"/>
            </a:pPr>
            <a:r>
              <a:rPr sz="2000"/>
              <a:t>Traditional Program</a:t>
            </a:r>
            <a:r>
              <a:rPr lang="en-US" sz="2000"/>
              <a:t> &amp; common efficiencies</a:t>
            </a:r>
            <a:endParaRPr sz="2000"/>
          </a:p>
        </p:txBody>
      </p:sp>
      <p:sp>
        <p:nvSpPr>
          <p:cNvPr id="7" name="Rectangle 6">
            <a:extLst>
              <a:ext uri="{FF2B5EF4-FFF2-40B4-BE49-F238E27FC236}">
                <a16:creationId xmlns:a16="http://schemas.microsoft.com/office/drawing/2014/main" id="{8ABC0579-35C7-F320-4DDF-F07ED803D904}"/>
              </a:ext>
            </a:extLst>
          </p:cNvPr>
          <p:cNvSpPr/>
          <p:nvPr/>
        </p:nvSpPr>
        <p:spPr>
          <a:xfrm>
            <a:off x="4734374" y="2104983"/>
            <a:ext cx="2286000" cy="405479"/>
          </a:xfrm>
          <a:prstGeom prst="rect">
            <a:avLst/>
          </a:prstGeom>
          <a:solidFill>
            <a:srgbClr val="FFC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84F6B801-6013-7D36-ADA2-B4877F415823}"/>
              </a:ext>
            </a:extLst>
          </p:cNvPr>
          <p:cNvSpPr/>
          <p:nvPr/>
        </p:nvSpPr>
        <p:spPr>
          <a:xfrm>
            <a:off x="8177676" y="2119262"/>
            <a:ext cx="2286000" cy="405479"/>
          </a:xfrm>
          <a:prstGeom prst="rect">
            <a:avLst/>
          </a:prstGeom>
          <a:solidFill>
            <a:srgbClr val="C000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556D8E4-EBD1-128C-A6A9-1FF69CC60ECF}"/>
              </a:ext>
            </a:extLst>
          </p:cNvPr>
          <p:cNvSpPr txBox="1"/>
          <p:nvPr/>
        </p:nvSpPr>
        <p:spPr>
          <a:xfrm>
            <a:off x="8076076" y="2583973"/>
            <a:ext cx="2286001" cy="707886"/>
          </a:xfrm>
          <a:prstGeom prst="rect">
            <a:avLst/>
          </a:prstGeom>
          <a:noFill/>
        </p:spPr>
        <p:txBody>
          <a:bodyPr wrap="square">
            <a:spAutoFit/>
          </a:bodyPr>
          <a:lstStyle/>
          <a:p>
            <a:pPr>
              <a:defRPr sz="1400"/>
            </a:pPr>
            <a:r>
              <a:rPr sz="2000"/>
              <a:t>High Deviation / High Risk</a:t>
            </a:r>
          </a:p>
        </p:txBody>
      </p:sp>
      <p:sp>
        <p:nvSpPr>
          <p:cNvPr id="10" name="TextBox 9">
            <a:extLst>
              <a:ext uri="{FF2B5EF4-FFF2-40B4-BE49-F238E27FC236}">
                <a16:creationId xmlns:a16="http://schemas.microsoft.com/office/drawing/2014/main" id="{864E727F-DDFA-E06F-E9C3-A24E542AFF61}"/>
              </a:ext>
            </a:extLst>
          </p:cNvPr>
          <p:cNvSpPr txBox="1"/>
          <p:nvPr/>
        </p:nvSpPr>
        <p:spPr>
          <a:xfrm>
            <a:off x="4627582" y="2561998"/>
            <a:ext cx="2186717" cy="707886"/>
          </a:xfrm>
          <a:prstGeom prst="rect">
            <a:avLst/>
          </a:prstGeom>
          <a:noFill/>
        </p:spPr>
        <p:txBody>
          <a:bodyPr wrap="square">
            <a:spAutoFit/>
          </a:bodyPr>
          <a:lstStyle/>
          <a:p>
            <a:pPr>
              <a:defRPr sz="1400"/>
            </a:pPr>
            <a:r>
              <a:rPr sz="2000"/>
              <a:t>Science-Based Alternatives</a:t>
            </a:r>
            <a:endParaRPr lang="en-US" sz="2000"/>
          </a:p>
        </p:txBody>
      </p:sp>
      <p:sp>
        <p:nvSpPr>
          <p:cNvPr id="12" name="TextBox 11">
            <a:extLst>
              <a:ext uri="{FF2B5EF4-FFF2-40B4-BE49-F238E27FC236}">
                <a16:creationId xmlns:a16="http://schemas.microsoft.com/office/drawing/2014/main" id="{5A65B525-4944-9D26-C719-2C651B8B98EA}"/>
              </a:ext>
            </a:extLst>
          </p:cNvPr>
          <p:cNvSpPr txBox="1"/>
          <p:nvPr/>
        </p:nvSpPr>
        <p:spPr>
          <a:xfrm>
            <a:off x="1276350" y="1440710"/>
            <a:ext cx="2402322" cy="707886"/>
          </a:xfrm>
          <a:prstGeom prst="rect">
            <a:avLst/>
          </a:prstGeom>
          <a:noFill/>
        </p:spPr>
        <p:txBody>
          <a:bodyPr wrap="square" rtlCol="0">
            <a:spAutoFit/>
          </a:bodyPr>
          <a:lstStyle/>
          <a:p>
            <a:r>
              <a:rPr lang="en-US" sz="2000"/>
              <a:t>Predictable</a:t>
            </a:r>
          </a:p>
          <a:p>
            <a:r>
              <a:rPr lang="en-US" sz="2000"/>
              <a:t>Low regulatory risk</a:t>
            </a:r>
          </a:p>
        </p:txBody>
      </p:sp>
      <p:sp>
        <p:nvSpPr>
          <p:cNvPr id="13" name="TextBox 12">
            <a:extLst>
              <a:ext uri="{FF2B5EF4-FFF2-40B4-BE49-F238E27FC236}">
                <a16:creationId xmlns:a16="http://schemas.microsoft.com/office/drawing/2014/main" id="{576A56BB-86E0-36B4-7100-FA35D4B54C61}"/>
              </a:ext>
            </a:extLst>
          </p:cNvPr>
          <p:cNvSpPr txBox="1"/>
          <p:nvPr/>
        </p:nvSpPr>
        <p:spPr>
          <a:xfrm>
            <a:off x="8275156" y="1440710"/>
            <a:ext cx="2421868" cy="707886"/>
          </a:xfrm>
          <a:prstGeom prst="rect">
            <a:avLst/>
          </a:prstGeom>
          <a:noFill/>
        </p:spPr>
        <p:txBody>
          <a:bodyPr wrap="square" rtlCol="0">
            <a:spAutoFit/>
          </a:bodyPr>
          <a:lstStyle/>
          <a:p>
            <a:r>
              <a:rPr lang="en-US" sz="2000"/>
              <a:t>Case-by-case</a:t>
            </a:r>
          </a:p>
          <a:p>
            <a:r>
              <a:rPr lang="en-US" sz="2000"/>
              <a:t>High regulatory risk</a:t>
            </a:r>
          </a:p>
        </p:txBody>
      </p:sp>
      <p:pic>
        <p:nvPicPr>
          <p:cNvPr id="1026" name="Picture 2">
            <a:extLst>
              <a:ext uri="{FF2B5EF4-FFF2-40B4-BE49-F238E27FC236}">
                <a16:creationId xmlns:a16="http://schemas.microsoft.com/office/drawing/2014/main" id="{5902EA94-B0C7-AF3E-3AC5-A8144BE6B6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3561"/>
          <a:stretch>
            <a:fillRect/>
          </a:stretch>
        </p:blipFill>
        <p:spPr bwMode="auto">
          <a:xfrm>
            <a:off x="952689" y="5131004"/>
            <a:ext cx="4709066" cy="993257"/>
          </a:xfrm>
          <a:prstGeom prst="rect">
            <a:avLst/>
          </a:prstGeom>
          <a:noFill/>
          <a:extLst>
            <a:ext uri="{909E8E84-426E-40DD-AFC4-6F175D3DCCD1}">
              <a14:hiddenFill xmlns:a14="http://schemas.microsoft.com/office/drawing/2010/main">
                <a:solidFill>
                  <a:srgbClr val="FFFFFF"/>
                </a:solidFill>
              </a14:hiddenFill>
            </a:ext>
          </a:extLst>
        </p:spPr>
      </p:pic>
      <p:sp>
        <p:nvSpPr>
          <p:cNvPr id="14" name="Right Arrow 13">
            <a:extLst>
              <a:ext uri="{FF2B5EF4-FFF2-40B4-BE49-F238E27FC236}">
                <a16:creationId xmlns:a16="http://schemas.microsoft.com/office/drawing/2014/main" id="{34010FB8-D34C-58CF-B745-833BC65C3A1D}"/>
              </a:ext>
            </a:extLst>
          </p:cNvPr>
          <p:cNvSpPr/>
          <p:nvPr/>
        </p:nvSpPr>
        <p:spPr>
          <a:xfrm>
            <a:off x="3678672" y="1650131"/>
            <a:ext cx="4397404" cy="1445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183E329D-2EAB-7564-BE6A-14DAA541A1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6" r="4083" b="65741"/>
          <a:stretch>
            <a:fillRect/>
          </a:stretch>
        </p:blipFill>
        <p:spPr bwMode="auto">
          <a:xfrm>
            <a:off x="6502120" y="4898917"/>
            <a:ext cx="4705232" cy="145743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27D85FB-AC99-AF3A-3FCE-585DF199DE72}"/>
              </a:ext>
            </a:extLst>
          </p:cNvPr>
          <p:cNvSpPr txBox="1"/>
          <p:nvPr/>
        </p:nvSpPr>
        <p:spPr>
          <a:xfrm>
            <a:off x="3994984" y="3783046"/>
            <a:ext cx="4526716"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a:ln w="0"/>
                <a:effectLst>
                  <a:outerShdw blurRad="38100" dist="19050" dir="2700000" algn="tl" rotWithShape="0">
                    <a:schemeClr val="dk1">
                      <a:alpha val="40000"/>
                    </a:schemeClr>
                  </a:outerShdw>
                </a:effectLst>
              </a:rPr>
              <a:t>2026 &amp; moving forward: </a:t>
            </a:r>
          </a:p>
          <a:p>
            <a:r>
              <a:rPr lang="en-US" sz="2400">
                <a:ln w="0"/>
                <a:effectLst>
                  <a:outerShdw blurRad="38100" dist="19050" dir="2700000" algn="tl" rotWithShape="0">
                    <a:schemeClr val="dk1">
                      <a:alpha val="40000"/>
                    </a:schemeClr>
                  </a:outerShdw>
                </a:effectLst>
              </a:rPr>
              <a:t>Here’s a good place to operate*</a:t>
            </a:r>
          </a:p>
        </p:txBody>
      </p:sp>
      <p:sp>
        <p:nvSpPr>
          <p:cNvPr id="16" name="Right Brace 15">
            <a:extLst>
              <a:ext uri="{FF2B5EF4-FFF2-40B4-BE49-F238E27FC236}">
                <a16:creationId xmlns:a16="http://schemas.microsoft.com/office/drawing/2014/main" id="{92465600-51BF-21F9-12FB-065D084C9C5D}"/>
              </a:ext>
            </a:extLst>
          </p:cNvPr>
          <p:cNvSpPr/>
          <p:nvPr/>
        </p:nvSpPr>
        <p:spPr>
          <a:xfrm rot="5400000">
            <a:off x="5029961" y="1432994"/>
            <a:ext cx="494533" cy="408109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CC441812-29B4-5D6C-22AE-D0DEB1CEDEE8}"/>
              </a:ext>
            </a:extLst>
          </p:cNvPr>
          <p:cNvSpPr txBox="1"/>
          <p:nvPr/>
        </p:nvSpPr>
        <p:spPr>
          <a:xfrm>
            <a:off x="825071" y="6239428"/>
            <a:ext cx="3304879" cy="369332"/>
          </a:xfrm>
          <a:prstGeom prst="rect">
            <a:avLst/>
          </a:prstGeom>
          <a:noFill/>
        </p:spPr>
        <p:txBody>
          <a:bodyPr wrap="none" rtlCol="0">
            <a:spAutoFit/>
          </a:bodyPr>
          <a:lstStyle/>
          <a:p>
            <a:r>
              <a:rPr lang="en-US" i="1"/>
              <a:t>*Not all DPTs regulate similarly!</a:t>
            </a:r>
          </a:p>
        </p:txBody>
      </p:sp>
    </p:spTree>
    <p:extLst>
      <p:ext uri="{BB962C8B-B14F-4D97-AF65-F5344CB8AC3E}">
        <p14:creationId xmlns:p14="http://schemas.microsoft.com/office/powerpoint/2010/main" val="6695101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all of wood cutouts&#10;&#10;AI-generated content may be incorrect.">
            <a:extLst>
              <a:ext uri="{FF2B5EF4-FFF2-40B4-BE49-F238E27FC236}">
                <a16:creationId xmlns:a16="http://schemas.microsoft.com/office/drawing/2014/main" id="{1A6ABCD9-B979-17CB-A036-3C470209BD55}"/>
              </a:ext>
            </a:extLst>
          </p:cNvPr>
          <p:cNvPicPr>
            <a:picLocks noChangeAspect="1"/>
          </p:cNvPicPr>
          <p:nvPr/>
        </p:nvPicPr>
        <p:blipFill>
          <a:blip r:embed="rId2">
            <a:alphaModFix amt="70000"/>
          </a:blip>
          <a:srcRect t="13553" b="11447"/>
          <a:stretch>
            <a:fillRect/>
          </a:stretch>
        </p:blipFill>
        <p:spPr>
          <a:xfrm>
            <a:off x="0" y="-41385"/>
            <a:ext cx="12191980" cy="6857990"/>
          </a:xfrm>
          <a:prstGeom prst="rect">
            <a:avLst/>
          </a:prstGeom>
          <a:noFill/>
        </p:spPr>
      </p:pic>
      <p:sp>
        <p:nvSpPr>
          <p:cNvPr id="4" name="Slide Number Placeholder 3" hidden="1">
            <a:extLst>
              <a:ext uri="{FF2B5EF4-FFF2-40B4-BE49-F238E27FC236}">
                <a16:creationId xmlns:a16="http://schemas.microsoft.com/office/drawing/2014/main" id="{57489B6E-83D9-CD29-EF4C-648FC5E35DDD}"/>
              </a:ext>
            </a:extLst>
          </p:cNvPr>
          <p:cNvSpPr>
            <a:spLocks noGrp="1"/>
          </p:cNvSpPr>
          <p:nvPr>
            <p:ph type="sldNum" sz="quarter" idx="12"/>
          </p:nvPr>
        </p:nvSpPr>
        <p:spPr/>
        <p:txBody>
          <a:bodyPr/>
          <a:lstStyle/>
          <a:p>
            <a:pPr>
              <a:spcAft>
                <a:spcPts val="600"/>
              </a:spcAft>
            </a:pPr>
            <a:fld id="{8C9BEE26-CBC9-D24B-B62C-3600B65D4342}" type="slidenum">
              <a:rPr lang="en-US" smtClean="0"/>
              <a:pPr>
                <a:spcAft>
                  <a:spcPts val="600"/>
                </a:spcAft>
              </a:pPr>
              <a:t>104</a:t>
            </a:fld>
            <a:endParaRPr lang="en-US"/>
          </a:p>
        </p:txBody>
      </p:sp>
      <p:sp>
        <p:nvSpPr>
          <p:cNvPr id="10" name="TextBox 9">
            <a:extLst>
              <a:ext uri="{FF2B5EF4-FFF2-40B4-BE49-F238E27FC236}">
                <a16:creationId xmlns:a16="http://schemas.microsoft.com/office/drawing/2014/main" id="{BECD0DFD-AFA6-48B3-28FA-87791B6A1604}"/>
              </a:ext>
            </a:extLst>
          </p:cNvPr>
          <p:cNvSpPr txBox="1"/>
          <p:nvPr/>
        </p:nvSpPr>
        <p:spPr>
          <a:xfrm>
            <a:off x="1967949" y="2782669"/>
            <a:ext cx="7221913"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3600" b="1" dirty="0"/>
              <a:t>THANK YOU FOR THE INVITATION!</a:t>
            </a:r>
          </a:p>
        </p:txBody>
      </p:sp>
    </p:spTree>
    <p:extLst>
      <p:ext uri="{BB962C8B-B14F-4D97-AF65-F5344CB8AC3E}">
        <p14:creationId xmlns:p14="http://schemas.microsoft.com/office/powerpoint/2010/main" val="1245684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7" id="{0C6E3902-27D2-004A-B0A6-FD13554FB3D1}" vid="{633A672E-A1E1-F945-8F76-C980979A066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5c24060-ad06-4860-80a7-af540e043893" xsi:nil="true"/>
    <lcf76f155ced4ddcb4097134ff3c332f xmlns="c10e12a2-ac96-4fca-adee-e74f3dd791f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08D482658BF9418C574704B6B4DD95" ma:contentTypeVersion="10" ma:contentTypeDescription="Create a new document." ma:contentTypeScope="" ma:versionID="e0aae89fc65e940640854d3d3ae19609">
  <xsd:schema xmlns:xsd="http://www.w3.org/2001/XMLSchema" xmlns:xs="http://www.w3.org/2001/XMLSchema" xmlns:p="http://schemas.microsoft.com/office/2006/metadata/properties" xmlns:ns2="c10e12a2-ac96-4fca-adee-e74f3dd791f1" xmlns:ns3="55c24060-ad06-4860-80a7-af540e043893" targetNamespace="http://schemas.microsoft.com/office/2006/metadata/properties" ma:root="true" ma:fieldsID="e97a71799b4b08fc47cbba3456d72f6b" ns2:_="" ns3:_="">
    <xsd:import namespace="c10e12a2-ac96-4fca-adee-e74f3dd791f1"/>
    <xsd:import namespace="55c24060-ad06-4860-80a7-af540e04389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0e12a2-ac96-4fca-adee-e74f3dd791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ce9db50-51c5-4d0d-a737-cc4f1f1eaa7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5c24060-ad06-4860-80a7-af540e04389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e9cca90-f8f4-4f43-8dcd-9f83c15f180e}" ma:internalName="TaxCatchAll" ma:showField="CatchAllData" ma:web="55c24060-ad06-4860-80a7-af540e04389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617A5F-5619-4306-8099-51FD28302EDD}">
  <ds:schemaRefs>
    <ds:schemaRef ds:uri="http://schemas.microsoft.com/sharepoint/v3/contenttype/forms"/>
  </ds:schemaRefs>
</ds:datastoreItem>
</file>

<file path=customXml/itemProps2.xml><?xml version="1.0" encoding="utf-8"?>
<ds:datastoreItem xmlns:ds="http://schemas.openxmlformats.org/officeDocument/2006/customXml" ds:itemID="{D2206C73-11DB-43DB-9DDF-70192FE12AF1}">
  <ds:schemaRefs>
    <ds:schemaRef ds:uri="55c24060-ad06-4860-80a7-af540e043893"/>
    <ds:schemaRef ds:uri="http://purl.org/dc/dcmitype/"/>
    <ds:schemaRef ds:uri="http://schemas.openxmlformats.org/package/2006/metadata/core-properties"/>
    <ds:schemaRef ds:uri="c10e12a2-ac96-4fca-adee-e74f3dd791f1"/>
    <ds:schemaRef ds:uri="http://purl.org/dc/terms/"/>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1EF966CA-9DAF-43BC-91A3-3E0492DCEECD}">
  <ds:schemaRefs>
    <ds:schemaRef ds:uri="55c24060-ad06-4860-80a7-af540e043893"/>
    <ds:schemaRef ds:uri="c10e12a2-ac96-4fca-adee-e74f3dd791f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13183</TotalTime>
  <Words>7611</Words>
  <Application>Microsoft Office PowerPoint</Application>
  <PresentationFormat>Widescreen</PresentationFormat>
  <Paragraphs>882</Paragraphs>
  <Slides>104</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104</vt:i4>
      </vt:variant>
    </vt:vector>
  </HeadingPairs>
  <TitlesOfParts>
    <vt:vector size="112" baseType="lpstr">
      <vt:lpstr>Aptos</vt:lpstr>
      <vt:lpstr>Aptos Display</vt:lpstr>
      <vt:lpstr>Arial</vt:lpstr>
      <vt:lpstr>Calibri</vt:lpstr>
      <vt:lpstr>Helvetica</vt:lpstr>
      <vt:lpstr>-webkit-standard</vt:lpstr>
      <vt:lpstr>Wingdings</vt:lpstr>
      <vt:lpstr>Office Theme</vt:lpstr>
      <vt:lpstr>Session 1:  a) Submitting an ideal IND package  b) Impurity Assessments – ICH Q3A-D &amp; ICH M7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Relevant ICH Guidances/FDA MAPP</vt:lpstr>
      <vt:lpstr>ICH Guidance Q3A(R2)/B(R2) –  Impurities in Drug Substances/Products</vt:lpstr>
      <vt:lpstr>ICH Guidance Q3A(R2)/B(R2) – Safety Qualification</vt:lpstr>
      <vt:lpstr>ICH Guidance Q3A(R2)/B(R2) – Thresholds</vt:lpstr>
      <vt:lpstr>ICH Guidance Q3A(R2)/B(R2) – Thresholds</vt:lpstr>
      <vt:lpstr>ICH Guidance Q3A(R2)/B(R2) – Safety Qualification</vt:lpstr>
      <vt:lpstr>ICH Guidance Q3A(R2)/B(R2) – Qualification</vt:lpstr>
      <vt:lpstr>ICH Guidance Q3A(R2)/B(R2) – Qualification</vt:lpstr>
      <vt:lpstr>Safety qualification approaches in FDA OND</vt:lpstr>
      <vt:lpstr>Safety qualification approaches in FDA OND</vt:lpstr>
      <vt:lpstr>What about early clinical trials?</vt:lpstr>
      <vt:lpstr>Safety qualification approaches in FDA OND </vt:lpstr>
      <vt:lpstr>Safety qualification approaches in FDA OND </vt:lpstr>
      <vt:lpstr>Safety qualification approaches in FDA OND </vt:lpstr>
      <vt:lpstr>Role of clinical experience</vt:lpstr>
      <vt:lpstr>Impurities that are also metabolites</vt:lpstr>
      <vt:lpstr>Industry proposals for safety qualification</vt:lpstr>
      <vt:lpstr>Perspectives on current industry evaluations/proposals</vt:lpstr>
      <vt:lpstr>Perspectives on current industry evaluations/proposals</vt:lpstr>
      <vt:lpstr>PowerPoint Presentation</vt:lpstr>
      <vt:lpstr>ICH M7(R2) – DNA reactive (mutagenic) impurities</vt:lpstr>
      <vt:lpstr>ICH M7(R2) – Overview</vt:lpstr>
      <vt:lpstr>ICH M7(R2) – Hazard Assessment</vt:lpstr>
      <vt:lpstr>PowerPoint Presentation</vt:lpstr>
      <vt:lpstr>ICH M7(R2) – Hazard Assessment – LTL adjustments</vt:lpstr>
      <vt:lpstr>ICH M7(R2) – Hazard Assessment – LTL adjustments</vt:lpstr>
      <vt:lpstr>ICH M7(R2) – Documentation &amp; Timing</vt:lpstr>
      <vt:lpstr>Nitrosamines – hot area since 2018</vt:lpstr>
      <vt:lpstr>Nitrosamines - Risk Assessment Considerations</vt:lpstr>
      <vt:lpstr>Nitrosamines - Risk Assessment Considerations</vt:lpstr>
      <vt:lpstr>Nitrosamines - Risk (Safety) Assessment Considerations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Nitrosamines - Risk Assessment &amp; Timing</vt:lpstr>
      <vt:lpstr>PowerPoint Presentation</vt:lpstr>
      <vt:lpstr>ICH Q3C (R10) – Impurities; Residual Solvents</vt:lpstr>
      <vt:lpstr>ICH Q3C(R10) – Residual solvents</vt:lpstr>
      <vt:lpstr>ICH Q3C(R10) – Residual solvents</vt:lpstr>
      <vt:lpstr>ICH Q3C(R10) – Residual solvents</vt:lpstr>
      <vt:lpstr>ICH Q3C(R10) – Residual solvents</vt:lpstr>
      <vt:lpstr>ICH Q3C(R10) – Class 1 Solvents</vt:lpstr>
      <vt:lpstr>ICH Q3C(R10) – Class 2 Solvents</vt:lpstr>
      <vt:lpstr>Class 2 - Setting concentration limits</vt:lpstr>
      <vt:lpstr>Class 2 - Setting concentration limits</vt:lpstr>
      <vt:lpstr>ICH Q3C(R10) – Class 3 Solvents</vt:lpstr>
      <vt:lpstr>ICH Q3C(R10) – Solvents with no tox data</vt:lpstr>
      <vt:lpstr>ICH Q3C(R10) – PDE calculation</vt:lpstr>
      <vt:lpstr>ICH Q3C(R7) – PDE calculation</vt:lpstr>
      <vt:lpstr>PowerPoint Presentation</vt:lpstr>
      <vt:lpstr>ICH Q3D(R2) - Elemental Impurities</vt:lpstr>
      <vt:lpstr>ICH Q3D – Elemental impurities</vt:lpstr>
      <vt:lpstr>ICH Q3D – Elemental impurities</vt:lpstr>
      <vt:lpstr>ICH Q3D – Elemental impurities (EIs)</vt:lpstr>
      <vt:lpstr>FDA 2018 MAPP – for consideration</vt:lpstr>
      <vt:lpstr>FDA 2018 MAPP - Background</vt:lpstr>
      <vt:lpstr>FDA 2018 MAPP - Background</vt:lpstr>
      <vt:lpstr>ICH Q3E (draft) – the new frontier</vt:lpstr>
      <vt:lpstr>Thank you!  Questions?</vt:lpstr>
      <vt:lpstr>Topic 2: Weighing Juvenile Toxicity Studies in support of  Pediatric Development Programs</vt:lpstr>
      <vt:lpstr>PowerPoint Presentation</vt:lpstr>
      <vt:lpstr>PowerPoint Presentation</vt:lpstr>
      <vt:lpstr>PowerPoint Presentation</vt:lpstr>
      <vt:lpstr>PowerPoint Presentation</vt:lpstr>
      <vt:lpstr>NonClinical Section of iPSP template</vt:lpstr>
      <vt:lpstr>PowerPoint Presentation</vt:lpstr>
      <vt:lpstr>- How the agency weighs programs with poorly defined Mechanisms of Action (MoA) where target-based safety margins are unavailable [in juvenile/pediatric settings]? - Enveda</vt:lpstr>
      <vt:lpstr>Prospect of Benefit</vt:lpstr>
      <vt:lpstr>PowerPoint Presentation</vt:lpstr>
      <vt:lpstr>Nonclinical Safety Evaluation</vt:lpstr>
      <vt:lpstr>NOAELs and Safety Margins supporting Pediatric studies </vt:lpstr>
      <vt:lpstr>PowerPoint Presentation</vt:lpstr>
      <vt:lpstr>Relation of the efficacious clinical dose to the nonclinical NOAEL</vt:lpstr>
      <vt:lpstr>Some challenges with a poorly defined MoA</vt:lpstr>
      <vt:lpstr>Strengthening program when MOA Is Poorly Defined</vt:lpstr>
      <vt:lpstr>Topic 3: Weighing Efficiencies and Flexibilities in Toxicology Programs</vt:lpstr>
      <vt:lpstr>Regulatory Framework for Nonclinical Programs</vt:lpstr>
      <vt:lpstr>PowerPoint Presentation</vt:lpstr>
      <vt:lpstr>Opportunity for Regulatory Flexibility…. with some risks</vt:lpstr>
      <vt:lpstr>Traditional Programs: Pro’s and Con’s</vt:lpstr>
      <vt:lpstr>Areas of efficiency: Safety Pharmacology</vt:lpstr>
      <vt:lpstr>Areas of efficiency: General Toxicology</vt:lpstr>
      <vt:lpstr>Areas of efficiency: General Toxicology</vt:lpstr>
      <vt:lpstr>Areas of efficiency: Developmental &amp; Repro Toxicology (DART) </vt:lpstr>
      <vt:lpstr>Areas of efficiency: Carcinogenicity</vt:lpstr>
      <vt:lpstr>Perspective: Weighing Efficiencies and Flexibilities in Toxicology Programs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todd bourcier</dc:creator>
  <cp:lastModifiedBy>Krina Mehta</cp:lastModifiedBy>
  <cp:revision>312</cp:revision>
  <dcterms:created xsi:type="dcterms:W3CDTF">2026-02-12T15:38:39Z</dcterms:created>
  <dcterms:modified xsi:type="dcterms:W3CDTF">2026-06-18T21:13:53Z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0x0101009A08D482658BF9418C574704B6B4DD95</vt:lpwstr>
  </property>
  <property fmtid="{D5CDD505-2E9C-101B-9397-08002B2CF9AE}" pid="3" name="MediaServiceImageTags">
    <vt:lpwstr/>
  </property>
</Properties>
</file>